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2" r:id="rId5"/>
    <p:sldId id="270" r:id="rId6"/>
    <p:sldId id="272" r:id="rId7"/>
    <p:sldId id="271" r:id="rId8"/>
    <p:sldId id="269" r:id="rId9"/>
    <p:sldId id="261" r:id="rId10"/>
    <p:sldId id="264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D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B8F-4B37-971E-AE9E414EC82D}"/>
              </c:ext>
            </c:extLst>
          </c:dPt>
          <c:dPt>
            <c:idx val="1"/>
            <c:bubble3D val="0"/>
            <c:spPr>
              <a:solidFill>
                <a:srgbClr val="5B82D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B8F-4B37-971E-AE9E414EC82D}"/>
              </c:ext>
            </c:extLst>
          </c:dPt>
          <c:dPt>
            <c:idx val="2"/>
            <c:bubble3D val="0"/>
            <c:spPr>
              <a:solidFill>
                <a:srgbClr val="0E7C8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B8F-4B37-971E-AE9E414EC82D}"/>
              </c:ext>
            </c:extLst>
          </c:dPt>
          <c:dPt>
            <c:idx val="3"/>
            <c:bubble3D val="0"/>
            <c:spPr>
              <a:solidFill>
                <a:srgbClr val="B7791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B8F-4B37-971E-AE9E414EC82D}"/>
              </c:ext>
            </c:extLst>
          </c:dPt>
          <c:dPt>
            <c:idx val="4"/>
            <c:bubble3D val="0"/>
            <c:spPr>
              <a:solidFill>
                <a:srgbClr val="C7CD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0B8F-4B37-971E-AE9E414EC82D}"/>
              </c:ext>
            </c:extLst>
          </c:dPt>
          <c:cat>
            <c:strRef>
              <c:f>Sheet1!$A$2:$A$6</c:f>
              <c:strCache>
                <c:ptCount val="5"/>
                <c:pt idx="0">
                  <c:v>Affiliate commerce</c:v>
                </c:pt>
                <c:pt idx="1">
                  <c:v>Brand partnerships</c:v>
                </c:pt>
                <c:pt idx="2">
                  <c:v>Financial referrals</c:v>
                </c:pt>
                <c:pt idx="3">
                  <c:v>Institutional B2B</c:v>
                </c:pt>
                <c:pt idx="4">
                  <c:v>Subscriptions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20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8F-4B37-971E-AE9E414EC8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1A57E-1650-40DE-A86C-15591B0248F5}" type="datetimeFigureOut"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239AF-7420-4076-AC95-9A77FFF5B1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81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0B044-9D35-E3B1-2EAE-EA49F9F5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88E1E-34CC-13CD-6D27-0C3E5A3D0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51934-F8F6-6319-3CCE-884E95E8A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068E1-8171-8D6D-75F9-D674334F69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19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400" b="1" kern="0" spc="600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05840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>
                <a:solidFill>
                  <a:schemeClr val="accent1">
                    <a:lumMod val="76000"/>
                  </a:schemeClr>
                </a:solidFill>
                <a:ea typeface="Calibri"/>
                <a:cs typeface="Calibri"/>
              </a:rPr>
              <a:t>UNIFUND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your career.  Protect your money.  Plug into your people.</a:t>
            </a:r>
            <a:endParaRPr lang="en-US" sz="170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594360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32918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>
              <a:solidFill>
                <a:srgbClr val="8A94A6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4572000"/>
            <a:ext cx="32918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>
              <a:solidFill>
                <a:srgbClr val="8A94A6"/>
              </a:solidFill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55280" y="4572000"/>
            <a:ext cx="32918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3000" b="1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95528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>
              <a:solidFill>
                <a:srgbClr val="8A94A6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is broken. Money is scary.</a:t>
            </a:r>
            <a:endParaRPr lang="en-US" sz="28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knowledge dies every year.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6000" y="2217419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70320" y="2446019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30440" y="2418587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blindness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330440" y="2784347"/>
            <a:ext cx="38862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ea typeface="+mn-lt"/>
                <a:cs typeface="+mn-lt"/>
              </a:rPr>
              <a:t>Students invest significant time and substantial financial resources in a path whose outcomes remain uncertain.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1440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87452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1874520" y="4361688"/>
            <a:ext cx="38862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ea typeface="+mn-lt"/>
                <a:cs typeface="+mn-lt"/>
              </a:rPr>
              <a:t>They begin with limited professional networks and without access to mentors who have navigated a similar path.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46520" y="4023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406640" y="3995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knowledge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7406640" y="4361688"/>
            <a:ext cx="38862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The student who found the cheap grocer, the right bank, the visa trick once graduates, and it is gone.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100" err="1">
                <a:solidFill>
                  <a:srgbClr val="8A94A6"/>
                </a:solidFill>
                <a:latin typeface="Calibri"/>
                <a:ea typeface="Calibri"/>
                <a:cs typeface="Calibri"/>
              </a:rPr>
              <a:t>UniFund</a:t>
            </a:r>
            <a:endParaRPr lang="en-US" sz="900" err="1"/>
          </a:p>
        </p:txBody>
      </p:sp>
      <p:sp>
        <p:nvSpPr>
          <p:cNvPr id="23" name="Text 21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25" name="Shape 7"/>
          <p:cNvSpPr/>
          <p:nvPr/>
        </p:nvSpPr>
        <p:spPr>
          <a:xfrm>
            <a:off x="640080" y="2217420"/>
            <a:ext cx="5257800" cy="132588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8"/>
          <p:cNvSpPr/>
          <p:nvPr/>
        </p:nvSpPr>
        <p:spPr>
          <a:xfrm>
            <a:off x="914400" y="24460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27" name="Text 9"/>
          <p:cNvSpPr/>
          <p:nvPr/>
        </p:nvSpPr>
        <p:spPr>
          <a:xfrm>
            <a:off x="1874520" y="2418588"/>
            <a:ext cx="384048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A2433"/>
                </a:solidFill>
                <a:ea typeface="Calibri"/>
                <a:cs typeface="Calibri"/>
              </a:rPr>
              <a:t>Lack of Saving Motivation</a:t>
            </a:r>
          </a:p>
        </p:txBody>
      </p:sp>
      <p:sp>
        <p:nvSpPr>
          <p:cNvPr id="28" name="Text 10"/>
          <p:cNvSpPr/>
          <p:nvPr/>
        </p:nvSpPr>
        <p:spPr>
          <a:xfrm>
            <a:off x="1874520" y="2784348"/>
            <a:ext cx="388620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>
                <a:latin typeface="Roboto"/>
                <a:ea typeface="Roboto"/>
                <a:cs typeface="Roboto"/>
              </a:rPr>
              <a:t>Students struggle to consistently save without accountability or incentives.</a:t>
            </a:r>
          </a:p>
          <a:p>
            <a:pPr marL="0" indent="0">
              <a:buNone/>
            </a:pPr>
            <a:endParaRPr lang="en-US" sz="1200">
              <a:solidFill>
                <a:srgbClr val="4A556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 per student. Three engines.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70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plan, see a month-by-month prediction built from thousands who already did it.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4340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461772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Runway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spending and shows exactly how many months of runway remain the daily habit.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04672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32104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Knowledge</a:t>
            </a:r>
            <a:endParaRPr lang="en-US" sz="1700"/>
          </a:p>
        </p:txBody>
      </p:sp>
      <p:sp>
        <p:nvSpPr>
          <p:cNvPr id="19" name="Text 17"/>
          <p:cNvSpPr/>
          <p:nvPr/>
        </p:nvSpPr>
        <p:spPr>
          <a:xfrm>
            <a:off x="832104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agents share knowledge automatically the network that compounds.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100" err="1">
                <a:solidFill>
                  <a:srgbClr val="8A94A6"/>
                </a:solidFill>
                <a:latin typeface="Calibri"/>
                <a:ea typeface="Calibri"/>
                <a:cs typeface="Calibri"/>
              </a:rPr>
              <a:t>UniFund</a:t>
            </a:r>
            <a:endParaRPr lang="en-US" sz="900" err="1"/>
          </a:p>
        </p:txBody>
      </p:sp>
      <p:sp>
        <p:nvSpPr>
          <p:cNvPr id="24" name="Text 22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hold the business up.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69372" y="2221992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89412" y="249631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495252" y="2542032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23852" y="2478024"/>
            <a:ext cx="3474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50">
                <a:solidFill>
                  <a:srgbClr val="1A2433"/>
                </a:solidFill>
                <a:ea typeface="+mn-lt"/>
                <a:cs typeface="+mn-lt"/>
              </a:rPr>
              <a:t>Personalized Intelligence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23852" y="2898648"/>
            <a:ext cx="35204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dirty="0">
                <a:solidFill>
                  <a:srgbClr val="4A5568"/>
                </a:solidFill>
                <a:ea typeface="+mn-lt"/>
                <a:cs typeface="+mn-lt"/>
              </a:rPr>
              <a:t>Every student has a personal AI agent that learns their </a:t>
            </a:r>
            <a:r>
              <a:rPr lang="en-US" sz="1100" dirty="0" err="1">
                <a:solidFill>
                  <a:srgbClr val="4A5568"/>
                </a:solidFill>
                <a:ea typeface="+mn-lt"/>
                <a:cs typeface="+mn-lt"/>
              </a:rPr>
              <a:t>behaviour</a:t>
            </a:r>
            <a:r>
              <a:rPr lang="en-US" sz="1100" dirty="0">
                <a:solidFill>
                  <a:srgbClr val="4A5568"/>
                </a:solidFill>
                <a:ea typeface="+mn-lt"/>
                <a:cs typeface="+mn-lt"/>
              </a:rPr>
              <a:t>, goals, and context over time. </a:t>
            </a:r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60120" y="4206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965960" y="425196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194560" y="4187952"/>
            <a:ext cx="3474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50" dirty="0">
                <a:solidFill>
                  <a:srgbClr val="1A2433"/>
                </a:solidFill>
                <a:ea typeface="+mn-lt"/>
                <a:cs typeface="+mn-lt"/>
              </a:rPr>
              <a:t>Collective Wisdom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94560" y="4608576"/>
            <a:ext cx="35204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The platform’s true strength lies in its student community, where anonymized peer connections transform individual experiences into shared knowledge.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69372" y="393192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206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/>
          </a:p>
        </p:txBody>
      </p:sp>
      <p:sp>
        <p:nvSpPr>
          <p:cNvPr id="22" name="Shape 20"/>
          <p:cNvSpPr/>
          <p:nvPr/>
        </p:nvSpPr>
        <p:spPr>
          <a:xfrm>
            <a:off x="7498080" y="425196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26680" y="4187952"/>
            <a:ext cx="3474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50" dirty="0">
                <a:solidFill>
                  <a:srgbClr val="1A2433"/>
                </a:solidFill>
                <a:ea typeface="+mn-lt"/>
                <a:cs typeface="+mn-lt"/>
              </a:rPr>
              <a:t>Compounding Network Effect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726680" y="4608576"/>
            <a:ext cx="35204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Each new student strengthens the platform by contributing insights that continuously improve recommendations and increase its value over time.</a:t>
            </a:r>
            <a:endParaRPr lang="en-US" dirty="0">
              <a:ea typeface="+mn-lt"/>
              <a:cs typeface="+mn-lt"/>
            </a:endParaRPr>
          </a:p>
          <a:p>
            <a:endParaRPr lang="en-US" sz="1200" dirty="0">
              <a:solidFill>
                <a:srgbClr val="4A5568"/>
              </a:solidFill>
              <a:ea typeface="+mn-lt"/>
              <a:cs typeface="+mn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8A94A6"/>
                </a:solidFill>
                <a:latin typeface="Calibri"/>
                <a:ea typeface="Calibri"/>
                <a:cs typeface="Calibri"/>
              </a:rPr>
              <a:t>UniFund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sp>
        <p:nvSpPr>
          <p:cNvPr id="29" name="Shape 8"/>
          <p:cNvSpPr/>
          <p:nvPr/>
        </p:nvSpPr>
        <p:spPr>
          <a:xfrm>
            <a:off x="640080" y="2240280"/>
            <a:ext cx="5257800" cy="146304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9"/>
          <p:cNvSpPr/>
          <p:nvPr/>
        </p:nvSpPr>
        <p:spPr>
          <a:xfrm>
            <a:off x="960120" y="25146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31" name="Shape 10"/>
          <p:cNvSpPr/>
          <p:nvPr/>
        </p:nvSpPr>
        <p:spPr>
          <a:xfrm>
            <a:off x="1965960" y="2560320"/>
            <a:ext cx="36576" cy="77724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11"/>
          <p:cNvSpPr/>
          <p:nvPr/>
        </p:nvSpPr>
        <p:spPr>
          <a:xfrm>
            <a:off x="2194560" y="2496312"/>
            <a:ext cx="3474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dirty="0"/>
              <a:t>Forward-Looking Visibility</a:t>
            </a:r>
          </a:p>
        </p:txBody>
      </p:sp>
      <p:sp>
        <p:nvSpPr>
          <p:cNvPr id="33" name="Text 12"/>
          <p:cNvSpPr/>
          <p:nvPr/>
        </p:nvSpPr>
        <p:spPr>
          <a:xfrm>
            <a:off x="2194560" y="2916936"/>
            <a:ext cx="352044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Replaces the backward-looking model of traditional banking apps by showing students what they can spend, not just what they have spent.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83BE8BC6-C524-F960-7874-47D01B062452}"/>
              </a:ext>
            </a:extLst>
          </p:cNvPr>
          <p:cNvSpPr/>
          <p:nvPr/>
        </p:nvSpPr>
        <p:spPr>
          <a:xfrm>
            <a:off x="626807" y="1778164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88948978-2671-6CA6-7C8F-BDEA24DEB463}"/>
              </a:ext>
            </a:extLst>
          </p:cNvPr>
          <p:cNvSpPr/>
          <p:nvPr/>
        </p:nvSpPr>
        <p:spPr>
          <a:xfrm>
            <a:off x="626807" y="1778164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F4B7329C-376C-D854-FFDF-D560B0B39D14}"/>
              </a:ext>
            </a:extLst>
          </p:cNvPr>
          <p:cNvSpPr/>
          <p:nvPr/>
        </p:nvSpPr>
        <p:spPr>
          <a:xfrm>
            <a:off x="901127" y="200676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2E93A51D-EACC-A896-0C5A-BA4EDC983E17}"/>
              </a:ext>
            </a:extLst>
          </p:cNvPr>
          <p:cNvSpPr/>
          <p:nvPr/>
        </p:nvSpPr>
        <p:spPr>
          <a:xfrm>
            <a:off x="901127" y="260112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Forward-Looking Visibility</a:t>
            </a:r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329AF839-861F-7DB2-FC60-00BFDAE93DA0}"/>
              </a:ext>
            </a:extLst>
          </p:cNvPr>
          <p:cNvSpPr/>
          <p:nvPr/>
        </p:nvSpPr>
        <p:spPr>
          <a:xfrm>
            <a:off x="901127" y="305832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Replaces the backward-looking model of traditional banking apps by showing students what they can spend, not just what they have spent. 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0CD621-8CB9-4436-4D8E-8FD557211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572" y="1514658"/>
            <a:ext cx="6873144" cy="32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65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">
            <a:extLst>
              <a:ext uri="{FF2B5EF4-FFF2-40B4-BE49-F238E27FC236}">
                <a16:creationId xmlns:a16="http://schemas.microsoft.com/office/drawing/2014/main" id="{9E50CB03-4AA6-EC97-CB3E-A4AD352ADD61}"/>
              </a:ext>
            </a:extLst>
          </p:cNvPr>
          <p:cNvSpPr/>
          <p:nvPr/>
        </p:nvSpPr>
        <p:spPr>
          <a:xfrm>
            <a:off x="707628" y="2193084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4">
            <a:extLst>
              <a:ext uri="{FF2B5EF4-FFF2-40B4-BE49-F238E27FC236}">
                <a16:creationId xmlns:a16="http://schemas.microsoft.com/office/drawing/2014/main" id="{1D0B0BEA-44EB-2B8B-FD49-428F922AB272}"/>
              </a:ext>
            </a:extLst>
          </p:cNvPr>
          <p:cNvSpPr/>
          <p:nvPr/>
        </p:nvSpPr>
        <p:spPr>
          <a:xfrm>
            <a:off x="707628" y="2193084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F3810AFC-B7E7-F090-1C8E-0615952FAC28}"/>
              </a:ext>
            </a:extLst>
          </p:cNvPr>
          <p:cNvSpPr/>
          <p:nvPr/>
        </p:nvSpPr>
        <p:spPr>
          <a:xfrm>
            <a:off x="981948" y="242168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	</a:t>
            </a:r>
            <a:endParaRPr lang="en-US" sz="2400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A46423D4-20B9-0F9E-9ECF-B9D08578AB55}"/>
              </a:ext>
            </a:extLst>
          </p:cNvPr>
          <p:cNvSpPr/>
          <p:nvPr/>
        </p:nvSpPr>
        <p:spPr>
          <a:xfrm>
            <a:off x="981948" y="30160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Studio</a:t>
            </a:r>
            <a:endParaRPr lang="en-US" sz="17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28CF5E78-B9E0-EF5A-774A-05D763585939}"/>
              </a:ext>
            </a:extLst>
          </p:cNvPr>
          <p:cNvSpPr/>
          <p:nvPr/>
        </p:nvSpPr>
        <p:spPr>
          <a:xfrm>
            <a:off x="981948" y="3473244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Every student has a personal AI agent that learns their </a:t>
            </a:r>
            <a:r>
              <a:rPr lang="en-US" sz="1200" dirty="0" err="1">
                <a:solidFill>
                  <a:srgbClr val="4A5568"/>
                </a:solidFill>
                <a:ea typeface="+mn-lt"/>
                <a:cs typeface="+mn-lt"/>
              </a:rPr>
              <a:t>behaviour</a:t>
            </a:r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, goals, and context over time.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EB5ABE-26AE-8F46-E3FB-B2C936E1B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464" y="1627609"/>
            <a:ext cx="7248901" cy="351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92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3">
            <a:extLst>
              <a:ext uri="{FF2B5EF4-FFF2-40B4-BE49-F238E27FC236}">
                <a16:creationId xmlns:a16="http://schemas.microsoft.com/office/drawing/2014/main" id="{D23A4CA1-ED07-D9BA-5112-26C86572FA34}"/>
              </a:ext>
            </a:extLst>
          </p:cNvPr>
          <p:cNvSpPr/>
          <p:nvPr/>
        </p:nvSpPr>
        <p:spPr>
          <a:xfrm>
            <a:off x="761017" y="1974809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4">
            <a:extLst>
              <a:ext uri="{FF2B5EF4-FFF2-40B4-BE49-F238E27FC236}">
                <a16:creationId xmlns:a16="http://schemas.microsoft.com/office/drawing/2014/main" id="{FBE88E37-669E-6D2B-7ED9-841255E1566E}"/>
              </a:ext>
            </a:extLst>
          </p:cNvPr>
          <p:cNvSpPr/>
          <p:nvPr/>
        </p:nvSpPr>
        <p:spPr>
          <a:xfrm>
            <a:off x="761017" y="1974809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0DF4769B-5D70-0F51-5B4D-4AB6554A87E4}"/>
              </a:ext>
            </a:extLst>
          </p:cNvPr>
          <p:cNvSpPr/>
          <p:nvPr/>
        </p:nvSpPr>
        <p:spPr>
          <a:xfrm>
            <a:off x="1035337" y="2203409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3F169CD0-4D5E-DCB9-4E84-DA65A79368F6}"/>
              </a:ext>
            </a:extLst>
          </p:cNvPr>
          <p:cNvSpPr/>
          <p:nvPr/>
        </p:nvSpPr>
        <p:spPr>
          <a:xfrm>
            <a:off x="1035337" y="2797769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Knowledge</a:t>
            </a:r>
            <a:endParaRPr lang="en-US" sz="170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88F8AF3F-F300-1A79-4237-222217BAFFD2}"/>
              </a:ext>
            </a:extLst>
          </p:cNvPr>
          <p:cNvSpPr/>
          <p:nvPr/>
        </p:nvSpPr>
        <p:spPr>
          <a:xfrm>
            <a:off x="1035337" y="3254969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The platform’s true strength lies in its student community, where anonymized peer connections transform individual experiences into shared knowledge.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BB74355D-419F-C277-2232-EBEA70B6A36C}"/>
              </a:ext>
            </a:extLst>
          </p:cNvPr>
          <p:cNvSpPr/>
          <p:nvPr/>
        </p:nvSpPr>
        <p:spPr>
          <a:xfrm>
            <a:off x="904273" y="4169368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99E468-CFA2-7A39-29EA-561F42178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993" y="1140605"/>
            <a:ext cx="7622517" cy="381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65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">
            <a:extLst>
              <a:ext uri="{FF2B5EF4-FFF2-40B4-BE49-F238E27FC236}">
                <a16:creationId xmlns:a16="http://schemas.microsoft.com/office/drawing/2014/main" id="{18E79396-7833-814B-91BB-2C2532FCA09D}"/>
              </a:ext>
            </a:extLst>
          </p:cNvPr>
          <p:cNvSpPr/>
          <p:nvPr/>
        </p:nvSpPr>
        <p:spPr>
          <a:xfrm>
            <a:off x="640080" y="2240280"/>
            <a:ext cx="3474720" cy="2148840"/>
          </a:xfrm>
          <a:prstGeom prst="roundRect">
            <a:avLst>
              <a:gd name="adj" fmla="val 2553"/>
            </a:avLst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EA16309-2DD3-FF5A-2C26-044EA348C676}"/>
              </a:ext>
            </a:extLst>
          </p:cNvPr>
          <p:cNvSpPr/>
          <p:nvPr/>
        </p:nvSpPr>
        <p:spPr>
          <a:xfrm>
            <a:off x="640080" y="2240280"/>
            <a:ext cx="3474720" cy="6400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9A154DF-0CE8-9B8F-3C95-E331780F8965}"/>
              </a:ext>
            </a:extLst>
          </p:cNvPr>
          <p:cNvSpPr/>
          <p:nvPr/>
        </p:nvSpPr>
        <p:spPr>
          <a:xfrm>
            <a:off x="914400" y="24688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358E9E86-F7C4-7D8E-FEB4-42A3E3C99848}"/>
              </a:ext>
            </a:extLst>
          </p:cNvPr>
          <p:cNvSpPr/>
          <p:nvPr/>
        </p:nvSpPr>
        <p:spPr>
          <a:xfrm>
            <a:off x="91440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2433"/>
                </a:solidFill>
                <a:ea typeface="+mn-lt"/>
                <a:cs typeface="+mn-lt"/>
              </a:rPr>
              <a:t>Compounding Network Effect</a:t>
            </a:r>
            <a:endParaRPr lang="en-US" sz="16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9B40074-FD52-85B1-955F-E087DCB98661}"/>
              </a:ext>
            </a:extLst>
          </p:cNvPr>
          <p:cNvSpPr/>
          <p:nvPr/>
        </p:nvSpPr>
        <p:spPr>
          <a:xfrm>
            <a:off x="914400" y="35204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4A5568"/>
                </a:solidFill>
                <a:ea typeface="+mn-lt"/>
                <a:cs typeface="+mn-lt"/>
              </a:rPr>
              <a:t>Each new student strengthens the platform by contributing insights that continuously improve recommendations and increase its value over time.</a:t>
            </a:r>
            <a:endParaRPr lang="en-US" sz="1200" dirty="0">
              <a:ea typeface="+mn-lt"/>
              <a:cs typeface="+mn-lt"/>
            </a:endParaRPr>
          </a:p>
          <a:p>
            <a:endParaRPr lang="en-US" sz="1200" dirty="0">
              <a:solidFill>
                <a:srgbClr val="4A5568"/>
              </a:solidFill>
              <a:ea typeface="+mn-lt"/>
              <a:cs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481D56-E8F6-B995-9185-33C31865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680" y="2001355"/>
            <a:ext cx="6857867" cy="3292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01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experience, in five beats.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221992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221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463040" y="2185416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wakes up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4663440" y="2185416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particle system forms your digital self as you onboard.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1005840" y="2679192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1463040" y="2935224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money check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4663440" y="2935224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"4.2 months of runway. You're €38 over on food this week."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1005840" y="3429000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721608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463040" y="36850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simulation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4663440" y="36850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"Masters in AI, Dublin" renders a month-by-month timeline with risks flagged.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1005840" y="4178808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77240" y="4471416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77240" y="4471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463040" y="4434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answers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4663440" y="4434840"/>
            <a:ext cx="67665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Another student's agent replies automatically while they sleep.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05840" y="4928616"/>
            <a:ext cx="0" cy="292608"/>
          </a:xfrm>
          <a:prstGeom prst="line">
            <a:avLst/>
          </a:prstGeom>
          <a:noFill/>
          <a:ln w="15875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77240" y="5221224"/>
            <a:ext cx="457200" cy="457200"/>
          </a:xfrm>
          <a:prstGeom prst="ellipse">
            <a:avLst/>
          </a:prstGeom>
          <a:solidFill>
            <a:srgbClr val="E7EEF9"/>
          </a:solidFill>
          <a:ln w="12700">
            <a:solidFill>
              <a:srgbClr val="1B4D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77240" y="52212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1463040" y="51846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moment 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4663440" y="5184648"/>
            <a:ext cx="67665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"Grocery 1.2km away 15% off." The student saves; we earn commission.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100" err="1">
                <a:solidFill>
                  <a:srgbClr val="8A94A6"/>
                </a:solidFill>
                <a:latin typeface="Calibri"/>
                <a:ea typeface="Calibri"/>
                <a:cs typeface="Calibri"/>
              </a:rPr>
              <a:t>UniFund</a:t>
            </a:r>
            <a:endParaRPr lang="en-US" sz="900" err="1"/>
          </a:p>
        </p:txBody>
      </p:sp>
      <p:sp>
        <p:nvSpPr>
          <p:cNvPr id="31" name="Text 29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pay. Partners do.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revenue comes from merchants, brands, banks and universities.</a:t>
            </a:r>
            <a:endParaRPr lang="en-US" sz="130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286000"/>
          <a:ext cx="41148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800"/>
          </a:p>
          <a:p>
            <a:pPr marL="0" indent="0" algn="ctr">
              <a:buNone/>
            </a:pPr>
            <a:r>
              <a:rPr lang="en-US" sz="11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partners</a:t>
            </a:r>
            <a:endParaRPr lang="en-US" sz="2800"/>
          </a:p>
        </p:txBody>
      </p:sp>
      <p:sp>
        <p:nvSpPr>
          <p:cNvPr id="8" name="Shape 5"/>
          <p:cNvSpPr/>
          <p:nvPr/>
        </p:nvSpPr>
        <p:spPr>
          <a:xfrm>
            <a:off x="5029200" y="2240280"/>
            <a:ext cx="6492240" cy="493776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212080" y="2414016"/>
            <a:ext cx="146304" cy="14630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486400" y="224028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affiliate commerce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9098280" y="2240280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500"/>
          </a:p>
        </p:txBody>
      </p:sp>
      <p:sp>
        <p:nvSpPr>
          <p:cNvPr id="12" name="Text 9"/>
          <p:cNvSpPr/>
          <p:nvPr/>
        </p:nvSpPr>
        <p:spPr>
          <a:xfrm>
            <a:off x="9966960" y="2240280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10–20% on ethnic groceries &amp; food. Recurring weekly.</a:t>
            </a:r>
            <a:endParaRPr lang="en-US" sz="850"/>
          </a:p>
        </p:txBody>
      </p:sp>
      <p:sp>
        <p:nvSpPr>
          <p:cNvPr id="13" name="Shape 10"/>
          <p:cNvSpPr/>
          <p:nvPr/>
        </p:nvSpPr>
        <p:spPr>
          <a:xfrm>
            <a:off x="5029200" y="2807208"/>
            <a:ext cx="6492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12080" y="2980944"/>
            <a:ext cx="146304" cy="146304"/>
          </a:xfrm>
          <a:prstGeom prst="ellipse">
            <a:avLst/>
          </a:prstGeom>
          <a:solidFill>
            <a:srgbClr val="5B82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486400" y="280720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partnerships &amp; offers</a:t>
            </a:r>
            <a:endParaRPr lang="en-US" sz="1200"/>
          </a:p>
        </p:txBody>
      </p:sp>
      <p:sp>
        <p:nvSpPr>
          <p:cNvPr id="16" name="Text 13"/>
          <p:cNvSpPr/>
          <p:nvPr/>
        </p:nvSpPr>
        <p:spPr>
          <a:xfrm>
            <a:off x="9098280" y="2807208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5B8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500"/>
          </a:p>
        </p:txBody>
      </p:sp>
      <p:sp>
        <p:nvSpPr>
          <p:cNvPr id="17" name="Text 14"/>
          <p:cNvSpPr/>
          <p:nvPr/>
        </p:nvSpPr>
        <p:spPr>
          <a:xfrm>
            <a:off x="9966960" y="2807208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pay to reach verified students. The proven UNiDAYS model.</a:t>
            </a:r>
            <a:endParaRPr lang="en-US" sz="850"/>
          </a:p>
        </p:txBody>
      </p:sp>
      <p:sp>
        <p:nvSpPr>
          <p:cNvPr id="18" name="Shape 15"/>
          <p:cNvSpPr/>
          <p:nvPr/>
        </p:nvSpPr>
        <p:spPr>
          <a:xfrm>
            <a:off x="5029200" y="3374136"/>
            <a:ext cx="6492240" cy="493776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212080" y="3547872"/>
            <a:ext cx="146304" cy="1463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0" y="337413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Financial-services referrals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9098280" y="3374136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/>
          </a:p>
        </p:txBody>
      </p:sp>
      <p:sp>
        <p:nvSpPr>
          <p:cNvPr id="22" name="Text 19"/>
          <p:cNvSpPr/>
          <p:nvPr/>
        </p:nvSpPr>
        <p:spPr>
          <a:xfrm>
            <a:off x="9966960" y="3374136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and fintechs pay for student accounts, cards, remittance.</a:t>
            </a:r>
            <a:endParaRPr lang="en-US" sz="850"/>
          </a:p>
        </p:txBody>
      </p:sp>
      <p:sp>
        <p:nvSpPr>
          <p:cNvPr id="23" name="Shape 20"/>
          <p:cNvSpPr/>
          <p:nvPr/>
        </p:nvSpPr>
        <p:spPr>
          <a:xfrm>
            <a:off x="5029200" y="3941064"/>
            <a:ext cx="6492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212080" y="4114800"/>
            <a:ext cx="146304" cy="146304"/>
          </a:xfrm>
          <a:prstGeom prst="ellipse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486400" y="394106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B2B</a:t>
            </a:r>
            <a:endParaRPr lang="en-US" sz="1200"/>
          </a:p>
        </p:txBody>
      </p:sp>
      <p:sp>
        <p:nvSpPr>
          <p:cNvPr id="26" name="Text 23"/>
          <p:cNvSpPr/>
          <p:nvPr/>
        </p:nvSpPr>
        <p:spPr>
          <a:xfrm>
            <a:off x="9098280" y="3941064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500"/>
          </a:p>
        </p:txBody>
      </p:sp>
      <p:sp>
        <p:nvSpPr>
          <p:cNvPr id="27" name="Text 24"/>
          <p:cNvSpPr/>
          <p:nvPr/>
        </p:nvSpPr>
        <p:spPr>
          <a:xfrm>
            <a:off x="9966960" y="3941064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pay €499–€2,999/mo to reduce dropout.</a:t>
            </a:r>
            <a:endParaRPr lang="en-US" sz="850"/>
          </a:p>
        </p:txBody>
      </p:sp>
      <p:sp>
        <p:nvSpPr>
          <p:cNvPr id="28" name="Shape 25"/>
          <p:cNvSpPr/>
          <p:nvPr/>
        </p:nvSpPr>
        <p:spPr>
          <a:xfrm>
            <a:off x="5029200" y="4507992"/>
            <a:ext cx="6492240" cy="493776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212080" y="4681728"/>
            <a:ext cx="146304" cy="146304"/>
          </a:xfrm>
          <a:prstGeom prst="ellipse">
            <a:avLst/>
          </a:prstGeom>
          <a:solidFill>
            <a:srgbClr val="8A94A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486400" y="450799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subscriptions</a:t>
            </a:r>
            <a:endParaRPr lang="en-US" sz="1200"/>
          </a:p>
        </p:txBody>
      </p:sp>
      <p:sp>
        <p:nvSpPr>
          <p:cNvPr id="31" name="Text 28"/>
          <p:cNvSpPr/>
          <p:nvPr/>
        </p:nvSpPr>
        <p:spPr>
          <a:xfrm>
            <a:off x="9098280" y="4507992"/>
            <a:ext cx="777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500"/>
          </a:p>
        </p:txBody>
      </p:sp>
      <p:sp>
        <p:nvSpPr>
          <p:cNvPr id="32" name="Text 29"/>
          <p:cNvSpPr/>
          <p:nvPr/>
        </p:nvSpPr>
        <p:spPr>
          <a:xfrm>
            <a:off x="9966960" y="4507992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low — students mostly stay free.</a:t>
            </a:r>
            <a:endParaRPr lang="en-US" sz="850"/>
          </a:p>
        </p:txBody>
      </p:sp>
      <p:sp>
        <p:nvSpPr>
          <p:cNvPr id="33" name="Text 30"/>
          <p:cNvSpPr/>
          <p:nvPr/>
        </p:nvSpPr>
        <p:spPr>
          <a:xfrm>
            <a:off x="5029200" y="523036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€250–450/mo grocery spend × 12–15% ≈ €12–15/mo per student — more than any subscription, and they pay €0.</a:t>
            </a:r>
            <a:endParaRPr lang="en-US" sz="1050"/>
          </a:p>
        </p:txBody>
      </p:sp>
      <p:sp>
        <p:nvSpPr>
          <p:cNvPr id="34" name="Shape 31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8A94A6"/>
                </a:solidFill>
                <a:latin typeface="Calibri"/>
                <a:ea typeface="Calibri"/>
                <a:cs typeface="Calibri"/>
              </a:rPr>
              <a:t>UniFund</a:t>
            </a:r>
            <a:endParaRPr lang="en-US" sz="900"/>
          </a:p>
        </p:txBody>
      </p:sp>
      <p:sp>
        <p:nvSpPr>
          <p:cNvPr id="36" name="Text 33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/>
          </a:p>
        </p:txBody>
      </p:sp>
      <p:sp>
        <p:nvSpPr>
          <p:cNvPr id="37" name="Text 34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student app to lifelong AI commerce network.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548640" cy="41148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2386584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3865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→ alumni → lifelong companion</a:t>
            </a:r>
            <a:endParaRPr lang="en-US" sz="1450"/>
          </a:p>
        </p:txBody>
      </p:sp>
      <p:sp>
        <p:nvSpPr>
          <p:cNvPr id="9" name="Text 7"/>
          <p:cNvSpPr/>
          <p:nvPr/>
        </p:nvSpPr>
        <p:spPr>
          <a:xfrm>
            <a:off x="6126480" y="2194560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grows into the user's high-value financial life stages.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14400" y="3227832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463040" y="303580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economy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6126480" y="3035808"/>
            <a:ext cx="5303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finds offers, negotiates and shares knowledge on your behalf.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40080" y="3877056"/>
            <a:ext cx="10881360" cy="713232"/>
          </a:xfrm>
          <a:prstGeom prst="rect">
            <a:avLst/>
          </a:prstGeom>
          <a:solidFill>
            <a:srgbClr val="F7F9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14400" y="4069080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463040" y="387705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commerce &amp; finance</a:t>
            </a:r>
            <a:endParaRPr lang="en-US" sz="1450"/>
          </a:p>
        </p:txBody>
      </p:sp>
      <p:sp>
        <p:nvSpPr>
          <p:cNvPr id="19" name="Text 17"/>
          <p:cNvSpPr/>
          <p:nvPr/>
        </p:nvSpPr>
        <p:spPr>
          <a:xfrm>
            <a:off x="6126480" y="3877056"/>
            <a:ext cx="53035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We know your </a:t>
            </a:r>
            <a:r>
              <a:rPr lang="en-US" sz="120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runway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 so we surface the right product at the right moment.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4718304"/>
            <a:ext cx="108813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14400" y="4910328"/>
            <a:ext cx="329184" cy="329184"/>
          </a:xfrm>
          <a:prstGeom prst="ellipse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14400" y="4910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463040" y="471830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campus, every country</a:t>
            </a:r>
            <a:endParaRPr lang="en-US" sz="1450"/>
          </a:p>
        </p:txBody>
      </p:sp>
      <p:sp>
        <p:nvSpPr>
          <p:cNvPr id="24" name="Text 22"/>
          <p:cNvSpPr/>
          <p:nvPr/>
        </p:nvSpPr>
        <p:spPr>
          <a:xfrm>
            <a:off x="6126480" y="4718304"/>
            <a:ext cx="5303520" cy="7132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200" err="1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localisation</a:t>
            </a: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 playbook that repeats</a:t>
            </a:r>
          </a:p>
        </p:txBody>
      </p:sp>
      <p:sp>
        <p:nvSpPr>
          <p:cNvPr id="25" name="Shape 23"/>
          <p:cNvSpPr/>
          <p:nvPr/>
        </p:nvSpPr>
        <p:spPr>
          <a:xfrm>
            <a:off x="640080" y="5623560"/>
            <a:ext cx="10911535" cy="548640"/>
          </a:xfrm>
          <a:prstGeom prst="roundRect">
            <a:avLst>
              <a:gd name="adj" fmla="val 8333"/>
            </a:avLst>
          </a:prstGeom>
          <a:solidFill>
            <a:srgbClr val="E7EEF9"/>
          </a:solidFill>
          <a:ln w="12700">
            <a:solidFill>
              <a:srgbClr val="5B82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14400" y="5623560"/>
            <a:ext cx="10362895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50" b="1">
                <a:solidFill>
                  <a:srgbClr val="1B4DB1"/>
                </a:solidFill>
                <a:latin typeface="Calibri"/>
                <a:ea typeface="Calibri"/>
                <a:cs typeface="Calibri"/>
              </a:rPr>
              <a:t>The endgame: the </a:t>
            </a:r>
            <a:r>
              <a:rPr lang="en-US" sz="1350" b="1" err="1">
                <a:solidFill>
                  <a:srgbClr val="1B4DB1"/>
                </a:solidFill>
                <a:latin typeface="Calibri"/>
                <a:ea typeface="Calibri"/>
                <a:cs typeface="Calibri"/>
              </a:rPr>
              <a:t>queryable</a:t>
            </a:r>
            <a:r>
              <a:rPr lang="en-US" sz="1350" b="1">
                <a:solidFill>
                  <a:srgbClr val="1B4DB1"/>
                </a:solidFill>
                <a:latin typeface="Calibri"/>
                <a:ea typeface="Calibri"/>
                <a:cs typeface="Calibri"/>
              </a:rPr>
              <a:t> layer of human experience — monetized through commerce.</a:t>
            </a:r>
            <a:endParaRPr lang="en-US" sz="135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6400800"/>
            <a:ext cx="10911535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kern="0" spc="100" err="1">
                <a:solidFill>
                  <a:srgbClr val="8A94A6"/>
                </a:solidFill>
                <a:latin typeface="Calibri"/>
                <a:ea typeface="Calibri"/>
                <a:cs typeface="Calibri"/>
              </a:rPr>
              <a:t>UniFund</a:t>
            </a:r>
            <a:endParaRPr lang="en-US" sz="900" err="1"/>
          </a:p>
        </p:txBody>
      </p:sp>
      <p:sp>
        <p:nvSpPr>
          <p:cNvPr id="29" name="Text 27"/>
          <p:cNvSpPr/>
          <p:nvPr/>
        </p:nvSpPr>
        <p:spPr>
          <a:xfrm>
            <a:off x="4267048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· 2026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110944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students</a:t>
            </a:r>
            <a:endParaRPr lang="en-US" sz="400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graduate without.</a:t>
            </a:r>
            <a:endParaRPr lang="en-US" sz="400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we add makes the product smarter, the partner deals better, and the margins higher — a relationship that starts at 18 and lasts a lifetime.</a:t>
            </a:r>
            <a:endParaRPr lang="en-US" sz="150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329184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 — real product, not a mockup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480560" y="4114800"/>
            <a:ext cx="329184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05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4480560" y="4617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as UNiDAYS (£53M/yr)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138160" y="4114800"/>
            <a:ext cx="3291840" cy="0"/>
          </a:xfrm>
          <a:prstGeom prst="line">
            <a:avLst/>
          </a:prstGeom>
          <a:noFill/>
          <a:ln w="12700">
            <a:solidFill>
              <a:srgbClr val="C7CD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3816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B4D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8138160" y="4617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profit when students save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54406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4389120" y="5440680"/>
            <a:ext cx="548640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300">
              <a:solidFill>
                <a:srgbClr val="8A94A6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6DA5B-ED30-3D33-5E97-32814D41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64EAE2-34D3-38E0-8DC3-03B886713F50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4D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6F048CF-DE0A-AB0A-D305-D3E22368610F}"/>
              </a:ext>
            </a:extLst>
          </p:cNvPr>
          <p:cNvSpPr/>
          <p:nvPr/>
        </p:nvSpPr>
        <p:spPr>
          <a:xfrm>
            <a:off x="8138160" y="4206240"/>
            <a:ext cx="329184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700" b="1">
              <a:solidFill>
                <a:srgbClr val="1B4DB1"/>
              </a:solidFill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15484F-C3C4-B5DC-E651-2CB61B023E84}"/>
              </a:ext>
            </a:extLst>
          </p:cNvPr>
          <p:cNvSpPr/>
          <p:nvPr/>
        </p:nvSpPr>
        <p:spPr>
          <a:xfrm>
            <a:off x="3223260" y="2549434"/>
            <a:ext cx="329184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br>
              <a:rPr lang="en-US" sz="4000">
                <a:ea typeface="Calibri"/>
                <a:cs typeface="Calibri"/>
              </a:rPr>
            </a:br>
            <a:r>
              <a:rPr lang="en-US" sz="4000">
                <a:solidFill>
                  <a:srgbClr val="4A5568"/>
                </a:solidFill>
                <a:ea typeface="Calibri"/>
                <a:cs typeface="Calibri"/>
              </a:rPr>
              <a:t>Thank you!</a:t>
            </a:r>
            <a:endParaRPr lang="en-US" sz="40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7157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818</Words>
  <Application>Microsoft Office PowerPoint</Application>
  <PresentationFormat>Widescreen</PresentationFormat>
  <Paragraphs>147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UniMind — Investor Pitch</dc:title>
  <dc:subject>PptxGenJS Presentation</dc:subject>
  <dc:creator>PptxGenJS</dc:creator>
  <cp:lastModifiedBy>Gaddameedi SudeepAryan</cp:lastModifiedBy>
  <cp:revision>3</cp:revision>
  <dcterms:created xsi:type="dcterms:W3CDTF">2026-05-21T17:27:33Z</dcterms:created>
  <dcterms:modified xsi:type="dcterms:W3CDTF">2026-05-26T22:40:32Z</dcterms:modified>
</cp:coreProperties>
</file>