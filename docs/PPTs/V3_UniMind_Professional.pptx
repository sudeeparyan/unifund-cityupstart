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249BC6-965B-B8B6-C561-CD4A5B15E561}" v="13" dt="2026-05-21T19:56:54.6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ya Barri" userId="S::x24240168@student.ncirl.ie::faabb9af-7cf8-477a-bea3-929e95a1cac0" providerId="AD" clId="Web-{03249BC6-965B-B8B6-C561-CD4A5B15E561}"/>
    <pc:docChg chg="modSld">
      <pc:chgData name="Ramya Barri" userId="S::x24240168@student.ncirl.ie::faabb9af-7cf8-477a-bea3-929e95a1cac0" providerId="AD" clId="Web-{03249BC6-965B-B8B6-C561-CD4A5B15E561}" dt="2026-05-21T19:56:54.661" v="12" actId="20577"/>
      <pc:docMkLst>
        <pc:docMk/>
      </pc:docMkLst>
      <pc:sldChg chg="modSp">
        <pc:chgData name="Ramya Barri" userId="S::x24240168@student.ncirl.ie::faabb9af-7cf8-477a-bea3-929e95a1cac0" providerId="AD" clId="Web-{03249BC6-965B-B8B6-C561-CD4A5B15E561}" dt="2026-05-21T19:56:54.661" v="12" actId="20577"/>
        <pc:sldMkLst>
          <pc:docMk/>
          <pc:sldMk cId="0" sldId="256"/>
        </pc:sldMkLst>
        <pc:spChg chg="mod">
          <ac:chgData name="Ramya Barri" userId="S::x24240168@student.ncirl.ie::faabb9af-7cf8-477a-bea3-929e95a1cac0" providerId="AD" clId="Web-{03249BC6-965B-B8B6-C561-CD4A5B15E561}" dt="2026-05-21T19:56:27.988" v="6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Ramya Barri" userId="S::x24240168@student.ncirl.ie::faabb9af-7cf8-477a-bea3-929e95a1cac0" providerId="AD" clId="Web-{03249BC6-965B-B8B6-C561-CD4A5B15E561}" dt="2026-05-21T19:56:21.144" v="5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Ramya Barri" userId="S::x24240168@student.ncirl.ie::faabb9af-7cf8-477a-bea3-929e95a1cac0" providerId="AD" clId="Web-{03249BC6-965B-B8B6-C561-CD4A5B15E561}" dt="2026-05-21T19:56:43.442" v="8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Ramya Barri" userId="S::x24240168@student.ncirl.ie::faabb9af-7cf8-477a-bea3-929e95a1cac0" providerId="AD" clId="Web-{03249BC6-965B-B8B6-C561-CD4A5B15E561}" dt="2026-05-21T19:56:40.129" v="7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Ramya Barri" userId="S::x24240168@student.ncirl.ie::faabb9af-7cf8-477a-bea3-929e95a1cac0" providerId="AD" clId="Web-{03249BC6-965B-B8B6-C561-CD4A5B15E561}" dt="2026-05-21T19:56:45.926" v="9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Ramya Barri" userId="S::x24240168@student.ncirl.ie::faabb9af-7cf8-477a-bea3-929e95a1cac0" providerId="AD" clId="Web-{03249BC6-965B-B8B6-C561-CD4A5B15E561}" dt="2026-05-21T19:56:48.645" v="10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Ramya Barri" userId="S::x24240168@student.ncirl.ie::faabb9af-7cf8-477a-bea3-929e95a1cac0" providerId="AD" clId="Web-{03249BC6-965B-B8B6-C561-CD4A5B15E561}" dt="2026-05-21T19:56:52.098" v="11" actId="2057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Ramya Barri" userId="S::x24240168@student.ncirl.ie::faabb9af-7cf8-477a-bea3-929e95a1cac0" providerId="AD" clId="Web-{03249BC6-965B-B8B6-C561-CD4A5B15E561}" dt="2026-05-21T19:56:54.661" v="12" actId="20577"/>
          <ac:spMkLst>
            <pc:docMk/>
            <pc:sldMk cId="0" sldId="256"/>
            <ac:spMk id="12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 per student (€/yr)</c:v>
                </c:pt>
              </c:strCache>
            </c:strRef>
          </c:tx>
          <c:spPr>
            <a:ln w="38100" cap="flat">
              <a:solidFill>
                <a:srgbClr val="1B4DB1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1B4DB1"/>
              </a:solidFill>
              <a:ln w="9525" cap="flat">
                <a:solidFill>
                  <a:srgbClr val="1B4DB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1K</c:v>
                </c:pt>
                <c:pt idx="1">
                  <c:v>5K</c:v>
                </c:pt>
                <c:pt idx="2">
                  <c:v>20K</c:v>
                </c:pt>
                <c:pt idx="3">
                  <c:v>50K</c:v>
                </c:pt>
                <c:pt idx="4">
                  <c:v>100K</c:v>
                </c:pt>
                <c:pt idx="5">
                  <c:v>250K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</c:v>
                </c:pt>
                <c:pt idx="1">
                  <c:v>130</c:v>
                </c:pt>
                <c:pt idx="2">
                  <c:v>168</c:v>
                </c:pt>
                <c:pt idx="3">
                  <c:v>205</c:v>
                </c:pt>
                <c:pt idx="4">
                  <c:v>240</c:v>
                </c:pt>
                <c:pt idx="5">
                  <c:v>285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844-4CD0-A66E-89D7290CA6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7CDD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0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FFFFF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4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DB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0B8F-4B37-971E-AE9E414EC82D}"/>
              </c:ext>
            </c:extLst>
          </c:dPt>
          <c:dPt>
            <c:idx val="1"/>
            <c:bubble3D val="0"/>
            <c:spPr>
              <a:solidFill>
                <a:srgbClr val="5B82D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0B8F-4B37-971E-AE9E414EC82D}"/>
              </c:ext>
            </c:extLst>
          </c:dPt>
          <c:dPt>
            <c:idx val="2"/>
            <c:bubble3D val="0"/>
            <c:spPr>
              <a:solidFill>
                <a:srgbClr val="0E7C8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0B8F-4B37-971E-AE9E414EC82D}"/>
              </c:ext>
            </c:extLst>
          </c:dPt>
          <c:dPt>
            <c:idx val="3"/>
            <c:bubble3D val="0"/>
            <c:spPr>
              <a:solidFill>
                <a:srgbClr val="B7791F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0B8F-4B37-971E-AE9E414EC82D}"/>
              </c:ext>
            </c:extLst>
          </c:dPt>
          <c:dPt>
            <c:idx val="4"/>
            <c:bubble3D val="0"/>
            <c:spPr>
              <a:solidFill>
                <a:srgbClr val="C7CDD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0B8F-4B37-971E-AE9E414EC82D}"/>
              </c:ext>
            </c:extLst>
          </c:dPt>
          <c:cat>
            <c:strRef>
              <c:f>Sheet1!$A$2:$A$6</c:f>
              <c:strCache>
                <c:ptCount val="5"/>
                <c:pt idx="0">
                  <c:v>Affiliate commerce</c:v>
                </c:pt>
                <c:pt idx="1">
                  <c:v>Brand partnerships</c:v>
                </c:pt>
                <c:pt idx="2">
                  <c:v>Financial referrals</c:v>
                </c:pt>
                <c:pt idx="3">
                  <c:v>Institutional B2B</c:v>
                </c:pt>
                <c:pt idx="4">
                  <c:v>Subscriptions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22</c:v>
                </c:pt>
                <c:pt idx="2">
                  <c:v>20</c:v>
                </c:pt>
                <c:pt idx="3">
                  <c:v>16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B8F-4B37-971E-AE9E414EC8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Affiliate + brands</c:v>
                </c:pt>
              </c:strCache>
            </c:strRef>
          </c:tx>
          <c:spPr>
            <a:solidFill>
              <a:srgbClr val="1B4DB1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Q1 Y1</c:v>
                </c:pt>
                <c:pt idx="1">
                  <c:v>Q2 Y1</c:v>
                </c:pt>
                <c:pt idx="2">
                  <c:v>Q3 Y1</c:v>
                </c:pt>
                <c:pt idx="3">
                  <c:v>Q4 Y1</c:v>
                </c:pt>
                <c:pt idx="4">
                  <c:v>Q1 Y2</c:v>
                </c:pt>
                <c:pt idx="5">
                  <c:v>Q2 Y2</c:v>
                </c:pt>
                <c:pt idx="6">
                  <c:v>Q3 Y2</c:v>
                </c:pt>
                <c:pt idx="7">
                  <c:v>Q4 Y2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3000</c:v>
                </c:pt>
                <c:pt idx="1">
                  <c:v>9000</c:v>
                </c:pt>
                <c:pt idx="2">
                  <c:v>22000</c:v>
                </c:pt>
                <c:pt idx="3">
                  <c:v>44000</c:v>
                </c:pt>
                <c:pt idx="4">
                  <c:v>78000</c:v>
                </c:pt>
                <c:pt idx="5">
                  <c:v>132000</c:v>
                </c:pt>
                <c:pt idx="6">
                  <c:v>210000</c:v>
                </c:pt>
                <c:pt idx="7">
                  <c:v>320000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29-4A2B-BC2F-B1D457C17D8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Financial + B2B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Q1 Y1</c:v>
                </c:pt>
                <c:pt idx="1">
                  <c:v>Q2 Y1</c:v>
                </c:pt>
                <c:pt idx="2">
                  <c:v>Q3 Y1</c:v>
                </c:pt>
                <c:pt idx="3">
                  <c:v>Q4 Y1</c:v>
                </c:pt>
                <c:pt idx="4">
                  <c:v>Q1 Y2</c:v>
                </c:pt>
                <c:pt idx="5">
                  <c:v>Q2 Y2</c:v>
                </c:pt>
                <c:pt idx="6">
                  <c:v>Q3 Y2</c:v>
                </c:pt>
                <c:pt idx="7">
                  <c:v>Q4 Y2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2000</c:v>
                </c:pt>
                <c:pt idx="2">
                  <c:v>12000</c:v>
                </c:pt>
                <c:pt idx="3">
                  <c:v>38000</c:v>
                </c:pt>
                <c:pt idx="4">
                  <c:v>82000</c:v>
                </c:pt>
                <c:pt idx="5">
                  <c:v>150000</c:v>
                </c:pt>
                <c:pt idx="6">
                  <c:v>260000</c:v>
                </c:pt>
                <c:pt idx="7">
                  <c:v>410000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929-4A2B-BC2F-B1D457C17D8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Subscriptions</c:v>
                </c:pt>
              </c:strCache>
            </c:strRef>
          </c:tx>
          <c:spPr>
            <a:solidFill>
              <a:srgbClr val="C7CDD8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Q1 Y1</c:v>
                </c:pt>
                <c:pt idx="1">
                  <c:v>Q2 Y1</c:v>
                </c:pt>
                <c:pt idx="2">
                  <c:v>Q3 Y1</c:v>
                </c:pt>
                <c:pt idx="3">
                  <c:v>Q4 Y1</c:v>
                </c:pt>
                <c:pt idx="4">
                  <c:v>Q1 Y2</c:v>
                </c:pt>
                <c:pt idx="5">
                  <c:v>Q2 Y2</c:v>
                </c:pt>
                <c:pt idx="6">
                  <c:v>Q3 Y2</c:v>
                </c:pt>
                <c:pt idx="7">
                  <c:v>Q4 Y2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800</c:v>
                </c:pt>
                <c:pt idx="1">
                  <c:v>2400</c:v>
                </c:pt>
                <c:pt idx="2">
                  <c:v>6000</c:v>
                </c:pt>
                <c:pt idx="3">
                  <c:v>12000</c:v>
                </c:pt>
                <c:pt idx="4">
                  <c:v>20000</c:v>
                </c:pt>
                <c:pt idx="5">
                  <c:v>33000</c:v>
                </c:pt>
                <c:pt idx="6">
                  <c:v>52000</c:v>
                </c:pt>
                <c:pt idx="7">
                  <c:v>78000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929-4A2B-BC2F-B1D457C17D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7CDD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4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556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E1A57E-1650-40DE-A86C-15591B0248F5}" type="datetimeFigureOut">
              <a:t>5/21/2026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A239AF-7420-4076-AC95-9A77FFF5B1C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481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400" b="1" kern="0" spc="600" dirty="0">
              <a:solidFill>
                <a:srgbClr val="1B4DB1"/>
              </a:solidFill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10058400" cy="1280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>
                <a:solidFill>
                  <a:schemeClr val="accent1">
                    <a:lumMod val="76000"/>
                  </a:schemeClr>
                </a:solidFill>
                <a:ea typeface="Calibri"/>
                <a:cs typeface="Calibri"/>
              </a:rPr>
              <a:t>UNIMIND</a:t>
            </a:r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your career.  Protect your money.  Plug into your people.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5943600" cy="0"/>
          </a:xfrm>
          <a:prstGeom prst="line">
            <a:avLst/>
          </a:prstGeom>
          <a:noFill/>
          <a:ln w="12700">
            <a:solidFill>
              <a:srgbClr val="C7CD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4572000"/>
            <a:ext cx="329184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3000" b="1" dirty="0">
              <a:solidFill>
                <a:srgbClr val="1B4DB1"/>
              </a:solidFill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5120640"/>
            <a:ext cx="32918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dirty="0">
              <a:solidFill>
                <a:srgbClr val="8A94A6"/>
              </a:solidFill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89120" y="4572000"/>
            <a:ext cx="329184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3000" b="1" dirty="0">
              <a:solidFill>
                <a:srgbClr val="1B4DB1"/>
              </a:solidFill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389120" y="5120640"/>
            <a:ext cx="32918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dirty="0">
              <a:solidFill>
                <a:srgbClr val="8A94A6"/>
              </a:solidFill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55280" y="4572000"/>
            <a:ext cx="329184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3000" b="1" dirty="0">
              <a:solidFill>
                <a:srgbClr val="1B4DB1"/>
              </a:solidFill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55280" y="5120640"/>
            <a:ext cx="32918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dirty="0">
              <a:solidFill>
                <a:srgbClr val="8A94A6"/>
              </a:solidFill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6126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discussion purposes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is broken. Money is scary.</a:t>
            </a:r>
            <a:endParaRPr lang="en-US" sz="2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knowledge dies every year.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548640" cy="41148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257800" cy="1325880"/>
          </a:xfrm>
          <a:prstGeom prst="roundRect">
            <a:avLst>
              <a:gd name="adj" fmla="val 4138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74520" y="24414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blindness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74520" y="2807208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bet three years and tens of thousands on a path they cannot see the outcome of.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2240280"/>
            <a:ext cx="5257800" cy="1325880"/>
          </a:xfrm>
          <a:prstGeom prst="roundRect">
            <a:avLst>
              <a:gd name="adj" fmla="val 4138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46520" y="2468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406640" y="24414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stress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06640" y="2807208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students spend €10–20k a year in a foreign economy with zero runway visibility — the #1 dropout cause.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5257800" cy="1325880"/>
          </a:xfrm>
          <a:prstGeom prst="roundRect">
            <a:avLst>
              <a:gd name="adj" fmla="val 4138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14400" y="40233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874520" y="3995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74520" y="4361688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arrive with no network, and no one who has walked their specific journey.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3794760"/>
            <a:ext cx="5257800" cy="1325880"/>
          </a:xfrm>
          <a:prstGeom prst="roundRect">
            <a:avLst>
              <a:gd name="adj" fmla="val 4138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46520" y="40233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406640" y="3995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knowledge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06640" y="4361688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who found the cheap grocer, the right bank, the visa trick — graduates, and it is gone.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UniMind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67048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·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HASN'T BEEN SOLVED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is the moat.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48640" cy="41148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2606040" cy="2468880"/>
          </a:xfrm>
          <a:prstGeom prst="roundRect">
            <a:avLst>
              <a:gd name="adj" fmla="val 2222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14400" y="2514600"/>
            <a:ext cx="365760" cy="41148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can't personalise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gives an Indian student in Dublin and a Chinese student in London the same answer.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2240280"/>
            <a:ext cx="2606040" cy="2468880"/>
          </a:xfrm>
          <a:prstGeom prst="roundRect">
            <a:avLst>
              <a:gd name="adj" fmla="val 2222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703320" y="2514600"/>
            <a:ext cx="365760" cy="41148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70332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Forums are noise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03320" y="347472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and WhatsApp bury knowledge. Lived experience is not queryable.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240280"/>
            <a:ext cx="2606040" cy="2468880"/>
          </a:xfrm>
          <a:prstGeom prst="roundRect">
            <a:avLst>
              <a:gd name="adj" fmla="val 2222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492240" y="2514600"/>
            <a:ext cx="365760" cy="41148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9224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fragmented stack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347472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universities, merchants and communities are separate worlds that never connect.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06840" y="2240280"/>
            <a:ext cx="2606040" cy="2468880"/>
          </a:xfrm>
          <a:prstGeom prst="roundRect">
            <a:avLst>
              <a:gd name="adj" fmla="val 2222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9281160" y="2514600"/>
            <a:ext cx="365760" cy="41148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28116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data moat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281160" y="347472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is the community — hard to build first, impossible to copy once built.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983480"/>
            <a:ext cx="10911535" cy="640080"/>
          </a:xfrm>
          <a:prstGeom prst="roundRect">
            <a:avLst>
              <a:gd name="adj" fmla="val 7143"/>
            </a:avLst>
          </a:prstGeom>
          <a:solidFill>
            <a:srgbClr val="E7EEF9"/>
          </a:solidFill>
          <a:ln w="12700">
            <a:solidFill>
              <a:srgbClr val="5B82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14400" y="498348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barrier that makes UniMind hard to start is the same barrier that makes it impossible to catch.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UniMind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67048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·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agent per student. Three engines.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48640" cy="41148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474720" cy="2148840"/>
          </a:xfrm>
          <a:prstGeom prst="roundRect">
            <a:avLst>
              <a:gd name="adj" fmla="val 2553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3474720" cy="64008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Simulation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plan, see a month-by-month prediction built from thousands who already did 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240280"/>
            <a:ext cx="3474720" cy="2148840"/>
          </a:xfrm>
          <a:prstGeom prst="roundRect">
            <a:avLst>
              <a:gd name="adj" fmla="val 2553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343400" y="2240280"/>
            <a:ext cx="3474720" cy="64008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17720" y="24688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17720" y="30632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&amp; Runway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17720" y="35204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spending and shows exactly how many months of runway remain — the daily habit.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2240280"/>
            <a:ext cx="3474720" cy="2148840"/>
          </a:xfrm>
          <a:prstGeom prst="roundRect">
            <a:avLst>
              <a:gd name="adj" fmla="val 2553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046720" y="2240280"/>
            <a:ext cx="3474720" cy="64008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321040" y="24688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21040" y="30632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Knowledge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21040" y="35204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Students' agents share knowledge automatically — the network that compounds.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14400" y="470916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Hyper-localised by nationality.  </a:t>
            </a: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students see Indian grocers, Chinese students see Chinese supermarkets — and every recommendation is a revenue event.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UniMind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67048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·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48640" cy="41148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595360" y="86868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E7EEF9"/>
          </a:solidFill>
          <a:ln w="1270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595360" y="868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ALREADY BUILT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10881360" cy="566928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73152" cy="566928"/>
          </a:xfrm>
          <a:prstGeom prst="rect">
            <a:avLst/>
          </a:prstGeom>
          <a:solidFill>
            <a:srgbClr val="1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205740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(built)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0" y="2057400"/>
            <a:ext cx="7132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3D onboarding · 1,401-node Agentic Web · community feed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715768"/>
            <a:ext cx="10881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40080" y="2715768"/>
            <a:ext cx="73152" cy="566928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14400" y="2715768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06240" y="2715768"/>
            <a:ext cx="7132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is an LLM-backed agent with memory, risk profile and goal stack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374136"/>
            <a:ext cx="10881360" cy="566928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0080" y="3374136"/>
            <a:ext cx="73152" cy="566928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14400" y="3374136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06240" y="3374136"/>
            <a:ext cx="7132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linked by nationality, course, city and shared experience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032504"/>
            <a:ext cx="10881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0080" y="4032504"/>
            <a:ext cx="73152" cy="566928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14400" y="4032504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+ money engines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06240" y="4032504"/>
            <a:ext cx="7132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Inward + outward scan → prediction · budget tracking · runway forecast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690872"/>
            <a:ext cx="10881360" cy="566928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40080" y="4690872"/>
            <a:ext cx="73152" cy="566928"/>
          </a:xfrm>
          <a:prstGeom prst="rect">
            <a:avLst/>
          </a:prstGeom>
          <a:solidFill>
            <a:srgbClr val="B779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14400" y="4690872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layer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206240" y="4690872"/>
            <a:ext cx="7132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APIs + nationality-aware recommendation — the affiliate revenue rail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5349240"/>
            <a:ext cx="10881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40080" y="5349240"/>
            <a:ext cx="73152" cy="56692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914400" y="534924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moat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206240" y="5349240"/>
            <a:ext cx="7132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growing dataset of real student journeys — cannot be bought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UniMind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67048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·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experience, in five beats.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48640" cy="41148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2221992"/>
            <a:ext cx="457200" cy="457200"/>
          </a:xfrm>
          <a:prstGeom prst="ellipse">
            <a:avLst/>
          </a:prstGeom>
          <a:solidFill>
            <a:srgbClr val="E7EEF9"/>
          </a:solidFill>
          <a:ln w="12700">
            <a:solidFill>
              <a:srgbClr val="1B4D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2221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185416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wakes up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63440" y="2185416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3D particle system forms your digital self as you onboard.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2679192"/>
            <a:ext cx="0" cy="292608"/>
          </a:xfrm>
          <a:prstGeom prst="line">
            <a:avLst/>
          </a:prstGeom>
          <a:noFill/>
          <a:ln w="15875">
            <a:solidFill>
              <a:srgbClr val="C7CD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77240" y="2971800"/>
            <a:ext cx="457200" cy="457200"/>
          </a:xfrm>
          <a:prstGeom prst="ellipse">
            <a:avLst/>
          </a:prstGeom>
          <a:solidFill>
            <a:srgbClr val="E7EEF9"/>
          </a:solidFill>
          <a:ln w="12700">
            <a:solidFill>
              <a:srgbClr val="1B4D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772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293522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money check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2935224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"4.2 months of runway. You're €38 over on food this week."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05840" y="3429000"/>
            <a:ext cx="0" cy="292608"/>
          </a:xfrm>
          <a:prstGeom prst="line">
            <a:avLst/>
          </a:prstGeom>
          <a:noFill/>
          <a:ln w="15875">
            <a:solidFill>
              <a:srgbClr val="C7CD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77240" y="3721608"/>
            <a:ext cx="457200" cy="457200"/>
          </a:xfrm>
          <a:prstGeom prst="ellipse">
            <a:avLst/>
          </a:prstGeom>
          <a:solidFill>
            <a:srgbClr val="E7EEF9"/>
          </a:solidFill>
          <a:ln w="12700">
            <a:solidFill>
              <a:srgbClr val="1B4D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7240" y="3721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68503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simulation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63440" y="3685032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"Masters in AI, Dublin" renders a month-by-month timeline with risks flagged.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05840" y="4178808"/>
            <a:ext cx="0" cy="292608"/>
          </a:xfrm>
          <a:prstGeom prst="line">
            <a:avLst/>
          </a:prstGeom>
          <a:noFill/>
          <a:ln w="15875">
            <a:solidFill>
              <a:srgbClr val="C7CD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77240" y="4471416"/>
            <a:ext cx="457200" cy="457200"/>
          </a:xfrm>
          <a:prstGeom prst="ellipse">
            <a:avLst/>
          </a:prstGeom>
          <a:solidFill>
            <a:srgbClr val="E7EEF9"/>
          </a:solidFill>
          <a:ln w="12700">
            <a:solidFill>
              <a:srgbClr val="1B4D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7724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4434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answers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63440" y="443484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student's agent replies automatically — while they sleep.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005840" y="4928616"/>
            <a:ext cx="0" cy="292608"/>
          </a:xfrm>
          <a:prstGeom prst="line">
            <a:avLst/>
          </a:prstGeom>
          <a:noFill/>
          <a:ln w="15875">
            <a:solidFill>
              <a:srgbClr val="C7CD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77240" y="5221224"/>
            <a:ext cx="457200" cy="457200"/>
          </a:xfrm>
          <a:prstGeom prst="ellipse">
            <a:avLst/>
          </a:prstGeom>
          <a:solidFill>
            <a:srgbClr val="E7EEF9"/>
          </a:solidFill>
          <a:ln w="12700">
            <a:solidFill>
              <a:srgbClr val="1B4D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77240" y="5221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518464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moment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63440" y="518464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"Indian grocery 1.2km away — 15% off." The student saves; we earn commission.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UniMind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67048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·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 hold the business up.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48640" cy="41148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257800" cy="146304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60120" y="25146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965960" y="2560320"/>
            <a:ext cx="36576" cy="777240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194560" y="249631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to fake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2194560" y="2916936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+ nationality + budget produces advice no generic AI can match.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2240280"/>
            <a:ext cx="5257800" cy="146304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92240" y="25146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7498080" y="2560320"/>
            <a:ext cx="36576" cy="777240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26680" y="249631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habit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726680" y="2916936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tracking forces daily returns — driving retention and lifetime value.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257800" cy="146304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60120" y="42062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17" name="Shape 15"/>
          <p:cNvSpPr/>
          <p:nvPr/>
        </p:nvSpPr>
        <p:spPr>
          <a:xfrm>
            <a:off x="1965960" y="4251960"/>
            <a:ext cx="36576" cy="777240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194560" y="418795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that compounds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2194560" y="4608576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makes every other student's product better.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931920"/>
            <a:ext cx="5257800" cy="146304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92240" y="42062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400" dirty="0"/>
          </a:p>
        </p:txBody>
      </p:sp>
      <p:sp>
        <p:nvSpPr>
          <p:cNvPr id="22" name="Shape 20"/>
          <p:cNvSpPr/>
          <p:nvPr/>
        </p:nvSpPr>
        <p:spPr>
          <a:xfrm>
            <a:off x="7498080" y="4251960"/>
            <a:ext cx="36576" cy="777240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726680" y="418795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monetisation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7726680" y="4608576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earn when students save or move forward — never by selling attention.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UniMind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67048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·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students means more profit per student.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48640" cy="41148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per student grows as the network scales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2148840"/>
          <a:ext cx="60350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949440" y="2148840"/>
            <a:ext cx="4617720" cy="96012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6949440" y="2148840"/>
            <a:ext cx="73152" cy="960120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178040" y="22860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compounding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178040" y="260604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students → richer data, better commission rates, and higher bank value, all at once.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949440" y="3227832"/>
            <a:ext cx="4617720" cy="96012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949440" y="3227832"/>
            <a:ext cx="73152" cy="960120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178040" y="33649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acquisition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178040" y="368503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bring friends from their own country. The network does the selling; CAC stays low.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49440" y="4306824"/>
            <a:ext cx="4617720" cy="96012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6949440" y="4306824"/>
            <a:ext cx="73152" cy="960120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178040" y="444398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them young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7178040" y="476402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at 18, keep through graduation and first salary — a 30-year relationship.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UniMind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267048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· 2026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don't pay. Partners do.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48640" cy="41148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of revenue comes from merchants, brands, banks and universities.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2286000"/>
          <a:ext cx="41148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4290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28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partners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029200" y="2240280"/>
            <a:ext cx="6492240" cy="493776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212080" y="2414016"/>
            <a:ext cx="146304" cy="146304"/>
          </a:xfrm>
          <a:prstGeom prst="ellipse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486400" y="2240280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Hyper-local affiliate commerce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098280" y="2240280"/>
            <a:ext cx="777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966960" y="2240280"/>
            <a:ext cx="1463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pay 10–20% on ethnic groceries &amp; food. Recurring weekly.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029200" y="2807208"/>
            <a:ext cx="64922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212080" y="2980944"/>
            <a:ext cx="146304" cy="146304"/>
          </a:xfrm>
          <a:prstGeom prst="ellipse">
            <a:avLst/>
          </a:prstGeom>
          <a:solidFill>
            <a:srgbClr val="5B82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486400" y="2807208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partnerships &amp; offers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098280" y="2807208"/>
            <a:ext cx="777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5B8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966960" y="2807208"/>
            <a:ext cx="1463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pay to reach verified students. The proven UNiDAYS model.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029200" y="3374136"/>
            <a:ext cx="6492240" cy="493776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5212080" y="3547872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486400" y="3374136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Financial-services referrals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098280" y="3374136"/>
            <a:ext cx="777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966960" y="3374136"/>
            <a:ext cx="1463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and fintechs pay for student accounts, cards, remittance.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029200" y="3941064"/>
            <a:ext cx="64922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5212080" y="4114800"/>
            <a:ext cx="146304" cy="146304"/>
          </a:xfrm>
          <a:prstGeom prst="ellipse">
            <a:avLst/>
          </a:prstGeom>
          <a:solidFill>
            <a:srgbClr val="B779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5486400" y="3941064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B2B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098280" y="3941064"/>
            <a:ext cx="777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9966960" y="3941064"/>
            <a:ext cx="1463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pay €499–€2,999/mo to reduce dropout.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029200" y="4507992"/>
            <a:ext cx="6492240" cy="493776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5212080" y="4681728"/>
            <a:ext cx="146304" cy="146304"/>
          </a:xfrm>
          <a:prstGeom prst="ellipse">
            <a:avLst/>
          </a:prstGeom>
          <a:solidFill>
            <a:srgbClr val="8A94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5486400" y="4507992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subscriptions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098280" y="4507992"/>
            <a:ext cx="777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9966960" y="4507992"/>
            <a:ext cx="1463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low — students mostly stay free.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029200" y="5230368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€250–450/mo grocery spend × 12–15% ≈ €12–15/mo per student — more than any subscription, and they pay €0.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UniMind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267048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· 2026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€1M ARR.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48640" cy="41148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2103120"/>
          <a:ext cx="694944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909560" y="2103120"/>
            <a:ext cx="3611880" cy="713232"/>
          </a:xfrm>
          <a:prstGeom prst="roundRect">
            <a:avLst>
              <a:gd name="adj" fmla="val 7692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7909560" y="2103120"/>
            <a:ext cx="73152" cy="713232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138160" y="21762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€92K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784080" y="2103120"/>
            <a:ext cx="1691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ARR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909560" y="2926080"/>
            <a:ext cx="3611880" cy="713232"/>
          </a:xfrm>
          <a:prstGeom prst="roundRect">
            <a:avLst>
              <a:gd name="adj" fmla="val 7692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7909560" y="2926080"/>
            <a:ext cx="73152" cy="713232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138160" y="29992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€808K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784080" y="2926080"/>
            <a:ext cx="1691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ARR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909560" y="3749040"/>
            <a:ext cx="3611880" cy="713232"/>
          </a:xfrm>
          <a:prstGeom prst="roundRect">
            <a:avLst>
              <a:gd name="adj" fmla="val 7692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7909560" y="3749040"/>
            <a:ext cx="73152" cy="713232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8138160" y="38221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18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784080" y="3749040"/>
            <a:ext cx="1691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909560" y="4572000"/>
            <a:ext cx="3611880" cy="713232"/>
          </a:xfrm>
          <a:prstGeom prst="roundRect">
            <a:avLst>
              <a:gd name="adj" fmla="val 7692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7909560" y="4572000"/>
            <a:ext cx="73152" cy="713232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8138160" y="46451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: 1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9784080" y="4572000"/>
            <a:ext cx="1691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: CAC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UniMind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267048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· 2026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student app to lifelong AI commerce network.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48640" cy="41148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881360" cy="713232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14400" y="2386584"/>
            <a:ext cx="329184" cy="329184"/>
          </a:xfrm>
          <a:prstGeom prst="ellipse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23865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219456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→ alumni → lifelong companion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303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grows into the user's high-value financial life stages.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035808"/>
            <a:ext cx="10881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14400" y="3227832"/>
            <a:ext cx="329184" cy="329184"/>
          </a:xfrm>
          <a:prstGeom prst="ellipse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3035808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economy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126480" y="3035808"/>
            <a:ext cx="5303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agent finds offers, negotiates and shares knowledge on your behalf.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877056"/>
            <a:ext cx="10881360" cy="713232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914400" y="4069080"/>
            <a:ext cx="329184" cy="329184"/>
          </a:xfrm>
          <a:prstGeom prst="ellipse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14400" y="40690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3877056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commerce &amp; finance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126480" y="3877056"/>
            <a:ext cx="5303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your runway — so we surface the right product at the right moment.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718304"/>
            <a:ext cx="10881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14400" y="4910328"/>
            <a:ext cx="329184" cy="329184"/>
          </a:xfrm>
          <a:prstGeom prst="ellipse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14400" y="49103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63040" y="4718304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campus, every country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126480" y="4718304"/>
            <a:ext cx="5303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localisation playbook that repeats: new nationality → new partner network.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623560"/>
            <a:ext cx="10911535" cy="548640"/>
          </a:xfrm>
          <a:prstGeom prst="roundRect">
            <a:avLst>
              <a:gd name="adj" fmla="val 8333"/>
            </a:avLst>
          </a:prstGeom>
          <a:solidFill>
            <a:srgbClr val="E7EEF9"/>
          </a:solidFill>
          <a:ln w="12700">
            <a:solidFill>
              <a:srgbClr val="5B82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14400" y="562356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endgame: the queryable layer of human experience — monetised through commerce.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UniMind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67048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·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students</a:t>
            </a:r>
            <a:endParaRPr 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graduate without.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we add makes the product smarter, the partner deals better, and the margins higher — a relationship that starts at 18 and lasts a lifetime.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3291840" cy="0"/>
          </a:xfrm>
          <a:prstGeom prst="line">
            <a:avLst/>
          </a:prstGeom>
          <a:noFill/>
          <a:ln w="12700">
            <a:solidFill>
              <a:srgbClr val="C7CD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46177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live — real product, not a mockup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4114800"/>
            <a:ext cx="3291840" cy="0"/>
          </a:xfrm>
          <a:prstGeom prst="line">
            <a:avLst/>
          </a:prstGeom>
          <a:noFill/>
          <a:ln w="12700">
            <a:solidFill>
              <a:srgbClr val="C7CD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480560" y="4206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80560" y="46177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as UNiDAYS (£53M/yr)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4114800"/>
            <a:ext cx="3291840" cy="0"/>
          </a:xfrm>
          <a:prstGeom prst="line">
            <a:avLst/>
          </a:prstGeom>
          <a:noFill/>
          <a:ln w="12700">
            <a:solidFill>
              <a:srgbClr val="C7CD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138160" y="4206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138160" y="46177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profit when students save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544068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2960" y="54406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this together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389120" y="544068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UniMind  ·  hello@unimind.ai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1066</Words>
  <Application>Microsoft Office PowerPoint</Application>
  <PresentationFormat>Widescreen</PresentationFormat>
  <Paragraphs>196</Paragraphs>
  <Slides>12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UniMind — Investor Pitch</dc:title>
  <dc:subject>PptxGenJS Presentation</dc:subject>
  <dc:creator>PptxGenJS</dc:creator>
  <cp:lastModifiedBy>Gaddameedi SudeepAryan</cp:lastModifiedBy>
  <cp:revision>13</cp:revision>
  <dcterms:created xsi:type="dcterms:W3CDTF">2026-05-21T17:27:33Z</dcterms:created>
  <dcterms:modified xsi:type="dcterms:W3CDTF">2026-05-21T22:17:49Z</dcterms:modified>
</cp:coreProperties>
</file>