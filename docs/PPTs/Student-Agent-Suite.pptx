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530" y="286196"/>
            <a:ext cx="147637" cy="1476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5734" y="257621"/>
            <a:ext cx="852488" cy="2047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spc="324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1080" dirty="0"/>
          </a:p>
        </p:txBody>
      </p:sp>
      <p:sp>
        <p:nvSpPr>
          <p:cNvPr id="6" name="Text 2"/>
          <p:cNvSpPr/>
          <p:nvPr/>
        </p:nvSpPr>
        <p:spPr>
          <a:xfrm>
            <a:off x="8034375" y="256133"/>
            <a:ext cx="652463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43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PITCH 2026</a:t>
            </a:r>
            <a:endParaRPr lang="en-US" sz="860" dirty="0"/>
          </a:p>
        </p:txBody>
      </p:sp>
      <p:sp>
        <p:nvSpPr>
          <p:cNvPr id="7" name="Text 3"/>
          <p:cNvSpPr/>
          <p:nvPr/>
        </p:nvSpPr>
        <p:spPr>
          <a:xfrm>
            <a:off x="731044" y="1448693"/>
            <a:ext cx="7681912" cy="1905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2"/>
              </a:lnSpc>
              <a:spcAft>
                <a:spcPts val="1215"/>
              </a:spcAft>
              <a:buNone/>
            </a:pPr>
            <a:r>
              <a:rPr lang="en-US" sz="1010" spc="403" kern="0" dirty="0">
                <a:solidFill>
                  <a:srgbClr val="818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AGENTIC WEB FOR STUDENTS</a:t>
            </a:r>
            <a:endParaRPr lang="en-US" sz="1010" dirty="0"/>
          </a:p>
        </p:txBody>
      </p:sp>
      <p:sp>
        <p:nvSpPr>
          <p:cNvPr id="8" name="Text 4"/>
          <p:cNvSpPr/>
          <p:nvPr/>
        </p:nvSpPr>
        <p:spPr>
          <a:xfrm>
            <a:off x="731044" y="1793230"/>
            <a:ext cx="7681912" cy="13477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299"/>
              </a:lnSpc>
              <a:buNone/>
            </a:pPr>
            <a:r>
              <a:rPr lang="en-US" sz="5760" b="1" spc="-230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AI Agent</a:t>
            </a:r>
            <a:pPr algn="l" indent="0" marL="0">
              <a:lnSpc>
                <a:spcPts val="5299"/>
              </a:lnSpc>
              <a:buNone/>
            </a:pPr>
            <a:r>
              <a:rPr lang="en-US" sz="5760" b="1" spc="-230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every student's life.</a:t>
            </a:r>
            <a:endParaRPr lang="en-US" sz="5760" dirty="0"/>
          </a:p>
        </p:txBody>
      </p:sp>
      <p:sp>
        <p:nvSpPr>
          <p:cNvPr id="9" name="Text 5"/>
          <p:cNvSpPr/>
          <p:nvPr/>
        </p:nvSpPr>
        <p:spPr>
          <a:xfrm>
            <a:off x="732532" y="3448273"/>
            <a:ext cx="1628775" cy="2476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 your money.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636639" y="3507804"/>
            <a:ext cx="4763" cy="128588"/>
          </a:xfrm>
          <a:prstGeom prst="rect">
            <a:avLst/>
          </a:prstGeom>
          <a:solidFill>
            <a:srgbClr val="818CF8">
              <a:alpha val="18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915729" y="3448273"/>
            <a:ext cx="1562100" cy="2476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 your career.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2156" y="3507804"/>
            <a:ext cx="4763" cy="128588"/>
          </a:xfrm>
          <a:prstGeom prst="rect">
            <a:avLst/>
          </a:prstGeom>
          <a:solidFill>
            <a:srgbClr val="818CF8">
              <a:alpha val="1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030949" y="3448273"/>
            <a:ext cx="1809750" cy="2476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 into other people.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558531"/>
            <a:ext cx="3657600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79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personal AI that predicts their future, protects their money, and connects them to everyone who already walked their exact path.</a:t>
            </a:r>
            <a:endParaRPr lang="en-US" sz="790" dirty="0"/>
          </a:p>
        </p:txBody>
      </p:sp>
      <p:sp>
        <p:nvSpPr>
          <p:cNvPr id="15" name="Text 11"/>
          <p:cNvSpPr/>
          <p:nvPr/>
        </p:nvSpPr>
        <p:spPr>
          <a:xfrm>
            <a:off x="8396027" y="4734669"/>
            <a:ext cx="290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/ 11</a:t>
            </a:r>
            <a:endParaRPr lang="en-US" sz="7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71359" y="256431"/>
            <a:ext cx="3143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11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7200" y="772530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457200" y="1051694"/>
            <a:ext cx="6858000" cy="957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762"/>
              </a:lnSpc>
              <a:spcAft>
                <a:spcPts val="2430"/>
              </a:spcAft>
              <a:buNone/>
            </a:pPr>
            <a:r>
              <a:rPr lang="en-US" sz="3960" b="1" spc="-119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Students learn the hard way,</a:t>
            </a:r>
            <a:pPr algn="l" indent="0" marL="0">
              <a:lnSpc>
                <a:spcPts val="3762"/>
              </a:lnSpc>
              <a:buNone/>
            </a:pPr>
            <a:r>
              <a:rPr lang="en-US" sz="3960" b="1" spc="-119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again and again.</a:t>
            </a:r>
            <a:endParaRPr lang="en-US" sz="3960" dirty="0"/>
          </a:p>
        </p:txBody>
      </p:sp>
      <p:sp>
        <p:nvSpPr>
          <p:cNvPr id="8" name="Shape 5"/>
          <p:cNvSpPr/>
          <p:nvPr/>
        </p:nvSpPr>
        <p:spPr>
          <a:xfrm>
            <a:off x="457684" y="2315877"/>
            <a:ext cx="1919287" cy="1323975"/>
          </a:xfrm>
          <a:prstGeom prst="rect">
            <a:avLst/>
          </a:prstGeom>
          <a:ln/>
        </p:spPr>
      </p:sp>
      <p:sp>
        <p:nvSpPr>
          <p:cNvPr id="9" name="Text 6"/>
          <p:cNvSpPr/>
          <p:nvPr/>
        </p:nvSpPr>
        <p:spPr>
          <a:xfrm>
            <a:off x="457684" y="2449264"/>
            <a:ext cx="191928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19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CAREER BLINDNESS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457684" y="2678199"/>
            <a:ext cx="1919287" cy="5762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04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Betting 2+ years and tens of thousands on an outcome they can't see.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2560774" y="2315877"/>
            <a:ext cx="1919287" cy="1323975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2560774" y="2449264"/>
            <a:ext cx="191928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19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MONEY STRESS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2560774" y="2679055"/>
            <a:ext cx="1919287" cy="766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04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Burning money in a foreign country with zero runway visibility — no idea how long their funds last.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4663864" y="2315877"/>
            <a:ext cx="1919287" cy="1323975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4663864" y="2449264"/>
            <a:ext cx="191928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19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ISOLATION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4663864" y="2677344"/>
            <a:ext cx="1919287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04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network, nobody who walked their specific journey.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6766992" y="2315877"/>
            <a:ext cx="1919287" cy="1323975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6766992" y="2449264"/>
            <a:ext cx="1919287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19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LOST KNOWLEDGE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6766992" y="2677530"/>
            <a:ext cx="1919287" cy="962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04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 year's student found the cheapest grocer, the right bank, the visa trick — graduates, and that wisdom dies.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457200" y="4410447"/>
            <a:ext cx="5486400" cy="4762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44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turn that wasted, repeated knowledge into a permanent, queryable asset.</a:t>
            </a:r>
            <a:endParaRPr lang="en-US" sz="144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684" y="2315877"/>
            <a:ext cx="1919287" cy="1323975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0774" y="2315877"/>
            <a:ext cx="1919287" cy="1323975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3864" y="2315877"/>
            <a:ext cx="1919287" cy="1323975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6992" y="2315877"/>
            <a:ext cx="1919287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6" name="Text 2"/>
          <p:cNvSpPr/>
          <p:nvPr/>
        </p:nvSpPr>
        <p:spPr>
          <a:xfrm>
            <a:off x="8367750" y="256431"/>
            <a:ext cx="319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11</a:t>
            </a:r>
            <a:endParaRPr lang="en-US" sz="790" dirty="0"/>
          </a:p>
        </p:txBody>
      </p:sp>
      <p:sp>
        <p:nvSpPr>
          <p:cNvPr id="7" name="Text 3"/>
          <p:cNvSpPr/>
          <p:nvPr/>
        </p:nvSpPr>
        <p:spPr>
          <a:xfrm>
            <a:off x="457200" y="721035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457200" y="1001837"/>
            <a:ext cx="8229600" cy="4762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762"/>
              </a:lnSpc>
              <a:spcAft>
                <a:spcPts val="810"/>
              </a:spcAft>
              <a:buNone/>
            </a:pPr>
            <a:r>
              <a:rPr lang="en-US" sz="3960" b="1" spc="-119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personal AI agent.</a:t>
            </a:r>
            <a:endParaRPr lang="en-US" sz="3960" dirty="0"/>
          </a:p>
        </p:txBody>
      </p:sp>
      <p:sp>
        <p:nvSpPr>
          <p:cNvPr id="9" name="Text 5"/>
          <p:cNvSpPr/>
          <p:nvPr/>
        </p:nvSpPr>
        <p:spPr>
          <a:xfrm>
            <a:off x="457200" y="1581224"/>
            <a:ext cx="5943600" cy="4762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72"/>
              </a:lnSpc>
              <a:spcAft>
                <a:spcPts val="2835"/>
              </a:spcAft>
              <a:buNone/>
            </a:pPr>
            <a:r>
              <a:rPr lang="en-US" sz="115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agent runs three engines on one profile — localised by nationality, city, course and budget.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167" y="2415853"/>
            <a:ext cx="2619375" cy="13096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955" y="2575322"/>
            <a:ext cx="22098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238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01</a:t>
            </a:r>
            <a:endParaRPr lang="en-US" sz="790" dirty="0"/>
          </a:p>
        </p:txBody>
      </p:sp>
      <p:sp>
        <p:nvSpPr>
          <p:cNvPr id="12" name="Text 7"/>
          <p:cNvSpPr/>
          <p:nvPr/>
        </p:nvSpPr>
        <p:spPr>
          <a:xfrm>
            <a:off x="662955" y="2828851"/>
            <a:ext cx="22098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spcAft>
                <a:spcPts val="810"/>
              </a:spcAft>
              <a:buNone/>
            </a:pPr>
            <a:r>
              <a:rPr lang="en-US" sz="216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</a:t>
            </a:r>
            <a:endParaRPr lang="en-US" sz="2160" dirty="0"/>
          </a:p>
        </p:txBody>
      </p:sp>
      <p:sp>
        <p:nvSpPr>
          <p:cNvPr id="13" name="Text 8"/>
          <p:cNvSpPr/>
          <p:nvPr/>
        </p:nvSpPr>
        <p:spPr>
          <a:xfrm>
            <a:off x="662955" y="3207544"/>
            <a:ext cx="2209800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01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 by month career &amp; life simulation.</a:t>
            </a:r>
            <a:endParaRPr lang="en-US" sz="101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2313" y="2415853"/>
            <a:ext cx="2619375" cy="13096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67100" y="2575322"/>
            <a:ext cx="22098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23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02</a:t>
            </a:r>
            <a:endParaRPr lang="en-US" sz="790" dirty="0"/>
          </a:p>
        </p:txBody>
      </p:sp>
      <p:sp>
        <p:nvSpPr>
          <p:cNvPr id="16" name="Text 10"/>
          <p:cNvSpPr/>
          <p:nvPr/>
        </p:nvSpPr>
        <p:spPr>
          <a:xfrm>
            <a:off x="3467100" y="2828851"/>
            <a:ext cx="22098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spcAft>
                <a:spcPts val="810"/>
              </a:spcAft>
              <a:buNone/>
            </a:pPr>
            <a:r>
              <a:rPr lang="en-US" sz="216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</a:t>
            </a:r>
            <a:endParaRPr lang="en-US" sz="2160" dirty="0"/>
          </a:p>
        </p:txBody>
      </p:sp>
      <p:sp>
        <p:nvSpPr>
          <p:cNvPr id="17" name="Text 11"/>
          <p:cNvSpPr/>
          <p:nvPr/>
        </p:nvSpPr>
        <p:spPr>
          <a:xfrm>
            <a:off x="3467100" y="3207544"/>
            <a:ext cx="2209800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01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 &amp; runway tracking — a daily habit.</a:t>
            </a:r>
            <a:endParaRPr lang="en-US" sz="101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6458" y="2415853"/>
            <a:ext cx="2619375" cy="13096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71245" y="2575322"/>
            <a:ext cx="220980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238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03</a:t>
            </a:r>
            <a:endParaRPr lang="en-US" sz="790" dirty="0"/>
          </a:p>
        </p:txBody>
      </p:sp>
      <p:sp>
        <p:nvSpPr>
          <p:cNvPr id="20" name="Text 13"/>
          <p:cNvSpPr/>
          <p:nvPr/>
        </p:nvSpPr>
        <p:spPr>
          <a:xfrm>
            <a:off x="6271245" y="2828851"/>
            <a:ext cx="220980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spcAft>
                <a:spcPts val="810"/>
              </a:spcAft>
              <a:buNone/>
            </a:pPr>
            <a:r>
              <a:rPr lang="en-US" sz="216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</a:t>
            </a:r>
            <a:endParaRPr lang="en-US" sz="2160" dirty="0"/>
          </a:p>
        </p:txBody>
      </p:sp>
      <p:sp>
        <p:nvSpPr>
          <p:cNvPr id="21" name="Text 14"/>
          <p:cNvSpPr/>
          <p:nvPr/>
        </p:nvSpPr>
        <p:spPr>
          <a:xfrm>
            <a:off x="6271245" y="3207544"/>
            <a:ext cx="2209800" cy="3571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1"/>
              </a:lnSpc>
              <a:buNone/>
            </a:pPr>
            <a:r>
              <a:rPr lang="en-US" sz="101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community of agents that share knowledge automatically.</a:t>
            </a:r>
            <a:endParaRPr lang="en-US" sz="1010" dirty="0"/>
          </a:p>
        </p:txBody>
      </p:sp>
      <p:sp>
        <p:nvSpPr>
          <p:cNvPr id="22" name="Text 15"/>
          <p:cNvSpPr/>
          <p:nvPr/>
        </p:nvSpPr>
        <p:spPr>
          <a:xfrm>
            <a:off x="457498" y="4720679"/>
            <a:ext cx="1919287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engines. One profile. One agent.</a:t>
            </a:r>
            <a:endParaRPr lang="en-US" sz="860" dirty="0"/>
          </a:p>
        </p:txBody>
      </p:sp>
      <p:sp>
        <p:nvSpPr>
          <p:cNvPr id="23" name="Text 16"/>
          <p:cNvSpPr/>
          <p:nvPr/>
        </p:nvSpPr>
        <p:spPr>
          <a:xfrm>
            <a:off x="6872808" y="4720679"/>
            <a:ext cx="1814513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259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 → AGENT STUDIO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6" name="Text 2"/>
          <p:cNvSpPr/>
          <p:nvPr/>
        </p:nvSpPr>
        <p:spPr>
          <a:xfrm>
            <a:off x="8366931" y="256431"/>
            <a:ext cx="319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11</a:t>
            </a:r>
            <a:endParaRPr lang="en-US" sz="790" dirty="0"/>
          </a:p>
        </p:txBody>
      </p:sp>
      <p:sp>
        <p:nvSpPr>
          <p:cNvPr id="7" name="Text 3"/>
          <p:cNvSpPr/>
          <p:nvPr/>
        </p:nvSpPr>
        <p:spPr>
          <a:xfrm>
            <a:off x="457200" y="721035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PRODUCT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457200" y="1000720"/>
            <a:ext cx="8229600" cy="4524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57"/>
              </a:lnSpc>
              <a:spcAft>
                <a:spcPts val="810"/>
              </a:spcAft>
              <a:buNone/>
            </a:pPr>
            <a:r>
              <a:rPr lang="en-US" sz="3740" b="1" spc="-112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apps. One agent.</a:t>
            </a:r>
            <a:endParaRPr lang="en-US" sz="3740" dirty="0"/>
          </a:p>
        </p:txBody>
      </p:sp>
      <p:sp>
        <p:nvSpPr>
          <p:cNvPr id="9" name="Text 5"/>
          <p:cNvSpPr/>
          <p:nvPr/>
        </p:nvSpPr>
        <p:spPr>
          <a:xfrm>
            <a:off x="457200" y="1554845"/>
            <a:ext cx="5486400" cy="2095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38"/>
              </a:lnSpc>
              <a:spcAft>
                <a:spcPts val="2430"/>
              </a:spcAft>
              <a:buNone/>
            </a:pPr>
            <a:r>
              <a:rPr lang="en-US" sz="101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profile powers four products that together cover the entire student journey.</a:t>
            </a:r>
            <a:endParaRPr lang="en-US" sz="101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716" y="2071278"/>
            <a:ext cx="4024312" cy="809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3067" y="2230301"/>
            <a:ext cx="1162050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Studio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3613807" y="2335523"/>
            <a:ext cx="6619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HOME</a:t>
            </a:r>
            <a:endParaRPr lang="en-US" sz="720" dirty="0"/>
          </a:p>
        </p:txBody>
      </p:sp>
      <p:sp>
        <p:nvSpPr>
          <p:cNvPr id="13" name="Text 8"/>
          <p:cNvSpPr/>
          <p:nvPr/>
        </p:nvSpPr>
        <p:spPr>
          <a:xfrm>
            <a:off x="663885" y="2567918"/>
            <a:ext cx="3609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students grow and operate their personal AI agent.</a:t>
            </a:r>
            <a:endParaRPr lang="en-US" sz="86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2934" y="2071278"/>
            <a:ext cx="4024312" cy="809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69173" y="2230301"/>
            <a:ext cx="638175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7981615" y="2335523"/>
            <a:ext cx="50006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CAREER</a:t>
            </a:r>
            <a:endParaRPr lang="en-US" sz="720" dirty="0"/>
          </a:p>
        </p:txBody>
      </p:sp>
      <p:sp>
        <p:nvSpPr>
          <p:cNvPr id="17" name="Text 11"/>
          <p:cNvSpPr/>
          <p:nvPr/>
        </p:nvSpPr>
        <p:spPr>
          <a:xfrm>
            <a:off x="4870103" y="2567918"/>
            <a:ext cx="3609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 by month career &amp; life simulation.</a:t>
            </a:r>
            <a:endParaRPr lang="en-US" sz="86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716" y="3061878"/>
            <a:ext cx="4024312" cy="8096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55" y="3220901"/>
            <a:ext cx="661987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830575" y="3326123"/>
            <a:ext cx="4429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MONEY</a:t>
            </a:r>
            <a:endParaRPr lang="en-US" sz="720" dirty="0"/>
          </a:p>
        </p:txBody>
      </p:sp>
      <p:sp>
        <p:nvSpPr>
          <p:cNvPr id="21" name="Text 14"/>
          <p:cNvSpPr/>
          <p:nvPr/>
        </p:nvSpPr>
        <p:spPr>
          <a:xfrm>
            <a:off x="663885" y="3558518"/>
            <a:ext cx="3609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 &amp; runway tracking — a daily habit.</a:t>
            </a:r>
            <a:endParaRPr lang="en-US" sz="86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2934" y="3061878"/>
            <a:ext cx="4024312" cy="8096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70252" y="3220901"/>
            <a:ext cx="547687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7703679" y="3326123"/>
            <a:ext cx="7762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</a:t>
            </a:r>
            <a:endParaRPr lang="en-US" sz="720" dirty="0"/>
          </a:p>
        </p:txBody>
      </p:sp>
      <p:sp>
        <p:nvSpPr>
          <p:cNvPr id="25" name="Text 17"/>
          <p:cNvSpPr/>
          <p:nvPr/>
        </p:nvSpPr>
        <p:spPr>
          <a:xfrm>
            <a:off x="4870103" y="3558518"/>
            <a:ext cx="36099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community of agents that share knowledge automatically.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66782" y="256431"/>
            <a:ext cx="319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11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6716" y="1236464"/>
            <a:ext cx="31099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317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01 / PREDICT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456716" y="1490514"/>
            <a:ext cx="31099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6"/>
              </a:lnSpc>
              <a:spcAft>
                <a:spcPts val="1215"/>
              </a:spcAft>
              <a:buNone/>
            </a:pPr>
            <a:r>
              <a:rPr lang="en-US" sz="4680" b="1" spc="-140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</a:t>
            </a:r>
            <a:endParaRPr lang="en-US" sz="4680" dirty="0"/>
          </a:p>
        </p:txBody>
      </p:sp>
      <p:sp>
        <p:nvSpPr>
          <p:cNvPr id="8" name="Text 5"/>
          <p:cNvSpPr/>
          <p:nvPr/>
        </p:nvSpPr>
        <p:spPr>
          <a:xfrm>
            <a:off x="456716" y="2190973"/>
            <a:ext cx="3109913" cy="5286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74"/>
              </a:lnSpc>
              <a:spcAft>
                <a:spcPts val="1620"/>
              </a:spcAft>
              <a:buNone/>
            </a:pPr>
            <a:r>
              <a:rPr lang="en-US" sz="173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 by month career &amp; life simulation.</a:t>
            </a:r>
            <a:endParaRPr lang="en-US" sz="1730" dirty="0"/>
          </a:p>
        </p:txBody>
      </p:sp>
      <p:sp>
        <p:nvSpPr>
          <p:cNvPr id="9" name="Text 6"/>
          <p:cNvSpPr/>
          <p:nvPr/>
        </p:nvSpPr>
        <p:spPr>
          <a:xfrm>
            <a:off x="458130" y="2923096"/>
            <a:ext cx="2924175" cy="5762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97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agent runs the next 12 months of the student's life — career checkpoints, milestones and the network paths that get them there.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56047" y="3802224"/>
            <a:ext cx="57150" cy="5715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/>
          <p:nvPr/>
        </p:nvSpPr>
        <p:spPr>
          <a:xfrm>
            <a:off x="567482" y="3754636"/>
            <a:ext cx="5524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path</a:t>
            </a:r>
            <a:endParaRPr lang="en-US" sz="790" dirty="0"/>
          </a:p>
        </p:txBody>
      </p:sp>
      <p:sp>
        <p:nvSpPr>
          <p:cNvPr id="12" name="Shape 9"/>
          <p:cNvSpPr/>
          <p:nvPr/>
        </p:nvSpPr>
        <p:spPr>
          <a:xfrm>
            <a:off x="1302209" y="3802224"/>
            <a:ext cx="57150" cy="5715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0"/>
          <p:cNvSpPr/>
          <p:nvPr/>
        </p:nvSpPr>
        <p:spPr>
          <a:xfrm>
            <a:off x="1413644" y="3754636"/>
            <a:ext cx="48101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Level &amp; XP</a:t>
            </a:r>
            <a:endParaRPr lang="en-US" sz="790" dirty="0"/>
          </a:p>
        </p:txBody>
      </p:sp>
      <p:sp>
        <p:nvSpPr>
          <p:cNvPr id="14" name="Shape 11"/>
          <p:cNvSpPr/>
          <p:nvPr/>
        </p:nvSpPr>
        <p:spPr>
          <a:xfrm>
            <a:off x="2076934" y="3802224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2188257" y="3754636"/>
            <a:ext cx="5572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activity</a:t>
            </a:r>
            <a:endParaRPr lang="en-US" sz="790" dirty="0"/>
          </a:p>
        </p:txBody>
      </p:sp>
      <p:sp>
        <p:nvSpPr>
          <p:cNvPr id="16" name="Shape 13"/>
          <p:cNvSpPr/>
          <p:nvPr/>
        </p:nvSpPr>
        <p:spPr>
          <a:xfrm>
            <a:off x="4063305" y="1466813"/>
            <a:ext cx="4400550" cy="2209800"/>
          </a:xfrm>
          <a:prstGeom prst="roundRect">
            <a:avLst>
              <a:gd name="adj" fmla="val 4966"/>
            </a:avLst>
          </a:prstGeom>
          <a:ln w="4763">
            <a:solidFill>
              <a:srgbClr val="818CF8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142875" dir="5400000">
              <a:srgbClr val="6366F1">
                <a:alpha val="2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68" y="1471575"/>
            <a:ext cx="4391025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63508" y="256431"/>
            <a:ext cx="3238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11</a:t>
            </a:r>
            <a:endParaRPr lang="en-US" sz="790" dirty="0"/>
          </a:p>
        </p:txBody>
      </p:sp>
      <p:sp>
        <p:nvSpPr>
          <p:cNvPr id="6" name="Shape 3"/>
          <p:cNvSpPr/>
          <p:nvPr/>
        </p:nvSpPr>
        <p:spPr>
          <a:xfrm>
            <a:off x="680070" y="1519238"/>
            <a:ext cx="4400550" cy="2105025"/>
          </a:xfrm>
          <a:prstGeom prst="roundRect">
            <a:avLst>
              <a:gd name="adj" fmla="val 5213"/>
            </a:avLst>
          </a:prstGeom>
          <a:ln w="4763">
            <a:solidFill>
              <a:srgbClr val="A78BFA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142875" dir="5400000">
              <a:srgbClr val="A78BFA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33" y="1524000"/>
            <a:ext cx="4391025" cy="2095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297" y="1090389"/>
            <a:ext cx="31099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317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02 / PROTECT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5577297" y="1344439"/>
            <a:ext cx="31099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6"/>
              </a:lnSpc>
              <a:spcAft>
                <a:spcPts val="1215"/>
              </a:spcAft>
              <a:buNone/>
            </a:pPr>
            <a:r>
              <a:rPr lang="en-US" sz="4680" b="1" spc="-140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</a:t>
            </a:r>
            <a:endParaRPr lang="en-US" sz="4680" dirty="0"/>
          </a:p>
        </p:txBody>
      </p:sp>
      <p:sp>
        <p:nvSpPr>
          <p:cNvPr id="10" name="Text 6"/>
          <p:cNvSpPr/>
          <p:nvPr/>
        </p:nvSpPr>
        <p:spPr>
          <a:xfrm>
            <a:off x="5577297" y="2044898"/>
            <a:ext cx="3109913" cy="5286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74"/>
              </a:lnSpc>
              <a:spcAft>
                <a:spcPts val="1620"/>
              </a:spcAft>
              <a:buNone/>
            </a:pPr>
            <a:r>
              <a:rPr lang="en-US" sz="173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Money &amp; runway tracking — a daily habit.</a:t>
            </a:r>
            <a:endParaRPr lang="en-US" sz="1730" dirty="0"/>
          </a:p>
        </p:txBody>
      </p:sp>
      <p:sp>
        <p:nvSpPr>
          <p:cNvPr id="11" name="Text 7"/>
          <p:cNvSpPr/>
          <p:nvPr/>
        </p:nvSpPr>
        <p:spPr>
          <a:xfrm>
            <a:off x="5578711" y="2777021"/>
            <a:ext cx="2924175" cy="5762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97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student always knows how many months of runway they have left, what they spent, and where the agent can save them money this week.</a:t>
            </a:r>
            <a:endParaRPr lang="en-US" sz="970" dirty="0"/>
          </a:p>
        </p:txBody>
      </p:sp>
      <p:sp>
        <p:nvSpPr>
          <p:cNvPr id="12" name="Shape 8"/>
          <p:cNvSpPr/>
          <p:nvPr/>
        </p:nvSpPr>
        <p:spPr>
          <a:xfrm>
            <a:off x="5578711" y="3609342"/>
            <a:ext cx="1209675" cy="442913"/>
          </a:xfrm>
          <a:prstGeom prst="rect">
            <a:avLst/>
          </a:prstGeom>
          <a:ln/>
        </p:spPr>
      </p:sp>
      <p:sp>
        <p:nvSpPr>
          <p:cNvPr id="13" name="Text 9"/>
          <p:cNvSpPr/>
          <p:nvPr/>
        </p:nvSpPr>
        <p:spPr>
          <a:xfrm>
            <a:off x="5578711" y="3692128"/>
            <a:ext cx="1209675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4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12.0mo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5578711" y="3914663"/>
            <a:ext cx="12096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Bef>
                <a:spcPts val="324"/>
              </a:spcBef>
              <a:buNone/>
            </a:pPr>
            <a:r>
              <a:rPr lang="en-US" sz="72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Runway visible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6927428" y="3609342"/>
            <a:ext cx="1209675" cy="442913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6927428" y="3692128"/>
            <a:ext cx="1209675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440" b="1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Daily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6927428" y="3914663"/>
            <a:ext cx="12096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Bef>
                <a:spcPts val="324"/>
              </a:spcBef>
              <a:buNone/>
            </a:pPr>
            <a:r>
              <a:rPr lang="en-US" sz="72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 check-in</a:t>
            </a:r>
            <a:endParaRPr lang="en-US" sz="72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8711" y="3609342"/>
            <a:ext cx="1209675" cy="442913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7428" y="3609342"/>
            <a:ext cx="1209675" cy="442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73666" y="256431"/>
            <a:ext cx="3143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11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6716" y="903536"/>
            <a:ext cx="31099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317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 03 / PLUGIN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456716" y="1157585"/>
            <a:ext cx="3109913" cy="5476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6"/>
              </a:lnSpc>
              <a:spcAft>
                <a:spcPts val="1215"/>
              </a:spcAft>
              <a:buNone/>
            </a:pPr>
            <a:r>
              <a:rPr lang="en-US" sz="4680" b="1" spc="-140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Plugin</a:t>
            </a:r>
            <a:endParaRPr lang="en-US" sz="4680" dirty="0"/>
          </a:p>
        </p:txBody>
      </p:sp>
      <p:sp>
        <p:nvSpPr>
          <p:cNvPr id="8" name="Text 5"/>
          <p:cNvSpPr/>
          <p:nvPr/>
        </p:nvSpPr>
        <p:spPr>
          <a:xfrm>
            <a:off x="456716" y="1858714"/>
            <a:ext cx="3109913" cy="7905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74"/>
              </a:lnSpc>
              <a:spcAft>
                <a:spcPts val="1620"/>
              </a:spcAft>
              <a:buNone/>
            </a:pPr>
            <a:r>
              <a:rPr lang="en-US" sz="173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community of agents that share knowledge automatically.</a:t>
            </a:r>
            <a:endParaRPr lang="en-US" sz="1730" dirty="0"/>
          </a:p>
        </p:txBody>
      </p:sp>
      <p:sp>
        <p:nvSpPr>
          <p:cNvPr id="9" name="Text 6"/>
          <p:cNvSpPr/>
          <p:nvPr/>
        </p:nvSpPr>
        <p:spPr>
          <a:xfrm>
            <a:off x="458130" y="2853854"/>
            <a:ext cx="2924175" cy="766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97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are linked by nationality, course and city — every student's lived experience becomes queryable for every student that comes after them.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457684" y="3877605"/>
            <a:ext cx="852488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2,847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457684" y="4109814"/>
            <a:ext cx="852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43"/>
              </a:spcBef>
              <a:buNone/>
            </a:pPr>
            <a:r>
              <a:rPr lang="en-US" sz="680" spc="34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AGENTS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402519" y="3877605"/>
            <a:ext cx="852488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19,422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1402519" y="4109814"/>
            <a:ext cx="852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43"/>
              </a:spcBef>
              <a:buNone/>
            </a:pPr>
            <a:r>
              <a:rPr lang="en-US" sz="680" spc="34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SKILLS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347354" y="3877605"/>
            <a:ext cx="852488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8,210</a:t>
            </a:r>
            <a:endParaRPr lang="en-US" sz="1580" dirty="0"/>
          </a:p>
        </p:txBody>
      </p:sp>
      <p:sp>
        <p:nvSpPr>
          <p:cNvPr id="15" name="Text 12"/>
          <p:cNvSpPr/>
          <p:nvPr/>
        </p:nvSpPr>
        <p:spPr>
          <a:xfrm>
            <a:off x="2347354" y="4109814"/>
            <a:ext cx="8524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43"/>
              </a:spcBef>
              <a:buNone/>
            </a:pPr>
            <a:r>
              <a:rPr lang="en-US" sz="680" spc="34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SIMULATIONS RUN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4063305" y="1514475"/>
            <a:ext cx="4400550" cy="2114550"/>
          </a:xfrm>
          <a:prstGeom prst="roundRect">
            <a:avLst>
              <a:gd name="adj" fmla="val 5189"/>
            </a:avLst>
          </a:prstGeom>
          <a:ln w="4763">
            <a:solidFill>
              <a:srgbClr val="22D3EE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142875" dir="5400000">
              <a:srgbClr val="22D3EE">
                <a:alpha val="2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68" y="1519238"/>
            <a:ext cx="4391025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66894" y="256431"/>
            <a:ext cx="3190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11</a:t>
            </a:r>
            <a:endParaRPr lang="en-US" sz="790" dirty="0"/>
          </a:p>
        </p:txBody>
      </p:sp>
      <p:sp>
        <p:nvSpPr>
          <p:cNvPr id="6" name="Shape 3"/>
          <p:cNvSpPr/>
          <p:nvPr/>
        </p:nvSpPr>
        <p:spPr>
          <a:xfrm>
            <a:off x="680070" y="1502532"/>
            <a:ext cx="4400550" cy="2138363"/>
          </a:xfrm>
          <a:prstGeom prst="roundRect">
            <a:avLst>
              <a:gd name="adj" fmla="val 5131"/>
            </a:avLst>
          </a:prstGeom>
          <a:ln w="4763">
            <a:solidFill>
              <a:srgbClr val="818CF8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142875" dir="5400000">
              <a:srgbClr val="6366F1">
                <a:alpha val="2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33" y="1507294"/>
            <a:ext cx="4391025" cy="21288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297" y="866849"/>
            <a:ext cx="31099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810"/>
              </a:spcAft>
              <a:buNone/>
            </a:pPr>
            <a:r>
              <a:rPr lang="en-US" sz="790" spc="317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HOME</a:t>
            </a:r>
            <a:endParaRPr lang="en-US" sz="790" dirty="0"/>
          </a:p>
        </p:txBody>
      </p:sp>
      <p:sp>
        <p:nvSpPr>
          <p:cNvPr id="9" name="Text 5"/>
          <p:cNvSpPr/>
          <p:nvPr/>
        </p:nvSpPr>
        <p:spPr>
          <a:xfrm>
            <a:off x="5577297" y="1122015"/>
            <a:ext cx="3109913" cy="923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43"/>
              </a:lnSpc>
              <a:spcAft>
                <a:spcPts val="1215"/>
              </a:spcAft>
              <a:buNone/>
            </a:pPr>
            <a:r>
              <a:rPr lang="en-US" sz="3960" b="1" spc="-119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pPr algn="l" indent="0" marL="0">
              <a:lnSpc>
                <a:spcPts val="3643"/>
              </a:lnSpc>
              <a:buNone/>
            </a:pPr>
            <a:r>
              <a:rPr lang="en-US" sz="3960" b="1" spc="-119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Studio</a:t>
            </a:r>
            <a:endParaRPr lang="en-US" sz="3960" dirty="0"/>
          </a:p>
        </p:txBody>
      </p:sp>
      <p:sp>
        <p:nvSpPr>
          <p:cNvPr id="10" name="Text 6"/>
          <p:cNvSpPr/>
          <p:nvPr/>
        </p:nvSpPr>
        <p:spPr>
          <a:xfrm>
            <a:off x="5577297" y="2201317"/>
            <a:ext cx="3109913" cy="4333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spcAft>
                <a:spcPts val="1620"/>
              </a:spcAft>
              <a:buNone/>
            </a:pPr>
            <a:r>
              <a:rPr lang="en-US" sz="137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students grow and operate their agents.</a:t>
            </a:r>
            <a:endParaRPr lang="en-US" sz="1370" dirty="0"/>
          </a:p>
        </p:txBody>
      </p:sp>
      <p:sp>
        <p:nvSpPr>
          <p:cNvPr id="11" name="Text 7"/>
          <p:cNvSpPr/>
          <p:nvPr/>
        </p:nvSpPr>
        <p:spPr>
          <a:xfrm>
            <a:off x="5578636" y="2840348"/>
            <a:ext cx="104775" cy="4619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5793953" y="2840348"/>
            <a:ext cx="2709863" cy="4619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 ingestion</a:t>
            </a:r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with permission, the agent reads LinkedIn, Instagram, X, YouTube. Builds a rich agent in minutes, not weeks.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5578413" y="3404183"/>
            <a:ext cx="123825" cy="4619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790" dirty="0"/>
          </a:p>
        </p:txBody>
      </p:sp>
      <p:sp>
        <p:nvSpPr>
          <p:cNvPr id="14" name="Text 10"/>
          <p:cNvSpPr/>
          <p:nvPr/>
        </p:nvSpPr>
        <p:spPr>
          <a:xfrm>
            <a:off x="5812780" y="3404183"/>
            <a:ext cx="2690812" cy="4619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MCP &amp; tool execution</a:t>
            </a:r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agent doesn't just advise, it acts: resume builder, smart product finder, spending analysis.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5578450" y="3967386"/>
            <a:ext cx="123825" cy="3095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5812817" y="3967386"/>
            <a:ext cx="2690812" cy="30956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E8EA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graph</a:t>
            </a:r>
            <a:pPr algn="l" indent="0" marL="0">
              <a:lnSpc>
                <a:spcPts val="1210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agents linked by nationality, course and city share experience automatically.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63508" y="256431"/>
            <a:ext cx="3238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11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7200" y="721035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MODEL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457200" y="1000348"/>
            <a:ext cx="8229600" cy="904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57"/>
              </a:lnSpc>
              <a:spcAft>
                <a:spcPts val="810"/>
              </a:spcAft>
              <a:buNone/>
            </a:pPr>
            <a:r>
              <a:rPr lang="en-US" sz="3740" b="1" spc="-112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streams.</a:t>
            </a:r>
            <a:pPr algn="l" indent="0" marL="0">
              <a:lnSpc>
                <a:spcPts val="3557"/>
              </a:lnSpc>
              <a:buNone/>
            </a:pPr>
            <a:r>
              <a:rPr lang="en-US" sz="3740" b="1" spc="-112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agent.</a:t>
            </a:r>
            <a:endParaRPr lang="en-US" sz="3740" dirty="0"/>
          </a:p>
        </p:txBody>
      </p:sp>
      <p:sp>
        <p:nvSpPr>
          <p:cNvPr id="8" name="Text 5"/>
          <p:cNvSpPr/>
          <p:nvPr/>
        </p:nvSpPr>
        <p:spPr>
          <a:xfrm>
            <a:off x="457200" y="2006538"/>
            <a:ext cx="5486400" cy="2095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38"/>
              </a:lnSpc>
              <a:spcAft>
                <a:spcPts val="2430"/>
              </a:spcAft>
              <a:buNone/>
            </a:pPr>
            <a:r>
              <a:rPr lang="en-US" sz="101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free agent drives adoption. Three layers monetise the network.</a:t>
            </a:r>
            <a:endParaRPr lang="en-US" sz="101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167" y="2523306"/>
            <a:ext cx="2619375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05" y="2682441"/>
            <a:ext cx="22479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spc="216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 01</a:t>
            </a:r>
            <a:endParaRPr lang="en-US" sz="720" dirty="0"/>
          </a:p>
        </p:txBody>
      </p:sp>
      <p:sp>
        <p:nvSpPr>
          <p:cNvPr id="11" name="Text 7"/>
          <p:cNvSpPr/>
          <p:nvPr/>
        </p:nvSpPr>
        <p:spPr>
          <a:xfrm>
            <a:off x="643905" y="2896642"/>
            <a:ext cx="2247900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Subscription</a:t>
            </a:r>
            <a:endParaRPr lang="en-US" sz="1580" dirty="0"/>
          </a:p>
        </p:txBody>
      </p:sp>
      <p:sp>
        <p:nvSpPr>
          <p:cNvPr id="12" name="Text 8"/>
          <p:cNvSpPr/>
          <p:nvPr/>
        </p:nvSpPr>
        <p:spPr>
          <a:xfrm>
            <a:off x="643905" y="3226631"/>
            <a:ext cx="22479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spcAft>
                <a:spcPts val="810"/>
              </a:spcAft>
              <a:buNone/>
            </a:pPr>
            <a:r>
              <a:rPr lang="en-US" sz="94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£9 / month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643905" y="3506688"/>
            <a:ext cx="2247900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agent: unlimited simulations, advanced runway forecasting and deeper personalisation.</a:t>
            </a:r>
            <a:endParaRPr lang="en-US" sz="83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2313" y="2523306"/>
            <a:ext cx="2619375" cy="160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8050" y="2682441"/>
            <a:ext cx="22479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spc="216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 02</a:t>
            </a:r>
            <a:endParaRPr lang="en-US" sz="720" dirty="0"/>
          </a:p>
        </p:txBody>
      </p:sp>
      <p:sp>
        <p:nvSpPr>
          <p:cNvPr id="16" name="Text 11"/>
          <p:cNvSpPr/>
          <p:nvPr/>
        </p:nvSpPr>
        <p:spPr>
          <a:xfrm>
            <a:off x="3448050" y="2896642"/>
            <a:ext cx="2247900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partners</a:t>
            </a:r>
            <a:endParaRPr lang="en-US" sz="1580" dirty="0"/>
          </a:p>
        </p:txBody>
      </p:sp>
      <p:sp>
        <p:nvSpPr>
          <p:cNvPr id="17" name="Text 12"/>
          <p:cNvSpPr/>
          <p:nvPr/>
        </p:nvSpPr>
        <p:spPr>
          <a:xfrm>
            <a:off x="3448050" y="3226631"/>
            <a:ext cx="22479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spcAft>
                <a:spcPts val="810"/>
              </a:spcAft>
              <a:buNone/>
            </a:pPr>
            <a:r>
              <a:rPr lang="en-US" sz="94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 share</a:t>
            </a:r>
            <a:endParaRPr lang="en-US" sz="940" dirty="0"/>
          </a:p>
        </p:txBody>
      </p:sp>
      <p:sp>
        <p:nvSpPr>
          <p:cNvPr id="18" name="Text 13"/>
          <p:cNvSpPr/>
          <p:nvPr/>
        </p:nvSpPr>
        <p:spPr>
          <a:xfrm>
            <a:off x="3448050" y="3506688"/>
            <a:ext cx="2247900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Banks, FX, insurance and student loans — matched to the right student at the right point in their runway.</a:t>
            </a:r>
            <a:endParaRPr lang="en-US" sz="83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6458" y="2523306"/>
            <a:ext cx="2619375" cy="1600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52195" y="2682441"/>
            <a:ext cx="22479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Aft>
                <a:spcPts val="607"/>
              </a:spcAft>
              <a:buNone/>
            </a:pPr>
            <a:r>
              <a:rPr lang="en-US" sz="720" spc="216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 03</a:t>
            </a:r>
            <a:endParaRPr lang="en-US" sz="720" dirty="0"/>
          </a:p>
        </p:txBody>
      </p:sp>
      <p:sp>
        <p:nvSpPr>
          <p:cNvPr id="21" name="Text 15"/>
          <p:cNvSpPr/>
          <p:nvPr/>
        </p:nvSpPr>
        <p:spPr>
          <a:xfrm>
            <a:off x="6252195" y="2896642"/>
            <a:ext cx="2247900" cy="2524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spcAft>
                <a:spcPts val="607"/>
              </a:spcAft>
              <a:buNone/>
            </a:pPr>
            <a:r>
              <a:rPr lang="en-US" sz="158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University &amp; B2B</a:t>
            </a:r>
            <a:endParaRPr lang="en-US" sz="1580" dirty="0"/>
          </a:p>
        </p:txBody>
      </p:sp>
      <p:sp>
        <p:nvSpPr>
          <p:cNvPr id="22" name="Text 16"/>
          <p:cNvSpPr/>
          <p:nvPr/>
        </p:nvSpPr>
        <p:spPr>
          <a:xfrm>
            <a:off x="6252195" y="3226631"/>
            <a:ext cx="22479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spcAft>
                <a:spcPts val="810"/>
              </a:spcAft>
              <a:buNone/>
            </a:pPr>
            <a:r>
              <a:rPr lang="en-US" sz="94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Per-student licence</a:t>
            </a:r>
            <a:endParaRPr lang="en-US" sz="940" dirty="0"/>
          </a:p>
        </p:txBody>
      </p:sp>
      <p:sp>
        <p:nvSpPr>
          <p:cNvPr id="23" name="Text 17"/>
          <p:cNvSpPr/>
          <p:nvPr/>
        </p:nvSpPr>
        <p:spPr>
          <a:xfrm>
            <a:off x="6252195" y="3506688"/>
            <a:ext cx="2247900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Universities and student services license UniFund as their official onboarding and wellbeing layer.</a:t>
            </a:r>
            <a:endParaRPr lang="en-US" sz="830" dirty="0"/>
          </a:p>
        </p:txBody>
      </p:sp>
      <p:sp>
        <p:nvSpPr>
          <p:cNvPr id="24" name="Text 18"/>
          <p:cNvSpPr/>
          <p:nvPr/>
        </p:nvSpPr>
        <p:spPr>
          <a:xfrm>
            <a:off x="456195" y="4720679"/>
            <a:ext cx="3271838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agent → subscription → financial partners → B2B licence</a:t>
            </a:r>
            <a:endParaRPr lang="en-US" sz="860" dirty="0"/>
          </a:p>
        </p:txBody>
      </p:sp>
      <p:sp>
        <p:nvSpPr>
          <p:cNvPr id="25" name="Text 19"/>
          <p:cNvSpPr/>
          <p:nvPr/>
        </p:nvSpPr>
        <p:spPr>
          <a:xfrm>
            <a:off x="7025320" y="4720679"/>
            <a:ext cx="1662113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259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 ECONOMICS &gt; 0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8396027" y="256431"/>
            <a:ext cx="290513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11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57200" y="721035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457200" y="1000348"/>
            <a:ext cx="7315200" cy="904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57"/>
              </a:lnSpc>
              <a:spcAft>
                <a:spcPts val="2430"/>
              </a:spcAft>
              <a:buNone/>
            </a:pPr>
            <a:r>
              <a:rPr lang="en-US" sz="3740" b="1" spc="-112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one country</a:t>
            </a:r>
            <a:pPr algn="l" indent="0" marL="0">
              <a:lnSpc>
                <a:spcPts val="3557"/>
              </a:lnSpc>
              <a:buNone/>
            </a:pPr>
            <a:r>
              <a:rPr lang="en-US" sz="3740" b="1" spc="-112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a global student layer.</a:t>
            </a:r>
            <a:endParaRPr lang="en-US" sz="3740" dirty="0"/>
          </a:p>
        </p:txBody>
      </p:sp>
      <p:sp>
        <p:nvSpPr>
          <p:cNvPr id="8" name="Text 5"/>
          <p:cNvSpPr/>
          <p:nvPr/>
        </p:nvSpPr>
        <p:spPr>
          <a:xfrm>
            <a:off x="458167" y="2212330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238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HORIZON 01 · 0–12 MONTHS</a:t>
            </a:r>
            <a:endParaRPr lang="en-US" sz="790" dirty="0"/>
          </a:p>
        </p:txBody>
      </p:sp>
      <p:sp>
        <p:nvSpPr>
          <p:cNvPr id="9" name="Text 6"/>
          <p:cNvSpPr/>
          <p:nvPr/>
        </p:nvSpPr>
        <p:spPr>
          <a:xfrm>
            <a:off x="458167" y="2441079"/>
            <a:ext cx="2619375" cy="228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spcAft>
                <a:spcPts val="810"/>
              </a:spcAft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Deepen the agent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458167" y="2772519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18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Voice-first agent on mobile.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58167" y="3002012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18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Bank, visa and university integrations live.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58167" y="3231505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18C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10,000 paying students across UK &amp; Ireland.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262313" y="2212330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238" kern="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HORIZON 02 · 12–24 MONTHS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3262313" y="2441079"/>
            <a:ext cx="2619375" cy="228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spcAft>
                <a:spcPts val="810"/>
              </a:spcAft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Expand the network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262313" y="2772519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 agents for top sending countries.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262313" y="3002012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in US, Canada, Australia, Germany.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262313" y="3231505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A78B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University partnerships as the onboarding layer.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066458" y="2212330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Aft>
                <a:spcPts val="607"/>
              </a:spcAft>
              <a:buNone/>
            </a:pPr>
            <a:r>
              <a:rPr lang="en-US" sz="790" spc="238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HORIZON 03 · 24+ MONTHS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6066458" y="2441079"/>
            <a:ext cx="2619375" cy="2286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spcAft>
                <a:spcPts val="810"/>
              </a:spcAft>
              <a:buNone/>
            </a:pPr>
            <a:r>
              <a:rPr lang="en-US" sz="144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Become the standard</a:t>
            </a:r>
            <a:endParaRPr lang="en-US" sz="1440" dirty="0"/>
          </a:p>
        </p:txBody>
      </p:sp>
      <p:sp>
        <p:nvSpPr>
          <p:cNvPr id="20" name="Text 17"/>
          <p:cNvSpPr/>
          <p:nvPr/>
        </p:nvSpPr>
        <p:spPr>
          <a:xfrm>
            <a:off x="6066458" y="2772519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agent marketplace for third-party tools.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066458" y="3002012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Identity that follows the student into early career.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066458" y="3231505"/>
            <a:ext cx="261937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22D3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lnSpc>
                <a:spcPts val="1201"/>
              </a:lnSpc>
              <a:buNone/>
            </a:pPr>
            <a:r>
              <a:rPr lang="en-US" sz="83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default agentic layer for global student life.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4458072"/>
            <a:ext cx="5486400" cy="4286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market we enter makes the agent in every other market smarter.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74" y="277862"/>
            <a:ext cx="109537" cy="109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076" y="256431"/>
            <a:ext cx="6286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23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</a:t>
            </a:r>
            <a:endParaRPr lang="en-US" sz="790" dirty="0"/>
          </a:p>
        </p:txBody>
      </p:sp>
      <p:sp>
        <p:nvSpPr>
          <p:cNvPr id="6" name="Text 2"/>
          <p:cNvSpPr/>
          <p:nvPr/>
        </p:nvSpPr>
        <p:spPr>
          <a:xfrm>
            <a:off x="8433792" y="256431"/>
            <a:ext cx="252412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spc="40" kern="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11</a:t>
            </a:r>
            <a:endParaRPr lang="en-US" sz="790" dirty="0"/>
          </a:p>
        </p:txBody>
      </p:sp>
      <p:sp>
        <p:nvSpPr>
          <p:cNvPr id="7" name="Text 3"/>
          <p:cNvSpPr/>
          <p:nvPr/>
        </p:nvSpPr>
        <p:spPr>
          <a:xfrm>
            <a:off x="457200" y="721035"/>
            <a:ext cx="8229600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pPr algn="l" indent="0" marL="0">
              <a:lnSpc>
                <a:spcPts val="1404"/>
              </a:lnSpc>
              <a:buNone/>
            </a:pPr>
            <a:r>
              <a:rPr lang="en-US" sz="940" spc="374" kern="0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UNIFUND COMPOUNDS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457200" y="1001985"/>
            <a:ext cx="7315200" cy="8667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20"/>
              </a:lnSpc>
              <a:spcAft>
                <a:spcPts val="2835"/>
              </a:spcAft>
              <a:buNone/>
            </a:pPr>
            <a:r>
              <a:rPr lang="en-US" sz="3600" b="1" spc="-108" kern="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pillars.</a:t>
            </a:r>
            <a:pPr algn="l" indent="0" marL="0">
              <a:lnSpc>
                <a:spcPts val="3420"/>
              </a:lnSpc>
              <a:buNone/>
            </a:pPr>
            <a:r>
              <a:rPr lang="en-US" sz="3600" b="1" spc="-108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defensible moat.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57274" y="2230152"/>
            <a:ext cx="452437" cy="6143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240" b="1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240" dirty="0"/>
          </a:p>
        </p:txBody>
      </p:sp>
      <p:sp>
        <p:nvSpPr>
          <p:cNvPr id="10" name="Text 6"/>
          <p:cNvSpPr/>
          <p:nvPr/>
        </p:nvSpPr>
        <p:spPr>
          <a:xfrm>
            <a:off x="1074353" y="2280605"/>
            <a:ext cx="2857500" cy="195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network that compounds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1074353" y="2526357"/>
            <a:ext cx="2857500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student makes every other student's product better.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4298379" y="2230152"/>
            <a:ext cx="509587" cy="6143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24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240" dirty="0"/>
          </a:p>
        </p:txBody>
      </p:sp>
      <p:sp>
        <p:nvSpPr>
          <p:cNvPr id="13" name="Text 9"/>
          <p:cNvSpPr/>
          <p:nvPr/>
        </p:nvSpPr>
        <p:spPr>
          <a:xfrm>
            <a:off x="4972645" y="2280605"/>
            <a:ext cx="2800350" cy="195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real knowledge base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4972645" y="2526357"/>
            <a:ext cx="2800350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student feedback collected through 8 months of research.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456047" y="3075942"/>
            <a:ext cx="519112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24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240" dirty="0"/>
          </a:p>
        </p:txBody>
      </p:sp>
      <p:sp>
        <p:nvSpPr>
          <p:cNvPr id="16" name="Text 12"/>
          <p:cNvSpPr/>
          <p:nvPr/>
        </p:nvSpPr>
        <p:spPr>
          <a:xfrm>
            <a:off x="1138535" y="3127363"/>
            <a:ext cx="2566988" cy="195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Personalisation impossible to fake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1138535" y="3374529"/>
            <a:ext cx="2566988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 + nationality + budget + voice.</a:t>
            </a:r>
            <a:endParaRPr lang="en-US" sz="860" dirty="0"/>
          </a:p>
        </p:txBody>
      </p:sp>
      <p:sp>
        <p:nvSpPr>
          <p:cNvPr id="18" name="Text 14"/>
          <p:cNvSpPr/>
          <p:nvPr/>
        </p:nvSpPr>
        <p:spPr>
          <a:xfrm>
            <a:off x="4297487" y="3075942"/>
            <a:ext cx="528638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240" b="1" dirty="0">
                <a:solidFill>
                  <a:srgbClr val="818C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240" dirty="0"/>
          </a:p>
        </p:txBody>
      </p:sp>
      <p:sp>
        <p:nvSpPr>
          <p:cNvPr id="19" name="Text 15"/>
          <p:cNvSpPr/>
          <p:nvPr/>
        </p:nvSpPr>
        <p:spPr>
          <a:xfrm>
            <a:off x="4989500" y="3127363"/>
            <a:ext cx="2490787" cy="1952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daily habit, not a one-off</a:t>
            </a:r>
            <a:endParaRPr lang="en-US" sz="1220" dirty="0"/>
          </a:p>
        </p:txBody>
      </p:sp>
      <p:sp>
        <p:nvSpPr>
          <p:cNvPr id="20" name="Text 16"/>
          <p:cNvSpPr/>
          <p:nvPr/>
        </p:nvSpPr>
        <p:spPr>
          <a:xfrm>
            <a:off x="4989500" y="3374529"/>
            <a:ext cx="2490787" cy="1571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60" dirty="0">
                <a:solidFill>
                  <a:srgbClr val="8892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is checked yearly. Money is checked daily.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456493" y="4667064"/>
            <a:ext cx="2667000" cy="2190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E8EA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agent. One profile. Every student.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429165" y="4693221"/>
            <a:ext cx="1257300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259" kern="0" dirty="0">
                <a:solidFill>
                  <a:srgbClr val="8892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UNIFUND · 2026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2026-05-26T22:54:00Z</dcterms:created>
  <dcterms:modified xsi:type="dcterms:W3CDTF">2026-05-26T22:54:00Z</dcterms:modified>
</cp:coreProperties>
</file>