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B8-4097-B967-1C1815562A73}"/>
              </c:ext>
            </c:extLst>
          </c:dPt>
          <c:dPt>
            <c:idx val="1"/>
            <c:bubble3D val="0"/>
            <c:spPr>
              <a:solidFill>
                <a:srgbClr val="4F7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B8-4097-B967-1C1815562A73}"/>
              </c:ext>
            </c:extLst>
          </c:dPt>
          <c:dPt>
            <c:idx val="2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B8-4097-B967-1C1815562A73}"/>
              </c:ext>
            </c:extLst>
          </c:dPt>
          <c:dPt>
            <c:idx val="3"/>
            <c:bubble3D val="0"/>
            <c:spPr>
              <a:solidFill>
                <a:srgbClr val="C08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B8-4097-B967-1C1815562A73}"/>
              </c:ext>
            </c:extLst>
          </c:dPt>
          <c:dPt>
            <c:idx val="4"/>
            <c:bubble3D val="0"/>
            <c:spPr>
              <a:solidFill>
                <a:srgbClr val="8A9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B8-4097-B967-1C1815562A73}"/>
              </c:ext>
            </c:extLst>
          </c:dPt>
          <c:cat>
            <c:strRef>
              <c:f>Sheet1!$A$2:$A$6</c:f>
              <c:strCache>
                <c:ptCount val="5"/>
                <c:pt idx="0">
                  <c:v>Hyper-local affiliate commerce</c:v>
                </c:pt>
                <c:pt idx="1">
                  <c:v>Brand partnerships &amp; offers</c:v>
                </c:pt>
                <c:pt idx="2">
                  <c:v>Financial-services referrals</c:v>
                </c:pt>
                <c:pt idx="3">
                  <c:v>Institutional B2B</c:v>
                </c:pt>
                <c:pt idx="4">
                  <c:v>Student 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B8-4097-B967-1C1815562A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74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784080" y="1280160"/>
            <a:ext cx="3840480" cy="3840480"/>
          </a:xfrm>
          <a:prstGeom prst="ellipse">
            <a:avLst/>
          </a:prstGeom>
          <a:ln w="12700">
            <a:solidFill>
              <a:srgbClr val="263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F7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UNIFUND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career.</a:t>
            </a:r>
            <a:r>
              <a:rPr lang="en-US" sz="2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Protect your money.   Plug into your people.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24128" y="4343400"/>
            <a:ext cx="4023360" cy="0"/>
          </a:xfrm>
          <a:prstGeom prst="line">
            <a:avLst/>
          </a:prstGeom>
          <a:noFill/>
          <a:ln w="254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Advice is broken. Money is scary.</a:t>
            </a:r>
            <a:endParaRPr lang="en-US" sz="33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knowledge dies every year.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64261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sa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78434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saving motivation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consistently save without accountability or incentives.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64261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comp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7843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blindness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invest significant time and substantial financial resources in a path whose outcomes remain uncertain.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71830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isolati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86003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begin with limited professional networks and without access to mentors who have navigated a similar path.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71830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8600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found the cheap grocer, the right bank, the visa trick — once they graduate, it is gone.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AI agent per student. Three engines.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41248" y="2423160"/>
            <a:ext cx="3456432" cy="82296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98448" y="2807208"/>
            <a:ext cx="749808" cy="74980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icons/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994660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98448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98448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plan and see a month-by-month prediction, built from thousands who already did 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09160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709160" y="2423160"/>
            <a:ext cx="3456432" cy="822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166360" y="2807208"/>
            <a:ext cx="749808" cy="74980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1" descr="icons/wall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2994660"/>
            <a:ext cx="374904" cy="3749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166360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Runway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166360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spending and shows exactly how many months of runway remain — the daily habit.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577072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577072" y="2423160"/>
            <a:ext cx="3456432" cy="82296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9034272" y="2807208"/>
            <a:ext cx="749808" cy="74980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2" descr="icons/netwo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724" y="2994660"/>
            <a:ext cx="374904" cy="374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34272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034272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9034272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agents share knowledge automatically — the network that compounds.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pillars hold the business up.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50545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6471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Visibility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50545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64718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Intelligence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a personal AI agent that learns their behaviour, goals, and context over time.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58114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72287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Wisdom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true strength lies in its student community, where anonymized peer connections turn individual experiences into shared knowledge.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58114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infin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72287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Network Effect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student strengthens the platform by contributing insights that continuously improve recommendations and increase its value.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Forward-Looking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RUNWAY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718552"/>
            <a:ext cx="7123176" cy="3512337"/>
          </a:xfrm>
          <a:prstGeom prst="roundRect">
            <a:avLst>
              <a:gd name="adj" fmla="val 2083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runwa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28280"/>
            <a:ext cx="6903720" cy="3292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Studio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a personal AI agent that learns their behaviour, goals, and context over time — building an identity that grows with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92516"/>
            <a:ext cx="7123176" cy="3564408"/>
          </a:xfrm>
          <a:prstGeom prst="roundRect">
            <a:avLst>
              <a:gd name="adj" fmla="val 2052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agent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02244"/>
            <a:ext cx="6903720" cy="3344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Knowledge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true strength lies in its student community, where anonymized peer connections transform individual experiences into shared knowledge.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36350"/>
            <a:ext cx="7123176" cy="3676741"/>
          </a:xfrm>
          <a:prstGeom prst="roundRect">
            <a:avLst>
              <a:gd name="adj" fmla="val 199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communit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746078"/>
            <a:ext cx="6903720" cy="3457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4F7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Compounding Network Effect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student strengthens the platform by contributing insights that continuously improve recommendations and increase its value over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707810"/>
            <a:ext cx="7123176" cy="3533821"/>
          </a:xfrm>
          <a:prstGeom prst="roundRect">
            <a:avLst>
              <a:gd name="adj" fmla="val 207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network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17538"/>
            <a:ext cx="6903720" cy="3314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experience, in five beats.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07008" y="2606040"/>
            <a:ext cx="0" cy="31455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wakes 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93208" y="2331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particle system forms your digital self as you onboard.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01368" y="3118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money check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93208" y="31181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months of runway. You're €38 over on food this week."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3904488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01368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93208" y="39044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"Masters in AI, Dublin" renders a month-by-month timeline with risks flagged.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690872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01368" y="4690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answers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93208" y="46908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student's agent replies automatically while they sleep.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" y="5477256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01368" y="5477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93208" y="5477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"Grocery 1.2km away, 15% off." The student saves; we earn commission.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don't pay. Partners do.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comes from merchants, brands, banks and universities.</a:t>
            </a:r>
            <a:endParaRPr lang="en-US" sz="14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233172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55448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
</a:t>
            </a: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partners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892040" y="2377440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93208" y="2633472"/>
            <a:ext cx="164592" cy="164592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22392" y="237744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affiliate commerce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237744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D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237744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10–20% on ethnic groceries &amp; food. Recurring weekly.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92040" y="3118104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093208" y="3374136"/>
            <a:ext cx="164592" cy="164592"/>
          </a:xfrm>
          <a:prstGeom prst="ellipse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22392" y="31181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&amp; offers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01000" y="311810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7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69680" y="311810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reach verified students. The proven UNiDAYS model.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92040" y="3858768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93208" y="4114800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22392" y="38587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Financial-services referrals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01000" y="38587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69680" y="38587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pay for student accounts, cards, remittance.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4599432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093208" y="4855464"/>
            <a:ext cx="164592" cy="164592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22392" y="45994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01000" y="459943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08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459943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€499–€2,999/mo to reduce dropout.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92040" y="5340096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93208" y="5596128"/>
            <a:ext cx="164592" cy="164592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22392" y="534009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subscriptions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01000" y="5340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69680" y="534009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— students mostly stay free.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92040" y="59436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€250–450/mo grocery spend × 12–15% ≈ €12–15/mo per student — more than any subscription, and they pay €0.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student app to lifelong AI commerce network.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212848"/>
            <a:ext cx="603504" cy="603504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gr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3637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2212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alumni → lifelong companion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53328" y="22128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grows into the user's high-value financial life stages.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" y="2999232"/>
            <a:ext cx="603504" cy="603504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150108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9928" y="29992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053328" y="29992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finds offers, negotiates, and shares knowledge on your behalf.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1248" y="3785616"/>
            <a:ext cx="603504" cy="603504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93649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7856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commerce &amp; finance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053328" y="378561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your runway, so we surface the right product at the right moment.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41248" y="4572000"/>
            <a:ext cx="603504" cy="603504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7228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09928" y="45720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campus, every country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53328" y="45720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localisation playbook that repeats, market after market.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41248" y="5614416"/>
            <a:ext cx="10509199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1115568" y="5614416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endgame:  </a:t>
            </a:r>
            <a:r>
              <a:rPr lang="en-US" sz="13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queryable layer of human experience — monetized through commerce.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-1280160"/>
            <a:ext cx="4754880" cy="475488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F7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network students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can't graduate without.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8448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— real product, not a mockup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0288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90288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82896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UNiDAYS (£53M/yr)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4736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4736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67344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7344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profit when students save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57150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4DB1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0" descr="icons/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587959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715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career.  Protect your money.  Plug into your people.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Office PowerPoint</Application>
  <PresentationFormat>Widescreen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UniFund Investor Presentation</dc:title>
  <dc:subject>PptxGenJS Presentation</dc:subject>
  <dc:creator>UniFund</dc:creator>
  <cp:lastModifiedBy>Gaddameedi SudeepAryan</cp:lastModifiedBy>
  <cp:revision>1</cp:revision>
  <dcterms:created xsi:type="dcterms:W3CDTF">2026-05-26T23:45:40Z</dcterms:created>
  <dcterms:modified xsi:type="dcterms:W3CDTF">2026-05-26T23:46:28Z</dcterms:modified>
</cp:coreProperties>
</file>