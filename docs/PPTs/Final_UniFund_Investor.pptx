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59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B8E-448A-942F-548AE5B1696E}"/>
              </c:ext>
            </c:extLst>
          </c:dPt>
          <c:dPt>
            <c:idx val="1"/>
            <c:bubble3D val="0"/>
            <c:spPr>
              <a:solidFill>
                <a:srgbClr val="4F75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8E-448A-942F-548AE5B1696E}"/>
              </c:ext>
            </c:extLst>
          </c:dPt>
          <c:dPt>
            <c:idx val="2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8E-448A-942F-548AE5B1696E}"/>
              </c:ext>
            </c:extLst>
          </c:dPt>
          <c:dPt>
            <c:idx val="3"/>
            <c:bubble3D val="0"/>
            <c:spPr>
              <a:solidFill>
                <a:srgbClr val="C08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8E-448A-942F-548AE5B1696E}"/>
              </c:ext>
            </c:extLst>
          </c:dPt>
          <c:dPt>
            <c:idx val="4"/>
            <c:bubble3D val="0"/>
            <c:spPr>
              <a:solidFill>
                <a:srgbClr val="8A9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8E-448A-942F-548AE5B1696E}"/>
              </c:ext>
            </c:extLst>
          </c:dPt>
          <c:cat>
            <c:strRef>
              <c:f>Sheet1!$A$2:$A$6</c:f>
              <c:strCache>
                <c:ptCount val="5"/>
                <c:pt idx="0">
                  <c:v>Hyper-local affiliate commerce</c:v>
                </c:pt>
                <c:pt idx="1">
                  <c:v>Brand partnerships &amp; offers</c:v>
                </c:pt>
                <c:pt idx="2">
                  <c:v>Financial-services referrals</c:v>
                </c:pt>
                <c:pt idx="3">
                  <c:v>Institutional B2B</c:v>
                </c:pt>
                <c:pt idx="4">
                  <c:v>Student subscriptions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22</c:v>
                </c:pt>
                <c:pt idx="2">
                  <c:v>20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8E-448A-942F-548AE5B169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43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54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52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5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2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67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assets/particles.gif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ln w="15875">
            <a:solidFill>
              <a:srgbClr val="2C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784080" y="1280160"/>
            <a:ext cx="3840480" cy="3840480"/>
          </a:xfrm>
          <a:prstGeom prst="ellipse">
            <a:avLst/>
          </a:prstGeom>
          <a:ln w="12700">
            <a:solidFill>
              <a:srgbClr val="263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881360" y="3931920"/>
            <a:ext cx="2743200" cy="2743200"/>
          </a:xfrm>
          <a:prstGeom prst="ellipse">
            <a:avLst/>
          </a:prstGeom>
          <a:solidFill>
            <a:srgbClr val="223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058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F7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1488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UNIFUND</a:t>
            </a:r>
            <a:endParaRPr lang="en-US" sz="8400" dirty="0"/>
          </a:p>
        </p:txBody>
      </p:sp>
      <p:sp>
        <p:nvSpPr>
          <p:cNvPr id="9" name="Text 6"/>
          <p:cNvSpPr/>
          <p:nvPr/>
        </p:nvSpPr>
        <p:spPr>
          <a:xfrm>
            <a:off x="1005840" y="3611880"/>
            <a:ext cx="7046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money. Predict your career. Plug into your people.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24128" y="4343400"/>
            <a:ext cx="4023360" cy="0"/>
          </a:xfrm>
          <a:prstGeom prst="line">
            <a:avLst/>
          </a:prstGeom>
          <a:noFill/>
          <a:ln w="254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058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600"/>
              </a:lnSpc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Money is scary. Advice is broken. </a:t>
            </a:r>
            <a:endParaRPr lang="en-US" sz="33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knowledge dies every year.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3317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2642616"/>
            <a:ext cx="566928" cy="56692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sa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78434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65376" y="26060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saving motivation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65376" y="299008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consistently save without accountability or incentives.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83096" y="23317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75704" y="264261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compa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78434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57416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07224" y="26060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blindness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07224" y="299008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invest significant time and substantial financial resources in a path whose outcomes remain uncertain.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" y="440740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3856" y="4718304"/>
            <a:ext cx="566928" cy="56692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icons/isolatio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86003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5340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865376" y="46817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865376" y="506577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begin with limited professional networks and without access to mentors who have navigated a similar path.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83096" y="440740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75704" y="4718304"/>
            <a:ext cx="566928" cy="566928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86003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5340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07224" y="46817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knowledge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507224" y="506577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who found the cheap grocer, the right bank, the visa trick  once they graduate, it is gone.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41248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/>
                <a:cs typeface="Calibri"/>
              </a:rPr>
              <a:t>THE SOLUTION</a:t>
            </a:r>
          </a:p>
        </p:txBody>
      </p:sp>
      <p:sp>
        <p:nvSpPr>
          <p:cNvPr id="3" name="Head"/>
          <p:cNvSpPr/>
          <p:nvPr/>
        </p:nvSpPr>
        <p:spPr>
          <a:xfrm>
            <a:off x="841248" y="8686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/>
                <a:cs typeface="Trebuchet MS"/>
              </a:rPr>
              <a:t>One AI agent per student. Four engines.</a:t>
            </a:r>
          </a:p>
        </p:txBody>
      </p:sp>
      <p:sp>
        <p:nvSpPr>
          <p:cNvPr id="4" name="Sub"/>
          <p:cNvSpPr/>
          <p:nvPr/>
        </p:nvSpPr>
        <p:spPr>
          <a:xfrm>
            <a:off x="841248" y="17556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/>
                <a:cs typeface="Calibri"/>
              </a:rPr>
              <a:t>Each engine answers one of the four problems above.</a:t>
            </a:r>
          </a:p>
        </p:txBody>
      </p:sp>
      <p:sp>
        <p:nvSpPr>
          <p:cNvPr id="100" name="Card0"/>
          <p:cNvSpPr/>
          <p:nvPr/>
        </p:nvSpPr>
        <p:spPr>
          <a:xfrm>
            <a:off x="841248" y="2331720"/>
            <a:ext cx="2192274" cy="315468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Bar0"/>
          <p:cNvSpPr/>
          <p:nvPr/>
        </p:nvSpPr>
        <p:spPr>
          <a:xfrm>
            <a:off x="841248" y="2331720"/>
            <a:ext cx="2192274" cy="82296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Circle0"/>
          <p:cNvSpPr/>
          <p:nvPr/>
        </p:nvSpPr>
        <p:spPr>
          <a:xfrm>
            <a:off x="1115568" y="2697480"/>
            <a:ext cx="658368" cy="65836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3" name="Icon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862072"/>
            <a:ext cx="329184" cy="329184"/>
          </a:xfrm>
          <a:prstGeom prst="rect">
            <a:avLst/>
          </a:prstGeom>
        </p:spPr>
      </p:pic>
      <p:sp>
        <p:nvSpPr>
          <p:cNvPr id="104" name="Num0"/>
          <p:cNvSpPr/>
          <p:nvPr/>
        </p:nvSpPr>
        <p:spPr>
          <a:xfrm>
            <a:off x="1115568" y="3538728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DB1"/>
                </a:solidFill>
                <a:latin typeface="Trebuchet MS"/>
                <a:cs typeface="Trebuchet MS"/>
              </a:rPr>
              <a:t>01</a:t>
            </a:r>
          </a:p>
        </p:txBody>
      </p:sp>
      <p:sp>
        <p:nvSpPr>
          <p:cNvPr id="105" name="Title0"/>
          <p:cNvSpPr/>
          <p:nvPr/>
        </p:nvSpPr>
        <p:spPr>
          <a:xfrm>
            <a:off x="1115568" y="3959352"/>
            <a:ext cx="1643634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/>
                <a:cs typeface="Calibri"/>
              </a:rPr>
              <a:t>Financial Runway</a:t>
            </a:r>
          </a:p>
        </p:txBody>
      </p:sp>
      <p:sp>
        <p:nvSpPr>
          <p:cNvPr id="106" name="Desc0"/>
          <p:cNvSpPr/>
          <p:nvPr/>
        </p:nvSpPr>
        <p:spPr>
          <a:xfrm>
            <a:off x="1115568" y="4398263"/>
            <a:ext cx="1643634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/>
                <a:cs typeface="Calibri"/>
              </a:rPr>
              <a:t>See how many months your money lasts — not just what you spent.</a:t>
            </a:r>
          </a:p>
        </p:txBody>
      </p:sp>
      <p:sp>
        <p:nvSpPr>
          <p:cNvPr id="110" name="Card1"/>
          <p:cNvSpPr/>
          <p:nvPr/>
        </p:nvSpPr>
        <p:spPr>
          <a:xfrm>
            <a:off x="3326130" y="2331720"/>
            <a:ext cx="2192274" cy="315468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Bar1"/>
          <p:cNvSpPr/>
          <p:nvPr/>
        </p:nvSpPr>
        <p:spPr>
          <a:xfrm>
            <a:off x="3326130" y="2331720"/>
            <a:ext cx="2192274" cy="8229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Circle1"/>
          <p:cNvSpPr/>
          <p:nvPr/>
        </p:nvSpPr>
        <p:spPr>
          <a:xfrm>
            <a:off x="3600450" y="2697480"/>
            <a:ext cx="658368" cy="65836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3" name="Icon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042" y="2862072"/>
            <a:ext cx="329184" cy="329184"/>
          </a:xfrm>
          <a:prstGeom prst="rect">
            <a:avLst/>
          </a:prstGeom>
        </p:spPr>
      </p:pic>
      <p:sp>
        <p:nvSpPr>
          <p:cNvPr id="114" name="Num1"/>
          <p:cNvSpPr/>
          <p:nvPr/>
        </p:nvSpPr>
        <p:spPr>
          <a:xfrm>
            <a:off x="3600450" y="3538728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7B"/>
                </a:solidFill>
                <a:latin typeface="Trebuchet MS"/>
                <a:cs typeface="Trebuchet MS"/>
              </a:rPr>
              <a:t>02</a:t>
            </a:r>
          </a:p>
        </p:txBody>
      </p:sp>
      <p:sp>
        <p:nvSpPr>
          <p:cNvPr id="115" name="Title1"/>
          <p:cNvSpPr/>
          <p:nvPr/>
        </p:nvSpPr>
        <p:spPr>
          <a:xfrm>
            <a:off x="3600450" y="3959352"/>
            <a:ext cx="1643634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/>
                <a:cs typeface="Calibri"/>
              </a:rPr>
              <a:t>Agent Studio</a:t>
            </a:r>
          </a:p>
        </p:txBody>
      </p:sp>
      <p:sp>
        <p:nvSpPr>
          <p:cNvPr id="116" name="Desc1"/>
          <p:cNvSpPr/>
          <p:nvPr/>
        </p:nvSpPr>
        <p:spPr>
          <a:xfrm>
            <a:off x="3600450" y="4398263"/>
            <a:ext cx="1643634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/>
                <a:cs typeface="Calibri"/>
              </a:rPr>
              <a:t>A personal AI agent that learns you and does real tasks for you.</a:t>
            </a:r>
          </a:p>
        </p:txBody>
      </p:sp>
      <p:sp>
        <p:nvSpPr>
          <p:cNvPr id="120" name="Card2"/>
          <p:cNvSpPr/>
          <p:nvPr/>
        </p:nvSpPr>
        <p:spPr>
          <a:xfrm>
            <a:off x="5811012" y="2331720"/>
            <a:ext cx="2192274" cy="315468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Bar2"/>
          <p:cNvSpPr/>
          <p:nvPr/>
        </p:nvSpPr>
        <p:spPr>
          <a:xfrm>
            <a:off x="5811012" y="2331720"/>
            <a:ext cx="2192274" cy="82296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Circle2"/>
          <p:cNvSpPr/>
          <p:nvPr/>
        </p:nvSpPr>
        <p:spPr>
          <a:xfrm>
            <a:off x="6085332" y="2697480"/>
            <a:ext cx="658368" cy="65836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3" name="Icon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924" y="2862072"/>
            <a:ext cx="329184" cy="329184"/>
          </a:xfrm>
          <a:prstGeom prst="rect">
            <a:avLst/>
          </a:prstGeom>
        </p:spPr>
      </p:pic>
      <p:sp>
        <p:nvSpPr>
          <p:cNvPr id="124" name="Num2"/>
          <p:cNvSpPr/>
          <p:nvPr/>
        </p:nvSpPr>
        <p:spPr>
          <a:xfrm>
            <a:off x="6085332" y="3538728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8A2E"/>
                </a:solidFill>
                <a:latin typeface="Trebuchet MS"/>
                <a:cs typeface="Trebuchet MS"/>
              </a:rPr>
              <a:t>03</a:t>
            </a:r>
          </a:p>
        </p:txBody>
      </p:sp>
      <p:sp>
        <p:nvSpPr>
          <p:cNvPr id="125" name="Title2"/>
          <p:cNvSpPr/>
          <p:nvPr/>
        </p:nvSpPr>
        <p:spPr>
          <a:xfrm>
            <a:off x="6085332" y="3959352"/>
            <a:ext cx="1643634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/>
                <a:cs typeface="Calibri"/>
              </a:rPr>
              <a:t>Community Hub</a:t>
            </a:r>
          </a:p>
        </p:txBody>
      </p:sp>
      <p:sp>
        <p:nvSpPr>
          <p:cNvPr id="126" name="Desc2"/>
          <p:cNvSpPr/>
          <p:nvPr/>
        </p:nvSpPr>
        <p:spPr>
          <a:xfrm>
            <a:off x="6085332" y="4398263"/>
            <a:ext cx="1643634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/>
                <a:cs typeface="Calibri"/>
              </a:rPr>
              <a:t>Agents trade hard-won knowledge so it never leaves with graduates.</a:t>
            </a:r>
          </a:p>
        </p:txBody>
      </p:sp>
      <p:sp>
        <p:nvSpPr>
          <p:cNvPr id="130" name="Card3"/>
          <p:cNvSpPr/>
          <p:nvPr/>
        </p:nvSpPr>
        <p:spPr>
          <a:xfrm>
            <a:off x="8295894" y="2331720"/>
            <a:ext cx="2192274" cy="315468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1" name="Bar3"/>
          <p:cNvSpPr/>
          <p:nvPr/>
        </p:nvSpPr>
        <p:spPr>
          <a:xfrm>
            <a:off x="8295894" y="2331720"/>
            <a:ext cx="2192274" cy="82296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Circle3"/>
          <p:cNvSpPr/>
          <p:nvPr/>
        </p:nvSpPr>
        <p:spPr>
          <a:xfrm>
            <a:off x="8570214" y="2697480"/>
            <a:ext cx="658368" cy="65836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3" name="Icon3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806" y="2862072"/>
            <a:ext cx="329184" cy="329184"/>
          </a:xfrm>
          <a:prstGeom prst="rect">
            <a:avLst/>
          </a:prstGeom>
        </p:spPr>
      </p:pic>
      <p:sp>
        <p:nvSpPr>
          <p:cNvPr id="134" name="Num3"/>
          <p:cNvSpPr/>
          <p:nvPr/>
        </p:nvSpPr>
        <p:spPr>
          <a:xfrm>
            <a:off x="8570214" y="3538728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DB1"/>
                </a:solidFill>
                <a:latin typeface="Trebuchet MS"/>
                <a:cs typeface="Trebuchet MS"/>
              </a:rPr>
              <a:t>04</a:t>
            </a:r>
          </a:p>
        </p:txBody>
      </p:sp>
      <p:sp>
        <p:nvSpPr>
          <p:cNvPr id="135" name="Title3"/>
          <p:cNvSpPr/>
          <p:nvPr/>
        </p:nvSpPr>
        <p:spPr>
          <a:xfrm>
            <a:off x="8570214" y="3959352"/>
            <a:ext cx="1643634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/>
                <a:cs typeface="Calibri"/>
              </a:rPr>
              <a:t>Agentic Web</a:t>
            </a:r>
          </a:p>
        </p:txBody>
      </p:sp>
      <p:sp>
        <p:nvSpPr>
          <p:cNvPr id="136" name="Desc3"/>
          <p:cNvSpPr/>
          <p:nvPr/>
        </p:nvSpPr>
        <p:spPr>
          <a:xfrm>
            <a:off x="8570214" y="4398263"/>
            <a:ext cx="1643634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/>
                <a:cs typeface="Calibri"/>
              </a:rPr>
              <a:t>Simulate your future against 1,400+ real student journeys.</a:t>
            </a:r>
          </a:p>
        </p:txBody>
      </p:sp>
    </p:spTree>
    <p:extLst>
      <p:ext uri="{BB962C8B-B14F-4D97-AF65-F5344CB8AC3E}">
        <p14:creationId xmlns:p14="http://schemas.microsoft.com/office/powerpoint/2010/main" val="1961938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Calibri"/>
                <a:cs typeface="Calibri"/>
              </a:rPr>
              <a:t>THE PRODUCT</a:t>
            </a:r>
          </a:p>
        </p:txBody>
      </p:sp>
      <p:sp>
        <p:nvSpPr>
          <p:cNvPr id="3" name="BigNum"/>
          <p:cNvSpPr/>
          <p:nvPr/>
        </p:nvSpPr>
        <p:spPr>
          <a:xfrm>
            <a:off x="841248" y="102412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B4DB1"/>
                </a:solidFill>
                <a:latin typeface="Trebuchet MS"/>
                <a:cs typeface="Trebuchet MS"/>
              </a:rPr>
              <a:t>01</a:t>
            </a:r>
          </a:p>
        </p:txBody>
      </p:sp>
      <p:sp>
        <p:nvSpPr>
          <p:cNvPr id="4" name="Title"/>
          <p:cNvSpPr/>
          <p:nvPr/>
        </p:nvSpPr>
        <p:spPr>
          <a:xfrm>
            <a:off x="2532888" y="978408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/>
                <a:cs typeface="Trebuchet MS"/>
              </a:rPr>
              <a:t>Know how long your money lasts</a:t>
            </a:r>
          </a:p>
        </p:txBody>
      </p:sp>
      <p:sp>
        <p:nvSpPr>
          <p:cNvPr id="200" name="FChip0"/>
          <p:cNvSpPr/>
          <p:nvPr/>
        </p:nvSpPr>
        <p:spPr>
          <a:xfrm>
            <a:off x="8412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1B4DB1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</a:p>
        </p:txBody>
      </p:sp>
      <p:sp>
        <p:nvSpPr>
          <p:cNvPr id="201" name="FLabel0"/>
          <p:cNvSpPr/>
          <p:nvPr/>
        </p:nvSpPr>
        <p:spPr>
          <a:xfrm>
            <a:off x="12435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Runway in months</a:t>
            </a:r>
          </a:p>
        </p:txBody>
      </p:sp>
      <p:sp>
        <p:nvSpPr>
          <p:cNvPr id="202" name="FDesc0"/>
          <p:cNvSpPr/>
          <p:nvPr/>
        </p:nvSpPr>
        <p:spPr>
          <a:xfrm>
            <a:off x="12435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One number: how long savings last — green, amber or red</a:t>
            </a:r>
          </a:p>
        </p:txBody>
      </p:sp>
      <p:sp>
        <p:nvSpPr>
          <p:cNvPr id="203" name="FChip1"/>
          <p:cNvSpPr/>
          <p:nvPr/>
        </p:nvSpPr>
        <p:spPr>
          <a:xfrm>
            <a:off x="41940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1B4DB1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</a:p>
        </p:txBody>
      </p:sp>
      <p:sp>
        <p:nvSpPr>
          <p:cNvPr id="204" name="FLabel1"/>
          <p:cNvSpPr/>
          <p:nvPr/>
        </p:nvSpPr>
        <p:spPr>
          <a:xfrm>
            <a:off x="45963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Every income stream</a:t>
            </a:r>
          </a:p>
        </p:txBody>
      </p:sp>
      <p:sp>
        <p:nvSpPr>
          <p:cNvPr id="205" name="FDesc1"/>
          <p:cNvSpPr/>
          <p:nvPr/>
        </p:nvSpPr>
        <p:spPr>
          <a:xfrm>
            <a:off x="45963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Salary, freelance, sponsorships — aggregated into one figure</a:t>
            </a:r>
          </a:p>
        </p:txBody>
      </p:sp>
      <p:sp>
        <p:nvSpPr>
          <p:cNvPr id="206" name="FChip2"/>
          <p:cNvSpPr/>
          <p:nvPr/>
        </p:nvSpPr>
        <p:spPr>
          <a:xfrm>
            <a:off x="75468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1B4DB1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</a:p>
        </p:txBody>
      </p:sp>
      <p:sp>
        <p:nvSpPr>
          <p:cNvPr id="207" name="FLabel2"/>
          <p:cNvSpPr/>
          <p:nvPr/>
        </p:nvSpPr>
        <p:spPr>
          <a:xfrm>
            <a:off x="79491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AI cost insights</a:t>
            </a:r>
          </a:p>
        </p:txBody>
      </p:sp>
      <p:sp>
        <p:nvSpPr>
          <p:cNvPr id="208" name="FDesc2"/>
          <p:cNvSpPr/>
          <p:nvPr/>
        </p:nvSpPr>
        <p:spPr>
          <a:xfrm>
            <a:off x="79491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Spots overspend and suggests fixes, e.g. “save €18/mo”</a:t>
            </a:r>
          </a:p>
        </p:txBody>
      </p:sp>
      <p:sp>
        <p:nvSpPr>
          <p:cNvPr id="50" name="ScreenBG"/>
          <p:cNvSpPr/>
          <p:nvPr/>
        </p:nvSpPr>
        <p:spPr>
          <a:xfrm>
            <a:off x="3213423" y="3694176"/>
            <a:ext cx="5765154" cy="2807208"/>
          </a:xfrm>
          <a:prstGeom prst="roundRect">
            <a:avLst>
              <a:gd name="adj" fmla="val 2400"/>
            </a:avLst>
          </a:prstGeom>
          <a:solidFill>
            <a:srgbClr val="0E1525"/>
          </a:solidFill>
          <a:ln/>
          <a:effectLst>
            <a:outerShdw blurRad="120650" dist="38100" dir="5400000" algn="bl" rotWithShape="0">
              <a:srgbClr val="1B2A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1" name="Screenshot" descr="produc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287" y="3749040"/>
            <a:ext cx="5655426" cy="2697480"/>
          </a:xfrm>
          <a:prstGeom prst="roundRect">
            <a:avLst>
              <a:gd name="adj" fmla="val 1800"/>
            </a:avLst>
          </a:prstGeom>
        </p:spPr>
      </p:pic>
    </p:spTree>
    <p:extLst>
      <p:ext uri="{BB962C8B-B14F-4D97-AF65-F5344CB8AC3E}">
        <p14:creationId xmlns:p14="http://schemas.microsoft.com/office/powerpoint/2010/main" val="157993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0E7C7B"/>
                </a:solidFill>
                <a:latin typeface="Calibri"/>
                <a:cs typeface="Calibri"/>
              </a:rPr>
              <a:t>THE PRODUCT</a:t>
            </a:r>
          </a:p>
        </p:txBody>
      </p:sp>
      <p:sp>
        <p:nvSpPr>
          <p:cNvPr id="3" name="BigNum"/>
          <p:cNvSpPr/>
          <p:nvPr/>
        </p:nvSpPr>
        <p:spPr>
          <a:xfrm>
            <a:off x="841248" y="102412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E7C7B"/>
                </a:solidFill>
                <a:latin typeface="Trebuchet MS"/>
                <a:cs typeface="Trebuchet MS"/>
              </a:rPr>
              <a:t>02</a:t>
            </a:r>
          </a:p>
        </p:txBody>
      </p:sp>
      <p:sp>
        <p:nvSpPr>
          <p:cNvPr id="4" name="Title"/>
          <p:cNvSpPr/>
          <p:nvPr/>
        </p:nvSpPr>
        <p:spPr>
          <a:xfrm>
            <a:off x="2532887" y="978408"/>
            <a:ext cx="7542766" cy="1143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/>
                <a:cs typeface="Trebuchet MS"/>
              </a:rPr>
              <a:t>An AI agent built from your real story</a:t>
            </a:r>
          </a:p>
        </p:txBody>
      </p:sp>
      <p:sp>
        <p:nvSpPr>
          <p:cNvPr id="200" name="FChip0"/>
          <p:cNvSpPr/>
          <p:nvPr/>
        </p:nvSpPr>
        <p:spPr>
          <a:xfrm>
            <a:off x="8412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</a:p>
        </p:txBody>
      </p:sp>
      <p:sp>
        <p:nvSpPr>
          <p:cNvPr id="201" name="FLabel0"/>
          <p:cNvSpPr/>
          <p:nvPr/>
        </p:nvSpPr>
        <p:spPr>
          <a:xfrm>
            <a:off x="12435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Learns from you</a:t>
            </a:r>
          </a:p>
        </p:txBody>
      </p:sp>
      <p:sp>
        <p:nvSpPr>
          <p:cNvPr id="202" name="FDesc0"/>
          <p:cNvSpPr/>
          <p:nvPr/>
        </p:nvSpPr>
        <p:spPr>
          <a:xfrm>
            <a:off x="12435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Reads your CV and chats — no cold-start forms to fill</a:t>
            </a:r>
          </a:p>
        </p:txBody>
      </p:sp>
      <p:sp>
        <p:nvSpPr>
          <p:cNvPr id="203" name="FChip1"/>
          <p:cNvSpPr/>
          <p:nvPr/>
        </p:nvSpPr>
        <p:spPr>
          <a:xfrm>
            <a:off x="41940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</a:p>
        </p:txBody>
      </p:sp>
      <p:sp>
        <p:nvSpPr>
          <p:cNvPr id="204" name="FLabel1"/>
          <p:cNvSpPr/>
          <p:nvPr/>
        </p:nvSpPr>
        <p:spPr>
          <a:xfrm>
            <a:off x="45963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Does tasks for you</a:t>
            </a:r>
          </a:p>
        </p:txBody>
      </p:sp>
      <p:sp>
        <p:nvSpPr>
          <p:cNvPr id="205" name="FDesc1"/>
          <p:cNvSpPr/>
          <p:nvPr/>
        </p:nvSpPr>
        <p:spPr>
          <a:xfrm>
            <a:off x="45963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Builds resumes, finds products, analyses spending</a:t>
            </a:r>
          </a:p>
        </p:txBody>
      </p:sp>
      <p:sp>
        <p:nvSpPr>
          <p:cNvPr id="206" name="FChip2"/>
          <p:cNvSpPr/>
          <p:nvPr/>
        </p:nvSpPr>
        <p:spPr>
          <a:xfrm>
            <a:off x="75468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</a:p>
        </p:txBody>
      </p:sp>
      <p:sp>
        <p:nvSpPr>
          <p:cNvPr id="207" name="FLabel2"/>
          <p:cNvSpPr/>
          <p:nvPr/>
        </p:nvSpPr>
        <p:spPr>
          <a:xfrm>
            <a:off x="79491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Grows over time</a:t>
            </a:r>
          </a:p>
        </p:txBody>
      </p:sp>
      <p:sp>
        <p:nvSpPr>
          <p:cNvPr id="208" name="FDesc2"/>
          <p:cNvSpPr/>
          <p:nvPr/>
        </p:nvSpPr>
        <p:spPr>
          <a:xfrm>
            <a:off x="79491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Levels up from Novice to Expert as you keep using it</a:t>
            </a:r>
          </a:p>
        </p:txBody>
      </p:sp>
      <p:sp>
        <p:nvSpPr>
          <p:cNvPr id="50" name="ScreenBG"/>
          <p:cNvSpPr/>
          <p:nvPr/>
        </p:nvSpPr>
        <p:spPr>
          <a:xfrm>
            <a:off x="3257442" y="3694176"/>
            <a:ext cx="5677116" cy="2807208"/>
          </a:xfrm>
          <a:prstGeom prst="roundRect">
            <a:avLst>
              <a:gd name="adj" fmla="val 2400"/>
            </a:avLst>
          </a:prstGeom>
          <a:solidFill>
            <a:srgbClr val="0E1525"/>
          </a:solidFill>
          <a:ln/>
          <a:effectLst>
            <a:outerShdw blurRad="120650" dist="38100" dir="5400000" algn="bl" rotWithShape="0">
              <a:srgbClr val="1B2A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1" name="Screenshot" descr="produc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06" y="3749040"/>
            <a:ext cx="5567388" cy="2697480"/>
          </a:xfrm>
          <a:prstGeom prst="roundRect">
            <a:avLst>
              <a:gd name="adj" fmla="val 1800"/>
            </a:avLst>
          </a:prstGeom>
        </p:spPr>
      </p:pic>
    </p:spTree>
    <p:extLst>
      <p:ext uri="{BB962C8B-B14F-4D97-AF65-F5344CB8AC3E}">
        <p14:creationId xmlns:p14="http://schemas.microsoft.com/office/powerpoint/2010/main" val="179929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08A2E"/>
                </a:solidFill>
                <a:latin typeface="Calibri"/>
                <a:cs typeface="Calibri"/>
              </a:rPr>
              <a:t>THE PRODUCT</a:t>
            </a:r>
          </a:p>
        </p:txBody>
      </p:sp>
      <p:sp>
        <p:nvSpPr>
          <p:cNvPr id="3" name="BigNum"/>
          <p:cNvSpPr/>
          <p:nvPr/>
        </p:nvSpPr>
        <p:spPr>
          <a:xfrm>
            <a:off x="841248" y="102412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08A2E"/>
                </a:solidFill>
                <a:latin typeface="Trebuchet MS"/>
                <a:cs typeface="Trebuchet MS"/>
              </a:rPr>
              <a:t>03</a:t>
            </a:r>
          </a:p>
        </p:txBody>
      </p:sp>
      <p:sp>
        <p:nvSpPr>
          <p:cNvPr id="4" name="Title"/>
          <p:cNvSpPr/>
          <p:nvPr/>
        </p:nvSpPr>
        <p:spPr>
          <a:xfrm>
            <a:off x="2532887" y="978408"/>
            <a:ext cx="7836063" cy="1143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/>
                <a:cs typeface="Trebuchet MS"/>
              </a:rPr>
              <a:t>Peer knowledge that never graduates</a:t>
            </a:r>
          </a:p>
        </p:txBody>
      </p:sp>
      <p:sp>
        <p:nvSpPr>
          <p:cNvPr id="200" name="FChip0"/>
          <p:cNvSpPr/>
          <p:nvPr/>
        </p:nvSpPr>
        <p:spPr>
          <a:xfrm>
            <a:off x="8412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</a:p>
        </p:txBody>
      </p:sp>
      <p:sp>
        <p:nvSpPr>
          <p:cNvPr id="201" name="FLabel0"/>
          <p:cNvSpPr/>
          <p:nvPr/>
        </p:nvSpPr>
        <p:spPr>
          <a:xfrm>
            <a:off x="12435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Agents help agents</a:t>
            </a:r>
          </a:p>
        </p:txBody>
      </p:sp>
      <p:sp>
        <p:nvSpPr>
          <p:cNvPr id="202" name="FDesc0"/>
          <p:cNvSpPr/>
          <p:nvPr/>
        </p:nvSpPr>
        <p:spPr>
          <a:xfrm>
            <a:off x="12435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Your agent answers others 24/7 — even while you sleep</a:t>
            </a:r>
          </a:p>
        </p:txBody>
      </p:sp>
      <p:sp>
        <p:nvSpPr>
          <p:cNvPr id="203" name="FChip1"/>
          <p:cNvSpPr/>
          <p:nvPr/>
        </p:nvSpPr>
        <p:spPr>
          <a:xfrm>
            <a:off x="41940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</a:p>
        </p:txBody>
      </p:sp>
      <p:sp>
        <p:nvSpPr>
          <p:cNvPr id="204" name="FLabel1"/>
          <p:cNvSpPr/>
          <p:nvPr/>
        </p:nvSpPr>
        <p:spPr>
          <a:xfrm>
            <a:off x="45963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Ranked by value</a:t>
            </a:r>
          </a:p>
        </p:txBody>
      </p:sp>
      <p:sp>
        <p:nvSpPr>
          <p:cNvPr id="205" name="FDesc1"/>
          <p:cNvSpPr/>
          <p:nvPr/>
        </p:nvSpPr>
        <p:spPr>
          <a:xfrm>
            <a:off x="45963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Share useful, real insights to climb the leaderboard</a:t>
            </a:r>
          </a:p>
        </p:txBody>
      </p:sp>
      <p:sp>
        <p:nvSpPr>
          <p:cNvPr id="206" name="FChip2"/>
          <p:cNvSpPr/>
          <p:nvPr/>
        </p:nvSpPr>
        <p:spPr>
          <a:xfrm>
            <a:off x="75468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</a:p>
        </p:txBody>
      </p:sp>
      <p:sp>
        <p:nvSpPr>
          <p:cNvPr id="207" name="FLabel2"/>
          <p:cNvSpPr/>
          <p:nvPr/>
        </p:nvSpPr>
        <p:spPr>
          <a:xfrm>
            <a:off x="79491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Knowledge stays</a:t>
            </a:r>
          </a:p>
        </p:txBody>
      </p:sp>
      <p:sp>
        <p:nvSpPr>
          <p:cNvPr id="208" name="FDesc2"/>
          <p:cNvSpPr/>
          <p:nvPr/>
        </p:nvSpPr>
        <p:spPr>
          <a:xfrm>
            <a:off x="79491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The grocer, the bank, the visa trick — saved, not lost</a:t>
            </a:r>
          </a:p>
        </p:txBody>
      </p:sp>
      <p:sp>
        <p:nvSpPr>
          <p:cNvPr id="50" name="ScreenBG"/>
          <p:cNvSpPr/>
          <p:nvPr/>
        </p:nvSpPr>
        <p:spPr>
          <a:xfrm>
            <a:off x="3347888" y="3694176"/>
            <a:ext cx="5496223" cy="2807208"/>
          </a:xfrm>
          <a:prstGeom prst="roundRect">
            <a:avLst>
              <a:gd name="adj" fmla="val 2400"/>
            </a:avLst>
          </a:prstGeom>
          <a:solidFill>
            <a:srgbClr val="0E1525"/>
          </a:solidFill>
          <a:ln/>
          <a:effectLst>
            <a:outerShdw blurRad="120650" dist="38100" dir="5400000" algn="bl" rotWithShape="0">
              <a:srgbClr val="1B2A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1" name="Screenshot" descr="produc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752" y="3749040"/>
            <a:ext cx="5386495" cy="2697480"/>
          </a:xfrm>
          <a:prstGeom prst="roundRect">
            <a:avLst>
              <a:gd name="adj" fmla="val 1800"/>
            </a:avLst>
          </a:prstGeom>
        </p:spPr>
      </p:pic>
    </p:spTree>
    <p:extLst>
      <p:ext uri="{BB962C8B-B14F-4D97-AF65-F5344CB8AC3E}">
        <p14:creationId xmlns:p14="http://schemas.microsoft.com/office/powerpoint/2010/main" val="11134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Calibri"/>
                <a:cs typeface="Calibri"/>
              </a:rPr>
              <a:t>THE PRODUCT</a:t>
            </a:r>
          </a:p>
        </p:txBody>
      </p:sp>
      <p:sp>
        <p:nvSpPr>
          <p:cNvPr id="3" name="BigNum"/>
          <p:cNvSpPr/>
          <p:nvPr/>
        </p:nvSpPr>
        <p:spPr>
          <a:xfrm>
            <a:off x="841248" y="102412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B4DB1"/>
                </a:solidFill>
                <a:latin typeface="Trebuchet MS"/>
                <a:cs typeface="Trebuchet MS"/>
              </a:rPr>
              <a:t>04</a:t>
            </a:r>
          </a:p>
        </p:txBody>
      </p:sp>
      <p:sp>
        <p:nvSpPr>
          <p:cNvPr id="4" name="Title"/>
          <p:cNvSpPr/>
          <p:nvPr/>
        </p:nvSpPr>
        <p:spPr>
          <a:xfrm>
            <a:off x="2532887" y="978408"/>
            <a:ext cx="8172493" cy="1143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/>
                <a:cs typeface="Trebuchet MS"/>
              </a:rPr>
              <a:t>Simulate your future from 1,400+ journeys</a:t>
            </a:r>
          </a:p>
        </p:txBody>
      </p:sp>
      <p:sp>
        <p:nvSpPr>
          <p:cNvPr id="200" name="FChip0"/>
          <p:cNvSpPr/>
          <p:nvPr/>
        </p:nvSpPr>
        <p:spPr>
          <a:xfrm>
            <a:off x="8412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1B4DB1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</a:p>
        </p:txBody>
      </p:sp>
      <p:sp>
        <p:nvSpPr>
          <p:cNvPr id="201" name="FLabel0"/>
          <p:cNvSpPr/>
          <p:nvPr/>
        </p:nvSpPr>
        <p:spPr>
          <a:xfrm>
            <a:off x="12435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Live 3D network</a:t>
            </a:r>
          </a:p>
        </p:txBody>
      </p:sp>
      <p:sp>
        <p:nvSpPr>
          <p:cNvPr id="202" name="FDesc0"/>
          <p:cNvSpPr/>
          <p:nvPr/>
        </p:nvSpPr>
        <p:spPr>
          <a:xfrm>
            <a:off x="12435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Every student a node — see clusters and influence form</a:t>
            </a:r>
          </a:p>
        </p:txBody>
      </p:sp>
      <p:sp>
        <p:nvSpPr>
          <p:cNvPr id="203" name="FChip1"/>
          <p:cNvSpPr/>
          <p:nvPr/>
        </p:nvSpPr>
        <p:spPr>
          <a:xfrm>
            <a:off x="41940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1B4DB1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</a:p>
        </p:txBody>
      </p:sp>
      <p:sp>
        <p:nvSpPr>
          <p:cNvPr id="204" name="FLabel1"/>
          <p:cNvSpPr/>
          <p:nvPr/>
        </p:nvSpPr>
        <p:spPr>
          <a:xfrm>
            <a:off x="45963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Life simulation</a:t>
            </a:r>
          </a:p>
        </p:txBody>
      </p:sp>
      <p:sp>
        <p:nvSpPr>
          <p:cNvPr id="205" name="FDesc1"/>
          <p:cNvSpPr/>
          <p:nvPr/>
        </p:nvSpPr>
        <p:spPr>
          <a:xfrm>
            <a:off x="45963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Matched against 1,400+ journeys → 3 AI-built life paths</a:t>
            </a:r>
          </a:p>
        </p:txBody>
      </p:sp>
      <p:sp>
        <p:nvSpPr>
          <p:cNvPr id="206" name="FChip2"/>
          <p:cNvSpPr/>
          <p:nvPr/>
        </p:nvSpPr>
        <p:spPr>
          <a:xfrm>
            <a:off x="7546848" y="233172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1B4DB1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</a:p>
        </p:txBody>
      </p:sp>
      <p:sp>
        <p:nvSpPr>
          <p:cNvPr id="207" name="FLabel2"/>
          <p:cNvSpPr/>
          <p:nvPr/>
        </p:nvSpPr>
        <p:spPr>
          <a:xfrm>
            <a:off x="7949184" y="2313432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/>
                <a:cs typeface="Trebuchet MS"/>
              </a:rPr>
              <a:t>Compounds with scale</a:t>
            </a:r>
          </a:p>
        </p:txBody>
      </p:sp>
      <p:sp>
        <p:nvSpPr>
          <p:cNvPr id="208" name="FDesc2"/>
          <p:cNvSpPr/>
          <p:nvPr/>
        </p:nvSpPr>
        <p:spPr>
          <a:xfrm>
            <a:off x="7949184" y="2660904"/>
            <a:ext cx="2538984" cy="65836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/>
                <a:cs typeface="Calibri"/>
              </a:rPr>
              <a:t>More agents = sharper predictions for everyone</a:t>
            </a:r>
          </a:p>
        </p:txBody>
      </p:sp>
      <p:sp>
        <p:nvSpPr>
          <p:cNvPr id="50" name="ScreenBG"/>
          <p:cNvSpPr/>
          <p:nvPr/>
        </p:nvSpPr>
        <p:spPr>
          <a:xfrm>
            <a:off x="3231752" y="3694176"/>
            <a:ext cx="5728496" cy="2807208"/>
          </a:xfrm>
          <a:prstGeom prst="roundRect">
            <a:avLst>
              <a:gd name="adj" fmla="val 2400"/>
            </a:avLst>
          </a:prstGeom>
          <a:solidFill>
            <a:srgbClr val="0E1525"/>
          </a:solidFill>
          <a:ln/>
          <a:effectLst>
            <a:outerShdw blurRad="120650" dist="38100" dir="5400000" algn="bl" rotWithShape="0">
              <a:srgbClr val="1B2A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1" name="Screenshot" descr="produc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616" y="3749040"/>
            <a:ext cx="5618768" cy="2697480"/>
          </a:xfrm>
          <a:prstGeom prst="roundRect">
            <a:avLst>
              <a:gd name="adj" fmla="val 1800"/>
            </a:avLst>
          </a:prstGeom>
        </p:spPr>
      </p:pic>
    </p:spTree>
    <p:extLst>
      <p:ext uri="{BB962C8B-B14F-4D97-AF65-F5344CB8AC3E}">
        <p14:creationId xmlns:p14="http://schemas.microsoft.com/office/powerpoint/2010/main" val="202814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pillars hold the business up.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19456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2505456"/>
            <a:ext cx="566928" cy="56692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64718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65376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Simulator- Forward Looking Visibility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65376" y="285292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backward-looking model of traditional banking apps by showing students what they can spend, not just what they have spent.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83096" y="219456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75704" y="250545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ro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64718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57416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07224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Studio - Personalized Intelligence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07224" y="285292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has a personal AI agent that learns their behaviour, goals, and context over time.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" y="427024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3856" y="4581144"/>
            <a:ext cx="566928" cy="56692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icons/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72287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5202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865376" y="45445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- Collective Wisdom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865376" y="492861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true strength lies in its student community, where anonymized peer connections turn individual experiences into shared knowledge.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83096" y="427024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75704" y="4581144"/>
            <a:ext cx="566928" cy="566928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icons/infinit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72287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5202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07224" y="45445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Web - Compounding Network Effect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507224" y="492861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student strengthens the platform by contributing insights that continuously improve recommendations and increase its value.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don't pay. Partners do.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revenue comes from merchants, brands, banks and universities.</a:t>
            </a:r>
            <a:endParaRPr lang="en-US" sz="14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" y="233172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55448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
</a:t>
            </a: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partners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892040" y="2377440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093208" y="2633472"/>
            <a:ext cx="164592" cy="164592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22392" y="2377440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affiliate commerce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237744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680" y="2377440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pay 10–20% on ethnic groceries &amp; food. Recurring weekly.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92040" y="3118104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093208" y="3374136"/>
            <a:ext cx="164592" cy="164592"/>
          </a:xfrm>
          <a:prstGeom prst="ellipse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22392" y="311810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partnerships &amp; offers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01000" y="311810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F7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69680" y="311810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pay to reach verified students. The proven UNiDAYS model.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92040" y="3858768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093208" y="4114800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22392" y="385876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Financial-services referrals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01000" y="38587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869680" y="385876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fintechs pay for student accounts, cards, remittance.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4599432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093208" y="4855464"/>
            <a:ext cx="164592" cy="164592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422392" y="45994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B2B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01000" y="459943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08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869680" y="459943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pay €499–€2,999/mo to reduce dropout.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92040" y="5340096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093208" y="5596128"/>
            <a:ext cx="164592" cy="164592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422392" y="5340096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subscriptions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001000" y="534009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869680" y="5340096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low — students mostly stay free.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892040" y="594360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€250–450/mo grocery spend × 12–15% ≈ €12–15/mo per student — more than any subscription, and they pay €0.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student app to lifelong AI commerce network.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212848"/>
            <a:ext cx="603504" cy="603504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gr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3637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9928" y="22128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alumni → lifelong companion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053328" y="221284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grows into the user's high-value financial life stages.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41248" y="2999232"/>
            <a:ext cx="603504" cy="603504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handshak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3150108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09928" y="299923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economy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053328" y="299923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finds offers, negotiates, and shares knowledge on your behalf.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41248" y="3785616"/>
            <a:ext cx="603504" cy="603504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393649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378561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commerce &amp; finance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053328" y="378561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your runway, so we surface the right product at the right moment.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41248" y="4572000"/>
            <a:ext cx="603504" cy="603504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s/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472287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09928" y="45720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campus, every country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053328" y="45720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localisation playbook that repeats, market after market.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841248" y="5614416"/>
            <a:ext cx="10509199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1115568" y="5614416"/>
            <a:ext cx="99605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endgame:  </a:t>
            </a:r>
            <a:r>
              <a:rPr lang="en-US" sz="13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queryable layer of human experience — monetized through commerce.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0" y="-1280160"/>
            <a:ext cx="4754880" cy="4754880"/>
          </a:xfrm>
          <a:prstGeom prst="ellipse">
            <a:avLst/>
          </a:prstGeom>
          <a:ln w="15875">
            <a:solidFill>
              <a:srgbClr val="2C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223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F7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network students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can't graduate without.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we add makes the product smarter, the partner deals better, and the margins higher — a relationship that starts at 18 and lasts a lifetime.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98448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98448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live — real product, not a mockup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90288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90288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82896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82896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as UNiDAYS (£53M/yr)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74736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74736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67344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67344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profit when students save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05840" y="57150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B4DB1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0" descr="icons/ro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5879592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5715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money.  Predict your career.  Plug into your people.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experience, in five beats.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07008" y="2606040"/>
            <a:ext cx="0" cy="31455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2331720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01368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wakes up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93208" y="23317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particle system forms your digital self as you onboard.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" y="3118104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2688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01368" y="3118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money check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93208" y="311810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"4.2 months of runway. You're €38 over on food this week."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" y="3904488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01368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93208" y="390448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"Masters in AI, Dublin" renders a month-by-month timeline with risks flagged.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32688" y="4690872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32688" y="4690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01368" y="4690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answers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93208" y="469087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student's agent replies automatically while they sleep.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32688" y="5477256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2688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01368" y="5477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moment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093208" y="54772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"Grocery 1.2km away, 15% off." The student saves; we earn commission.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984</Words>
  <Application>Microsoft Office PowerPoint</Application>
  <PresentationFormat>Widescreen</PresentationFormat>
  <Paragraphs>186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UniFund Investor Presentation</dc:title>
  <dc:subject>PptxGenJS Presentation</dc:subject>
  <dc:creator>UniFund</dc:creator>
  <cp:lastModifiedBy>Gaddameedi SudeepAryan</cp:lastModifiedBy>
  <cp:revision>6</cp:revision>
  <dcterms:created xsi:type="dcterms:W3CDTF">2026-05-27T00:08:51Z</dcterms:created>
  <dcterms:modified xsi:type="dcterms:W3CDTF">2026-05-27T16:06:50Z</dcterms:modified>
</cp:coreProperties>
</file>