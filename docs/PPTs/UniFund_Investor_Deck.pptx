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Archivo"/>
      <p:regular r:id="rId16"/>
      <p:bold r:id="rId17"/>
    </p:embeddedFont>
    <p:embeddedFont>
      <p:font typeface="Libre Franklin" pitchFamily="2" charset="0"/>
      <p:regular r:id="rId18"/>
      <p:bold r:id="rId19"/>
      <p:italic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D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25A-485F-9A5A-2B13E1136786}"/>
              </c:ext>
            </c:extLst>
          </c:dPt>
          <c:dPt>
            <c:idx val="1"/>
            <c:bubble3D val="0"/>
            <c:spPr>
              <a:solidFill>
                <a:srgbClr val="4F75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25A-485F-9A5A-2B13E1136786}"/>
              </c:ext>
            </c:extLst>
          </c:dPt>
          <c:dPt>
            <c:idx val="2"/>
            <c:bubble3D val="0"/>
            <c:spPr>
              <a:solidFill>
                <a:srgbClr val="0E7C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25A-485F-9A5A-2B13E1136786}"/>
              </c:ext>
            </c:extLst>
          </c:dPt>
          <c:dPt>
            <c:idx val="3"/>
            <c:bubble3D val="0"/>
            <c:spPr>
              <a:solidFill>
                <a:srgbClr val="C08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25A-485F-9A5A-2B13E1136786}"/>
              </c:ext>
            </c:extLst>
          </c:dPt>
          <c:dPt>
            <c:idx val="4"/>
            <c:bubble3D val="0"/>
            <c:spPr>
              <a:solidFill>
                <a:srgbClr val="8A93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25A-485F-9A5A-2B13E1136786}"/>
              </c:ext>
            </c:extLst>
          </c:dPt>
          <c:cat>
            <c:strRef>
              <c:f>Sheet1!$A$2:$A$6</c:f>
              <c:strCache>
                <c:ptCount val="5"/>
                <c:pt idx="0">
                  <c:v>Hyper-local affiliate commerce</c:v>
                </c:pt>
                <c:pt idx="1">
                  <c:v>Brand partnerships &amp; offers</c:v>
                </c:pt>
                <c:pt idx="2">
                  <c:v>Financial-services referrals</c:v>
                </c:pt>
                <c:pt idx="3">
                  <c:v>Institutional B2B</c:v>
                </c:pt>
                <c:pt idx="4">
                  <c:v>Student subscriptions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22</c:v>
                </c:pt>
                <c:pt idx="2">
                  <c:v>20</c:v>
                </c:pt>
                <c:pt idx="3">
                  <c:v>16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25A-485F-9A5A-2B13E11367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142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95360" y="-1463040"/>
            <a:ext cx="5120640" cy="5120640"/>
          </a:xfrm>
          <a:prstGeom prst="ellipse">
            <a:avLst/>
          </a:prstGeom>
          <a:ln w="15875">
            <a:solidFill>
              <a:srgbClr val="2C3F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784080" y="1280160"/>
            <a:ext cx="3840480" cy="3840480"/>
          </a:xfrm>
          <a:prstGeom prst="ellipse">
            <a:avLst/>
          </a:prstGeom>
          <a:ln w="12700">
            <a:solidFill>
              <a:srgbClr val="263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881360" y="3931920"/>
            <a:ext cx="2743200" cy="2743200"/>
          </a:xfrm>
          <a:prstGeom prst="ellipse">
            <a:avLst/>
          </a:prstGeom>
          <a:solidFill>
            <a:srgbClr val="2232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4F75C9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INVESTOR PRESENTATION ·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kern="0" spc="1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UNIFUND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Predict your career.</a:t>
            </a:r>
            <a:r>
              <a:rPr lang="en-US" sz="2100" dirty="0">
                <a:solidFill>
                  <a:srgbClr val="C7D3E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  Protect your money.   Plug into your people.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24128" y="4343400"/>
            <a:ext cx="4023360" cy="0"/>
          </a:xfrm>
          <a:prstGeom prst="line">
            <a:avLst/>
          </a:prstGeom>
          <a:noFill/>
          <a:ln w="25400">
            <a:solidFill>
              <a:srgbClr val="1B4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58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8BA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Confidential — for discussion purposes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Advice is broken. Money is scary.</a:t>
            </a:r>
            <a:endParaRPr lang="en-US" sz="33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Student knowledge dies every year.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1248" y="233172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33856" y="2642616"/>
            <a:ext cx="566928" cy="566928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icons/sav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88" y="2784348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" y="3264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DB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865376" y="260604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Lack of saving motivation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865376" y="2990088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Students struggle to consistently save without accountability or incentives.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83096" y="233172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775704" y="264261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1" descr="icons/compas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436" y="2784348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57416" y="3264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507224" y="260604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Career blindness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7507224" y="2990088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Students invest significant time and substantial financial resources in a path whose outcomes remain uncertain.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41248" y="4407408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1133856" y="4718304"/>
            <a:ext cx="566928" cy="566928"/>
          </a:xfrm>
          <a:prstGeom prst="ellipse">
            <a:avLst/>
          </a:prstGeom>
          <a:solidFill>
            <a:srgbClr val="C08A2E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2" descr="icons/isolatio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588" y="4860036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15568" y="53400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A2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865376" y="468172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Isolation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1865376" y="5065776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They begin with limited professional networks and without access to mentors who have navigated a similar path.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83096" y="4407408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6775704" y="4718304"/>
            <a:ext cx="566928" cy="566928"/>
          </a:xfrm>
          <a:prstGeom prst="ellipse">
            <a:avLst/>
          </a:prstGeom>
          <a:solidFill>
            <a:srgbClr val="4F75C9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3" descr="icons/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860036"/>
            <a:ext cx="283464" cy="28346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57416" y="53400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75C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507224" y="468172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Lost knowledge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7507224" y="5065776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student who found the cheap grocer, the right bank, the visa trick once they graduate, it is gone.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AI agent per student. Three engines.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9544" y="2448867"/>
            <a:ext cx="3456432" cy="320040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9544" y="2448867"/>
            <a:ext cx="3456432" cy="82296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36744" y="2832915"/>
            <a:ext cx="749808" cy="749808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0" descr="icons/cha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4196" y="3020367"/>
            <a:ext cx="374904" cy="3749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36744" y="3747315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DB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036744" y="4204515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Career Simulation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036744" y="4661715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Type your plan and see a month-by-month prediction, built from thousands who already did it.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577072" y="2423160"/>
            <a:ext cx="3456432" cy="320040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8577072" y="2423160"/>
            <a:ext cx="3456432" cy="82296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9034272" y="2807208"/>
            <a:ext cx="749808" cy="749808"/>
          </a:xfrm>
          <a:prstGeom prst="ellipse">
            <a:avLst/>
          </a:prstGeom>
          <a:solidFill>
            <a:srgbClr val="C08A2E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2" descr="icons/networ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1724" y="2994660"/>
            <a:ext cx="374904" cy="37490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034272" y="37216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8A2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9034272" y="417880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Community Knowledge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9034272" y="4636008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Students' agents share knowledge automatically the network that compounds.</a:t>
            </a:r>
            <a:endParaRPr lang="en-US" sz="1250" dirty="0"/>
          </a:p>
        </p:txBody>
      </p:sp>
      <p:sp>
        <p:nvSpPr>
          <p:cNvPr id="29" name="Shape 12"/>
          <p:cNvSpPr/>
          <p:nvPr/>
        </p:nvSpPr>
        <p:spPr>
          <a:xfrm>
            <a:off x="582016" y="2423160"/>
            <a:ext cx="3456432" cy="320040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13"/>
          <p:cNvSpPr/>
          <p:nvPr/>
        </p:nvSpPr>
        <p:spPr>
          <a:xfrm>
            <a:off x="582016" y="2423160"/>
            <a:ext cx="3456432" cy="82296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14"/>
          <p:cNvSpPr/>
          <p:nvPr/>
        </p:nvSpPr>
        <p:spPr>
          <a:xfrm>
            <a:off x="1039216" y="2807208"/>
            <a:ext cx="749808" cy="74980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Image 1" descr="icons/walle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668" y="2994660"/>
            <a:ext cx="374904" cy="374904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1039216" y="37216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2200" dirty="0"/>
          </a:p>
        </p:txBody>
      </p:sp>
      <p:sp>
        <p:nvSpPr>
          <p:cNvPr id="34" name="Text 16"/>
          <p:cNvSpPr/>
          <p:nvPr/>
        </p:nvSpPr>
        <p:spPr>
          <a:xfrm>
            <a:off x="1039216" y="417880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Money &amp; Runway</a:t>
            </a:r>
            <a:endParaRPr lang="en-US" sz="1700" dirty="0"/>
          </a:p>
        </p:txBody>
      </p:sp>
      <p:sp>
        <p:nvSpPr>
          <p:cNvPr id="35" name="Text 17"/>
          <p:cNvSpPr/>
          <p:nvPr/>
        </p:nvSpPr>
        <p:spPr>
          <a:xfrm>
            <a:off x="1039216" y="4636008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Tracks spending and shows exactly how many months of runway remain the daily habit.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40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B4DB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B4DB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896112" y="3127248"/>
            <a:ext cx="1188720" cy="0"/>
          </a:xfrm>
          <a:prstGeom prst="line">
            <a:avLst/>
          </a:prstGeom>
          <a:noFill/>
          <a:ln w="31750">
            <a:solidFill>
              <a:srgbClr val="1B4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33101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B2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Forward-Looking Visibility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" y="416052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Replaces the backward-looking model of traditional banking apps by showing students what they can spend, not just what they have spent.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1051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1051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FINANCIAL RUNWAY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06342" y="1879518"/>
            <a:ext cx="7123176" cy="3512337"/>
          </a:xfrm>
          <a:prstGeom prst="roundRect">
            <a:avLst>
              <a:gd name="adj" fmla="val 2083"/>
            </a:avLst>
          </a:prstGeom>
          <a:solidFill>
            <a:srgbClr val="0E1525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assets/runway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070" y="1989246"/>
            <a:ext cx="6903720" cy="32928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40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B4DB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E7C7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896112" y="3127248"/>
            <a:ext cx="1188720" cy="0"/>
          </a:xfrm>
          <a:prstGeom prst="line">
            <a:avLst/>
          </a:prstGeom>
          <a:noFill/>
          <a:ln w="317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33101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B2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Agent Studio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" y="416052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Every student has a personal AI agent that learns their behaviour, goals, and context over time — building an identity that grows with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10515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10515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AGENT STUDIO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6999" y="1692516"/>
            <a:ext cx="7123176" cy="3564408"/>
          </a:xfrm>
          <a:prstGeom prst="roundRect">
            <a:avLst>
              <a:gd name="adj" fmla="val 2052"/>
            </a:avLst>
          </a:prstGeom>
          <a:solidFill>
            <a:srgbClr val="0E1525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assets/agent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727" y="1802244"/>
            <a:ext cx="6903720" cy="3344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40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B4DB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C08A2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896112" y="3127248"/>
            <a:ext cx="1188720" cy="0"/>
          </a:xfrm>
          <a:prstGeom prst="line">
            <a:avLst/>
          </a:prstGeom>
          <a:noFill/>
          <a:ln w="31750">
            <a:solidFill>
              <a:srgbClr val="C08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33101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B2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Community Knowledge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" y="416052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platform's true strength lies in its student community, where anonymized peer connections transform individual experiences into shared knowledge.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10515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10515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COMMUNITY HUB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6999" y="1636350"/>
            <a:ext cx="7123176" cy="3676741"/>
          </a:xfrm>
          <a:prstGeom prst="roundRect">
            <a:avLst>
              <a:gd name="adj" fmla="val 1990"/>
            </a:avLst>
          </a:prstGeom>
          <a:solidFill>
            <a:srgbClr val="0E1525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assets/community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727" y="1746078"/>
            <a:ext cx="6903720" cy="34572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40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B4DB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41248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4F75C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896112" y="3127248"/>
            <a:ext cx="1188720" cy="0"/>
          </a:xfrm>
          <a:prstGeom prst="line">
            <a:avLst/>
          </a:prstGeom>
          <a:noFill/>
          <a:ln w="31750">
            <a:solidFill>
              <a:srgbClr val="4F75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33101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B2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Compounding Network Effect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" y="416052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Each new student strengthens the platform by contributing insights that continuously improve recommendations and increase its value over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10515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10515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AGENTIC WEB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6999" y="1707810"/>
            <a:ext cx="7123176" cy="3533821"/>
          </a:xfrm>
          <a:prstGeom prst="roundRect">
            <a:avLst>
              <a:gd name="adj" fmla="val 2070"/>
            </a:avLst>
          </a:prstGeom>
          <a:solidFill>
            <a:srgbClr val="0E1525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assets/network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727" y="1817538"/>
            <a:ext cx="6903720" cy="3314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Four pillars hold the business up.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1248" y="219456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33856" y="2505456"/>
            <a:ext cx="566928" cy="566928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icons/ey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88" y="2647188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" y="31272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DB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865376" y="246888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Forward-Looking Visibility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865376" y="2852928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Replaces the backward-looking model of traditional banking apps by showing students what they can spend, not just what they have spent.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83096" y="219456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775704" y="250545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1" descr="icons/ro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436" y="2647188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57416" y="31272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507224" y="246888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Personalized Intelligence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7507224" y="2852928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Every student has a personal AI agent that learns their behaviour, goals, and context over time.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41248" y="4270248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1133856" y="4581144"/>
            <a:ext cx="566928" cy="566928"/>
          </a:xfrm>
          <a:prstGeom prst="ellipse">
            <a:avLst/>
          </a:prstGeom>
          <a:solidFill>
            <a:srgbClr val="C08A2E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2" descr="icons/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588" y="4722876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15568" y="52029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A2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865376" y="454456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Collective Wisdom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1865376" y="4928616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platform's true strength lies in its student community, where anonymized peer connections turn individual experiences into shared knowledge.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83096" y="4270248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6775704" y="4581144"/>
            <a:ext cx="566928" cy="566928"/>
          </a:xfrm>
          <a:prstGeom prst="ellipse">
            <a:avLst/>
          </a:prstGeom>
          <a:solidFill>
            <a:srgbClr val="4F75C9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3" descr="icons/infinit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722876"/>
            <a:ext cx="283464" cy="28346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57416" y="52029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75C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507224" y="454456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Compounding Network Effect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7507224" y="4928616"/>
            <a:ext cx="38587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Each new student strengthens the platform by contributing insights that continuously improve recommendations and increase its value.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PRODUCT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experience, in five beats.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207008" y="2606040"/>
            <a:ext cx="0" cy="314553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32688" y="2331720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01368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Agent wakes up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093208" y="23317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3D particle system forms your digital self as you onboard.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32688" y="3118104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32688" y="3118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01368" y="31181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Daily money check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93208" y="311810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"4.2 months of runway. You're €38 over on food this week."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2688" y="3904488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32688" y="3904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01368" y="3904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Career simulation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093208" y="390448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"Masters in AI, Dublin" renders a month-by-month timeline with risks flagged.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32688" y="4690872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32688" y="4690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01368" y="46908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Community answers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093208" y="469087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Another student's agent replies automatically while they sleep.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32688" y="5477256"/>
            <a:ext cx="548640" cy="548640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32688" y="5477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01368" y="54772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Marketplace moment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093208" y="547725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"Grocery 1.2km away, 15% off." The student saves; we earn commission.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REVENUE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Students don't pay. Partners do.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88% of revenue comes from merchants, brands, banks and universities.</a:t>
            </a:r>
            <a:endParaRPr lang="en-US" sz="14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02920" y="2331720"/>
          <a:ext cx="3931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1554480" y="3657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B4DB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88%
</a:t>
            </a:r>
            <a:r>
              <a:rPr lang="en-US" sz="11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from partners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4892040" y="2377440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093208" y="2633472"/>
            <a:ext cx="164592" cy="164592"/>
          </a:xfrm>
          <a:prstGeom prst="ellipse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422392" y="2377440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Hyper-local affiliate commerce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01000" y="2377440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4DB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30%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69680" y="2377440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Merchants pay 10–20% on ethnic groceries &amp; food. Recurring weekly.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92040" y="3118104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5093208" y="3374136"/>
            <a:ext cx="164592" cy="164592"/>
          </a:xfrm>
          <a:prstGeom prst="ellipse">
            <a:avLst/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422392" y="3118104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Brand partnerships &amp; offers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001000" y="3118104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F75C9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22%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869680" y="311810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Brands pay to reach verified students. The proven UNiDAYS model.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892040" y="3858768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5093208" y="4114800"/>
            <a:ext cx="164592" cy="164592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422392" y="385876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Financial-services referrals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001000" y="3858768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7C7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869680" y="385876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Banks and fintechs pay for student accounts, cards, remittance.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892040" y="4599432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5093208" y="4855464"/>
            <a:ext cx="164592" cy="164592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422392" y="459943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Institutional B2B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001000" y="4599432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08A2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16%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869680" y="4599432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Universities pay €499–€2,999/mo to reduce dropout.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892040" y="5340096"/>
            <a:ext cx="6446520" cy="676656"/>
          </a:xfrm>
          <a:prstGeom prst="roundRect">
            <a:avLst>
              <a:gd name="adj" fmla="val 540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5093208" y="5596128"/>
            <a:ext cx="164592" cy="164592"/>
          </a:xfrm>
          <a:prstGeom prst="ellipse">
            <a:avLst/>
          </a:prstGeom>
          <a:solidFill>
            <a:srgbClr val="8A93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422392" y="5340096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Student subscriptions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001000" y="5340096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A93A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12%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869680" y="5340096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Kept low — students mostly stay free.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892040" y="5943600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C08A2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€250–450/mo grocery spend × 12–15% ≈ €12–15/mo per student — more than any subscription, and they pay €0.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4DB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41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B2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From student app to lifelong AI commerce network.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6419088"/>
            <a:ext cx="1050919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UniFund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Investor Presentation ·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3604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1248" y="2212848"/>
            <a:ext cx="603504" cy="603504"/>
          </a:xfrm>
          <a:prstGeom prst="ellipse">
            <a:avLst/>
          </a:prstGeom>
          <a:solidFill>
            <a:srgbClr val="1B4DB1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icons/gra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36372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09928" y="221284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Student → alumni → lifelong companion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053328" y="2212848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agent grows into the user's high-value financial life stages.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41248" y="2999232"/>
            <a:ext cx="603504" cy="603504"/>
          </a:xfrm>
          <a:prstGeom prst="ellipse">
            <a:avLst/>
          </a:prstGeom>
          <a:solidFill>
            <a:srgbClr val="0E7C7B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handshak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3150108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09928" y="299923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agent economy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053328" y="2999232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Your agent finds offers, negotiates, and shares knowledge on your behalf.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41248" y="3785616"/>
            <a:ext cx="603504" cy="603504"/>
          </a:xfrm>
          <a:prstGeom prst="ellipse">
            <a:avLst/>
          </a:prstGeom>
          <a:solidFill>
            <a:srgbClr val="C08A2E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2" descr="icons/bo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3936492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09928" y="378561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Predictive commerce &amp; finance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053328" y="3785616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We know your runway, so we surface the right product at the right moment.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41248" y="4572000"/>
            <a:ext cx="603504" cy="603504"/>
          </a:xfrm>
          <a:prstGeom prst="ellipse">
            <a:avLst/>
          </a:prstGeom>
          <a:solidFill>
            <a:srgbClr val="4F75C9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3" descr="icons/glob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" y="472287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09928" y="457200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Every campus, every country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053328" y="457200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localisation playbook that repeats, market after market.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841248" y="5614416"/>
            <a:ext cx="10509199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1115568" y="5614416"/>
            <a:ext cx="99605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endgame:  </a:t>
            </a:r>
            <a:r>
              <a:rPr lang="en-US" sz="1350" dirty="0">
                <a:solidFill>
                  <a:srgbClr val="C7D3E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queryable layer of human experience — monetized through commerce.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144000" y="-1280160"/>
            <a:ext cx="4754880" cy="4754880"/>
          </a:xfrm>
          <a:prstGeom prst="ellipse">
            <a:avLst/>
          </a:prstGeom>
          <a:ln w="15875">
            <a:solidFill>
              <a:srgbClr val="2C3F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424160" y="3291840"/>
            <a:ext cx="3108960" cy="3108960"/>
          </a:xfrm>
          <a:prstGeom prst="ellipse">
            <a:avLst/>
          </a:prstGeom>
          <a:solidFill>
            <a:srgbClr val="2232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58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F75C9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network students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can't graduate without.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00" dirty="0">
                <a:solidFill>
                  <a:srgbClr val="C7D3EA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Every student we add makes the product smarter, the partner deals better, and the margins higher — a relationship that starts at 18 and lasts a lifetime.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411480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223252"/>
          </a:solidFill>
          <a:ln w="12700">
            <a:solidFill>
              <a:srgbClr val="334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05840" y="4114800"/>
            <a:ext cx="64008" cy="1234440"/>
          </a:xfrm>
          <a:prstGeom prst="rect">
            <a:avLst/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298448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Built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98448" y="4709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BD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Frontend live — real product, not a mockup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90288" y="411480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223252"/>
          </a:solidFill>
          <a:ln w="12700">
            <a:solidFill>
              <a:srgbClr val="334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90288" y="4114800"/>
            <a:ext cx="64008" cy="1234440"/>
          </a:xfrm>
          <a:prstGeom prst="rect">
            <a:avLst/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82896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Proven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82896" y="4709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BD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Same model as UNiDAYS (£53M/yr)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74736" y="411480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223252"/>
          </a:solidFill>
          <a:ln w="12700">
            <a:solidFill>
              <a:srgbClr val="334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174736" y="4114800"/>
            <a:ext cx="64008" cy="1234440"/>
          </a:xfrm>
          <a:prstGeom prst="rect">
            <a:avLst/>
          </a:prstGeom>
          <a:solidFill>
            <a:srgbClr val="4F75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67344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Aligned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67344" y="4709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BD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We profit when students save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05840" y="57150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B4DB1"/>
          </a:solidFill>
          <a:ln/>
          <a:effectLst>
            <a:outerShdw blurRad="1143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0" descr="icons/rock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5879592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00200" y="57150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Let's build this together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500" dirty="0">
                <a:solidFill>
                  <a:srgbClr val="1B4DB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UNIFUND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288036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B2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57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Predict your career.  Protect your money.  Plug into your people.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866</Words>
  <Application>Microsoft Office PowerPoint</Application>
  <PresentationFormat>Widescreen</PresentationFormat>
  <Paragraphs>157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Archivo</vt:lpstr>
      <vt:lpstr>Libre Franklin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UniFund Investor Presentation</dc:title>
  <dc:subject>PptxGenJS Presentation</dc:subject>
  <dc:creator>UniFund</dc:creator>
  <cp:lastModifiedBy>Gaddameedi SudeepAryan</cp:lastModifiedBy>
  <cp:revision>2</cp:revision>
  <dcterms:created xsi:type="dcterms:W3CDTF">2026-05-26T23:34:22Z</dcterms:created>
  <dcterms:modified xsi:type="dcterms:W3CDTF">2026-05-26T23:42:59Z</dcterms:modified>
</cp:coreProperties>
</file>