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per student (€/yr)</c:v>
                </c:pt>
              </c:strCache>
            </c:strRef>
          </c:tx>
          <c:spPr>
            <a:solidFill>
              <a:srgbClr val="00D68F"/>
            </a:solidFill>
            <a:ln w="44450" cap="flat">
              <a:solidFill>
                <a:srgbClr val="00D6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D68F"/>
              </a:solidFill>
              <a:ln w="9525" cap="flat">
                <a:solidFill>
                  <a:srgbClr val="00D6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1K</c:v>
                  </c:pt>
                  <c:pt idx="1">
                    <c:v>5K</c:v>
                  </c:pt>
                  <c:pt idx="2">
                    <c:v>20K</c:v>
                  </c:pt>
                  <c:pt idx="3">
                    <c:v>50K</c:v>
                  </c:pt>
                  <c:pt idx="4">
                    <c:v>100K</c:v>
                  </c:pt>
                  <c:pt idx="5">
                    <c:v>250K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130</c:v>
                </c:pt>
                <c:pt idx="2">
                  <c:v>168</c:v>
                </c:pt>
                <c:pt idx="3">
                  <c:v>205</c:v>
                </c:pt>
                <c:pt idx="4">
                  <c:v>240</c:v>
                </c:pt>
                <c:pt idx="5">
                  <c:v>285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B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2A3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68F"/>
              </a:solidFill>
              <a:ln w="25400" cap="flat">
                <a:solidFill>
                  <a:srgbClr val="070B1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C5CE7"/>
              </a:solidFill>
              <a:ln w="25400" cap="flat">
                <a:solidFill>
                  <a:srgbClr val="070B1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0D4F0"/>
              </a:solidFill>
              <a:ln w="25400" cap="flat">
                <a:solidFill>
                  <a:srgbClr val="070B1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7B731"/>
              </a:solidFill>
              <a:ln w="25400" cap="flat">
                <a:solidFill>
                  <a:srgbClr val="070B1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E6E9E"/>
              </a:solidFill>
              <a:ln w="25400" cap="flat">
                <a:solidFill>
                  <a:srgbClr val="070B1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Affiliate commerce</c:v>
                </c:pt>
                <c:pt idx="1">
                  <c:v>Brand partnerships</c:v>
                </c:pt>
                <c:pt idx="2">
                  <c:v>Financial referrals</c:v>
                </c:pt>
                <c:pt idx="3">
                  <c:v>Institutional B2B</c:v>
                </c:pt>
                <c:pt idx="4">
                  <c:v>Subscriptions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Affiliate + brands</c:v>
                </c:pt>
              </c:strCache>
            </c:strRef>
          </c:tx>
          <c:spPr>
            <a:solidFill>
              <a:srgbClr val="00D6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Y1</c:v>
                  </c:pt>
                  <c:pt idx="1">
                    <c:v>Q2 Y1</c:v>
                  </c:pt>
                  <c:pt idx="2">
                    <c:v>Q3 Y1</c:v>
                  </c:pt>
                  <c:pt idx="3">
                    <c:v>Q4 Y1</c:v>
                  </c:pt>
                  <c:pt idx="4">
                    <c:v>Q1 Y2</c:v>
                  </c:pt>
                  <c:pt idx="5">
                    <c:v>Q2 Y2</c:v>
                  </c:pt>
                  <c:pt idx="6">
                    <c:v>Q3 Y2</c:v>
                  </c:pt>
                  <c:pt idx="7">
                    <c:v>Q4 Y2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</c:v>
                </c:pt>
                <c:pt idx="1">
                  <c:v>9000</c:v>
                </c:pt>
                <c:pt idx="2">
                  <c:v>22000</c:v>
                </c:pt>
                <c:pt idx="3">
                  <c:v>44000</c:v>
                </c:pt>
                <c:pt idx="4">
                  <c:v>78000</c:v>
                </c:pt>
                <c:pt idx="5">
                  <c:v>132000</c:v>
                </c:pt>
                <c:pt idx="6">
                  <c:v>210000</c:v>
                </c:pt>
                <c:pt idx="7">
                  <c:v>320000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Financial + B2B</c:v>
                </c:pt>
              </c:strCache>
            </c:strRef>
          </c:tx>
          <c:spPr>
            <a:solidFill>
              <a:srgbClr val="00D4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Y1</c:v>
                  </c:pt>
                  <c:pt idx="1">
                    <c:v>Q2 Y1</c:v>
                  </c:pt>
                  <c:pt idx="2">
                    <c:v>Q3 Y1</c:v>
                  </c:pt>
                  <c:pt idx="3">
                    <c:v>Q4 Y1</c:v>
                  </c:pt>
                  <c:pt idx="4">
                    <c:v>Q1 Y2</c:v>
                  </c:pt>
                  <c:pt idx="5">
                    <c:v>Q2 Y2</c:v>
                  </c:pt>
                  <c:pt idx="6">
                    <c:v>Q3 Y2</c:v>
                  </c:pt>
                  <c:pt idx="7">
                    <c:v>Q4 Y2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2000</c:v>
                </c:pt>
                <c:pt idx="2">
                  <c:v>12000</c:v>
                </c:pt>
                <c:pt idx="3">
                  <c:v>38000</c:v>
                </c:pt>
                <c:pt idx="4">
                  <c:v>82000</c:v>
                </c:pt>
                <c:pt idx="5">
                  <c:v>150000</c:v>
                </c:pt>
                <c:pt idx="6">
                  <c:v>260000</c:v>
                </c:pt>
                <c:pt idx="7">
                  <c:v>410000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Subscriptions</c:v>
                </c:pt>
              </c:strCache>
            </c:strRef>
          </c:tx>
          <c:spPr>
            <a:solidFill>
              <a:srgbClr val="5E6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Y1</c:v>
                  </c:pt>
                  <c:pt idx="1">
                    <c:v>Q2 Y1</c:v>
                  </c:pt>
                  <c:pt idx="2">
                    <c:v>Q3 Y1</c:v>
                  </c:pt>
                  <c:pt idx="3">
                    <c:v>Q4 Y1</c:v>
                  </c:pt>
                  <c:pt idx="4">
                    <c:v>Q1 Y2</c:v>
                  </c:pt>
                  <c:pt idx="5">
                    <c:v>Q2 Y2</c:v>
                  </c:pt>
                  <c:pt idx="6">
                    <c:v>Q3 Y2</c:v>
                  </c:pt>
                  <c:pt idx="7">
                    <c:v>Q4 Y2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800</c:v>
                </c:pt>
                <c:pt idx="1">
                  <c:v>2400</c:v>
                </c:pt>
                <c:pt idx="2">
                  <c:v>6000</c:v>
                </c:pt>
                <c:pt idx="3">
                  <c:v>12000</c:v>
                </c:pt>
                <c:pt idx="4">
                  <c:v>20000</c:v>
                </c:pt>
                <c:pt idx="5">
                  <c:v>33000</c:v>
                </c:pt>
                <c:pt idx="6">
                  <c:v>52000</c:v>
                </c:pt>
                <c:pt idx="7">
                  <c:v>78000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9BC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01168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2011680" cy="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005840"/>
            <a:ext cx="219456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2286000" cy="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914400"/>
            <a:ext cx="201168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926080"/>
            <a:ext cx="228600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377440"/>
            <a:ext cx="237744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3108960"/>
            <a:ext cx="237744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560320"/>
            <a:ext cx="2377440" cy="6400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822960"/>
            <a:ext cx="640080" cy="21031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1280160" cy="21031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914400"/>
            <a:ext cx="1554480" cy="22860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937760"/>
            <a:ext cx="246888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5669280"/>
            <a:ext cx="237744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5120640"/>
            <a:ext cx="256032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5852160"/>
            <a:ext cx="2743200" cy="-8229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926080"/>
            <a:ext cx="-548640" cy="20116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108960"/>
            <a:ext cx="-365760" cy="20116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0" y="3200400"/>
            <a:ext cx="182880" cy="18288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5029200"/>
            <a:ext cx="-731520" cy="11887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73152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77724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4328" y="33832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83764" y="39776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08576" y="85953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81728" y="93268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8" name="Shape 26"/>
          <p:cNvSpPr/>
          <p:nvPr/>
        </p:nvSpPr>
        <p:spPr>
          <a:xfrm>
            <a:off x="6775704" y="46634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62572" y="55321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82296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89720" y="86868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28248" y="429768"/>
            <a:ext cx="237744" cy="237744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187684" y="489204"/>
            <a:ext cx="118872" cy="118872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34" name="Shape 32"/>
          <p:cNvSpPr/>
          <p:nvPr/>
        </p:nvSpPr>
        <p:spPr>
          <a:xfrm>
            <a:off x="1225296" y="2779776"/>
            <a:ext cx="292608" cy="292608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98448" y="28529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3483864" y="2203704"/>
            <a:ext cx="347472" cy="347472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70732" y="2290572"/>
            <a:ext cx="173736" cy="173736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3017520"/>
            <a:ext cx="182880" cy="182880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89320" y="3063240"/>
            <a:ext cx="91440" cy="91440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40" name="Shape 38"/>
          <p:cNvSpPr/>
          <p:nvPr/>
        </p:nvSpPr>
        <p:spPr>
          <a:xfrm>
            <a:off x="8293608" y="2441448"/>
            <a:ext cx="237744" cy="237744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53044" y="2500884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43616" y="3054096"/>
            <a:ext cx="292608" cy="292608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716768" y="3127248"/>
            <a:ext cx="146304" cy="146304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224" y="4764024"/>
            <a:ext cx="347472" cy="347472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6092" y="4850892"/>
            <a:ext cx="173736" cy="173736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557784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246120" y="562356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8" name="Shape 46"/>
          <p:cNvSpPr/>
          <p:nvPr/>
        </p:nvSpPr>
        <p:spPr>
          <a:xfrm>
            <a:off x="5550408" y="500176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609844" y="506120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50" name="Shape 48"/>
          <p:cNvSpPr/>
          <p:nvPr/>
        </p:nvSpPr>
        <p:spPr>
          <a:xfrm>
            <a:off x="8083296" y="570585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56448" y="577900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99064" y="485546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885932" y="494233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49840" y="612648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195560" y="617220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56" name="Shape 54"/>
          <p:cNvSpPr/>
          <p:nvPr/>
        </p:nvSpPr>
        <p:spPr>
          <a:xfrm>
            <a:off x="5272888" y="1371600"/>
            <a:ext cx="1645920" cy="1645920"/>
          </a:xfrm>
          <a:prstGeom prst="ellipse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6C5CE7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UniMind</a:t>
            </a:r>
            <a:endParaRPr lang="en-US" sz="8000" dirty="0"/>
          </a:p>
        </p:txBody>
      </p:sp>
      <p:sp>
        <p:nvSpPr>
          <p:cNvPr id="58" name="Text 56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CO-PILOT FOR STUDENT LIFE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career  ·  Protect your money  ·  Plug into your people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066648" y="50292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0C1438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66648" y="5138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£53M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1066648" y="5596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 (UNiDAYS)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41368" y="50292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0C1438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541368" y="5138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$433B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4541368" y="5596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finance by 2030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016088" y="50292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0C1438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016088" y="51389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8016088" y="55961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partners, not students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Advice is broken. Money is scary.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dies with the student.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23160"/>
            <a:ext cx="64008" cy="1234440"/>
          </a:xfrm>
          <a:prstGeom prst="rect">
            <a:avLst/>
          </a:prstGeom>
          <a:solidFill>
            <a:srgbClr val="FF6B7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587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blindness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9535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bet 3 years and tens of thousands on a path they cannot see the outcome of.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423160"/>
            <a:ext cx="64008" cy="1234440"/>
          </a:xfrm>
          <a:prstGeom prst="rect">
            <a:avLst/>
          </a:prstGeom>
          <a:solidFill>
            <a:srgbClr val="FF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587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95351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spend €10–20k/year in a foreign economy with zero runway visibility. #1 dropout cause.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64008" cy="1234440"/>
          </a:xfrm>
          <a:prstGeom prst="rect">
            <a:avLst/>
          </a:prstGeom>
          <a:solidFill>
            <a:srgbClr val="FF6B7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4005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37083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arrive with no network — and no one who has walked their specific journey.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8404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840480"/>
            <a:ext cx="64008" cy="1234440"/>
          </a:xfrm>
          <a:prstGeom prst="rect">
            <a:avLst/>
          </a:prstGeom>
          <a:solidFill>
            <a:srgbClr val="FF6B7A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4005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37083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found the cheap grocer, the right bank, the visa trick — graduates, and it's gone.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face four expensive problems at once — career blindness, money stress, isolation, and the cruelest one: the answers exist, but they die when last year's students graduate. We turn that wasted knowledge into a permanent asset and a revenue engine.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68" dur="indefinite" restart="never" nodeType="tmRoot">
          <p:childTnLst>
            <p:seq concurrent="1" nextAc="seek">
              <p:cTn id="169" dur="indefinite" nodeType="mainSeq">
                <p:childTnLst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NOBODY HAS SOLVED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is the moat.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F7B731">
              <a:alpha val="2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can't personalise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gives an Indian student in Dublin and a Chinese student in London the same answer.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514600"/>
            <a:ext cx="548640" cy="548640"/>
          </a:xfrm>
          <a:prstGeom prst="ellipse">
            <a:avLst/>
          </a:prstGeom>
          <a:solidFill>
            <a:srgbClr val="F7B731">
              <a:alpha val="2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 are noise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and WhatsApp bury knowledge. Lived experience isn't queryable.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514600"/>
            <a:ext cx="548640" cy="548640"/>
          </a:xfrm>
          <a:prstGeom prst="ellipse">
            <a:avLst/>
          </a:prstGeom>
          <a:solidFill>
            <a:srgbClr val="F7B731">
              <a:alpha val="2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stack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universities, merchants and communities are separate worlds that never connect.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2286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2514600"/>
            <a:ext cx="548640" cy="548640"/>
          </a:xfrm>
          <a:prstGeom prst="ellipse">
            <a:avLst/>
          </a:prstGeom>
          <a:solidFill>
            <a:srgbClr val="F7B731">
              <a:alpha val="2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972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data moat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89720" y="3794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the community — hard to build first, impossible to copy once built.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10911535" cy="566928"/>
          </a:xfrm>
          <a:prstGeom prst="roundRect">
            <a:avLst>
              <a:gd name="adj" fmla="val 9677"/>
            </a:avLst>
          </a:prstGeom>
          <a:solidFill>
            <a:srgbClr val="4F3BDB">
              <a:alpha val="20000"/>
            </a:srgbClr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9204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barrier that makes UniMind hard to start is the same barrier that makes it impossible to catch.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this been built? Generic AI can't, forums are noise, the stack is fragmented, and the value is a cold-start community. But that difficulty IS the moat — once we've built the network of real student journeys, no one can copy it without rebuilding every student's experience from scratch.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235" dur="indefinite" restart="never" nodeType="tmRoot">
          <p:childTnLst>
            <p:seq concurrent="1" nextAc="seek">
              <p:cTn id="236" dur="indefinite" nodeType="mainSeq">
                <p:childTnLst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AI agent per student.</a:t>
            </a:r>
            <a:endParaRPr lang="en-US" sz="3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engines. One daily habit.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347472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plan, see a month-by-month prediction built from thousands who already did 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9651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377440"/>
            <a:ext cx="3474720" cy="73152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Runway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spending, tells you exactly how many months of runway you have left. The daily hook.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99832" y="3200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23774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2377440"/>
            <a:ext cx="347472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6576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agents share knowledge automatically — the network that compounds.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00D68F">
              <a:alpha val="16000"/>
            </a:srgbClr>
          </a:solidFill>
          <a:ln w="15240">
            <a:solidFill>
              <a:srgbClr val="00D6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0060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Hyper-localised by nationality — Indian students see Indian grocers, Chinese students see Chinese supermarkets. Every recommendation is a revenue event.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personal AI agent per student, running three engines: it predicts your career, manages your money, and plugs you into a community that shares knowledge automatically. The thread through all of it is hyper-localisation — and every localised recommendation is a revenue event.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302" dur="indefinite" restart="never" nodeType="tmRoot">
          <p:childTnLst>
            <p:seq concurrent="1" nextAc="seek">
              <p:cTn id="303" dur="indefinite" nodeType="mainSeq">
                <p:childTnLst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680960" y="105156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0D68F">
              <a:alpha val="20000"/>
            </a:srgbClr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FRONTEND ALREADY BUILT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48840"/>
            <a:ext cx="82296" cy="6035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(built)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148840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3D onboarding · 1,401-node Agentic Web · community feed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62072"/>
            <a:ext cx="82296" cy="6035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6207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862072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= an LLM-backed agent with memory, risk profile, goal stack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75304"/>
            <a:ext cx="82296" cy="60350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7530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575304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linked by nationality, course, city, shared experience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8853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88536"/>
            <a:ext cx="82296" cy="603504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8853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Money engines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4288536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+ outward scan → prediction · budget tracking · runway forecast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001768"/>
            <a:ext cx="82296" cy="603504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017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layer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5001768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APIs + nationality-aware recommendation = the affiliate revenue rail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71500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5715000"/>
            <a:ext cx="82296" cy="603504"/>
          </a:xfrm>
          <a:prstGeom prst="rect">
            <a:avLst/>
          </a:prstGeom>
          <a:solidFill>
            <a:srgbClr val="FF6B7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71500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97680" y="5715000"/>
            <a:ext cx="7040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dataset of real student journeys — can't be bought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already built and working — a real 3D network of 1,400 nodes, not a mockup. The commercial heart is the commerce layer, which serves nationality-aware recommendations. Underneath is the data moat that grows daily and can't be bought. The Python AI backend is what we're raising for.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369" dur="indefinite" restart="never" nodeType="tmRoot">
          <p:childTnLst>
            <p:seq concurrent="1" nextAc="seek">
              <p:cTn id="370" dur="indefinite" nodeType="mainSeq">
                <p:childTnLst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9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3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experience, in five beats.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8176" y="2560320"/>
            <a:ext cx="548640" cy="548640"/>
          </a:xfrm>
          <a:prstGeom prst="ellipse">
            <a:avLst/>
          </a:prstGeom>
          <a:solidFill>
            <a:srgbClr val="6C5CE7">
              <a:alpha val="25000"/>
            </a:srgbClr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wakes 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particles morph dust → DNA → brain as you onboard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23317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560320"/>
            <a:ext cx="548640" cy="548640"/>
          </a:xfrm>
          <a:prstGeom prst="ellipse">
            <a:avLst/>
          </a:prstGeom>
          <a:solidFill>
            <a:srgbClr val="00D4F0">
              <a:alpha val="25000"/>
            </a:srgbClr>
          </a:solidFill>
          <a:ln w="15240">
            <a:solidFill>
              <a:srgbClr val="00D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8376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money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08376" y="3886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months runway. You're €38 over on food this week."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02352" y="23317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560320"/>
            <a:ext cx="548640" cy="548640"/>
          </a:xfrm>
          <a:prstGeom prst="ellipse">
            <a:avLst/>
          </a:prstGeom>
          <a:solidFill>
            <a:srgbClr val="00D68F">
              <a:alpha val="25000"/>
            </a:srgbClr>
          </a:solidFill>
          <a:ln w="15240">
            <a:solidFill>
              <a:srgbClr val="00D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9512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9512" y="3886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"Masters in AI, Dublin" → cinematic timeline, risks in 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33488" y="23317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1584" y="2560320"/>
            <a:ext cx="548640" cy="548640"/>
          </a:xfrm>
          <a:prstGeom prst="ellipse">
            <a:avLst/>
          </a:prstGeom>
          <a:solidFill>
            <a:srgbClr val="F7B731">
              <a:alpha val="25000"/>
            </a:srgbClr>
          </a:solidFill>
          <a:ln w="15240">
            <a:solidFill>
              <a:srgbClr val="F7B7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70648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answers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0648" y="3886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student's agent replies automatically — while they sleep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64624" y="23317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32720" y="2560320"/>
            <a:ext cx="548640" cy="548640"/>
          </a:xfrm>
          <a:prstGeom prst="ellipse">
            <a:avLst/>
          </a:prstGeom>
          <a:solidFill>
            <a:srgbClr val="FF6B7A">
              <a:alpha val="25000"/>
            </a:srgbClr>
          </a:solidFill>
          <a:ln w="15240">
            <a:solidFill>
              <a:srgbClr val="FF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01784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01784" y="3886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"Indian grocery 1.2km away — 15% off" → we earn commission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your agent wakes up. Open the app daily and it shows your runway — that's why they come back. Type a plan and we render your next year. Ask the community and another student's agent answers while they sleep. And the marketplace card is where we make money — the student saves, we earn. We win when they save.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436" dur="indefinite" restart="never" nodeType="tmRoot">
          <p:childTnLst>
            <p:seq concurrent="1" nextAc="seek">
              <p:cTn id="437" dur="indefinite" nodeType="mainSeq">
                <p:childTnLst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2377440" cy="-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457200"/>
            <a:ext cx="4023360" cy="914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548640"/>
            <a:ext cx="2926080" cy="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822960"/>
            <a:ext cx="1463040" cy="13716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840480"/>
            <a:ext cx="1280160" cy="21945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731520"/>
            <a:ext cx="-182880" cy="31089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548640"/>
            <a:ext cx="4572000" cy="40233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008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68580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0088" y="33832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49524" y="39776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86016" y="40233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59168" y="47548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84664" y="64922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71532" y="73609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0" y="210312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75720" y="214884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3721608"/>
            <a:ext cx="237744" cy="237744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" y="3781044"/>
            <a:ext cx="118872" cy="118872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58016" y="4425696"/>
            <a:ext cx="292608" cy="292608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631168" y="449884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5064" y="5861304"/>
            <a:ext cx="347472" cy="347472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41932" y="5948172"/>
            <a:ext cx="173736" cy="173736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7" name="Shape 25"/>
          <p:cNvSpPr/>
          <p:nvPr/>
        </p:nvSpPr>
        <p:spPr>
          <a:xfrm>
            <a:off x="9418320" y="6126480"/>
            <a:ext cx="182880" cy="182880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464040" y="6172200"/>
            <a:ext cx="91440" cy="91440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pillars hold it up.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64008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2651760"/>
            <a:ext cx="777240" cy="777240"/>
          </a:xfrm>
          <a:prstGeom prst="ellipse">
            <a:avLst/>
          </a:prstGeom>
          <a:solidFill>
            <a:srgbClr val="6C5CE7">
              <a:alpha val="22000"/>
            </a:srgbClr>
          </a:solidFill>
          <a:ln w="17780">
            <a:solidFill>
              <a:srgbClr val="6C5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92024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fake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920240" y="2990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nationality + budget = advice no generic AI can match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rgbClr val="00D4F0">
              <a:alpha val="22000"/>
            </a:srgbClr>
          </a:solidFill>
          <a:ln w="17780">
            <a:solidFill>
              <a:srgbClr val="00D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651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52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habit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452360" y="2990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tracking forces daily returns → retention → lifetime value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3931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4400" y="4251960"/>
            <a:ext cx="777240" cy="777240"/>
          </a:xfrm>
          <a:prstGeom prst="ellipse">
            <a:avLst/>
          </a:prstGeom>
          <a:solidFill>
            <a:srgbClr val="00D68F">
              <a:alpha val="22000"/>
            </a:srgbClr>
          </a:solidFill>
          <a:ln w="17780">
            <a:solidFill>
              <a:srgbClr val="00D6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compounds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920240" y="45902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makes every other student's product better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72200" y="3931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46520" y="4251960"/>
            <a:ext cx="777240" cy="777240"/>
          </a:xfrm>
          <a:prstGeom prst="ellipse">
            <a:avLst/>
          </a:prstGeom>
          <a:solidFill>
            <a:srgbClr val="F7B731">
              <a:alpha val="22000"/>
            </a:srgbClr>
          </a:solidFill>
          <a:ln w="17780">
            <a:solidFill>
              <a:srgbClr val="F7B7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4251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45236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monetisation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452360" y="45902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students save or move forward — never by selling attention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pillars. Personalisation no one can copy. A daily habit — career advice you check once a year, but your money every day. A network that compounds with every student. And monetisation built into the value, never against the user. That alignment is why this retains.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503" dur="indefinite" restart="never" nodeType="tmRoot">
          <p:childTnLst>
            <p:seq concurrent="1" nextAc="seek">
              <p:cTn id="504" dur="indefinite" nodeType="mainSeq">
                <p:childTnLst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0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students = more profit per student.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6035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1874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per-student value rises as we scale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49440" y="219456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2194560"/>
            <a:ext cx="64008" cy="8686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3042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compounding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261518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students → richer data, better commission rates, higher bank value — all at once.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0" y="3182112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3182112"/>
            <a:ext cx="64008" cy="868680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0" y="3291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acquisition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32320" y="36027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bring friends from their own country. The network does the selling. CAC stays tiny.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169664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0" y="4169664"/>
            <a:ext cx="64008" cy="86868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4279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them young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459028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at 18, keep through graduation, first job, first salary. A 30-year relationship.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just get bigger as they scale. UniMind gets MORE PROFITABLE per student — it compounds three ways: richer data, better commission rates, and higher bank value. Acquisition is viral, and we capture students at eighteen for a thirty-year relationship that grows more valuable every year.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570" dur="indefinite" restart="never" nodeType="tmRoot">
          <p:childTnLst>
            <p:seq concurrent="1" nextAc="seek">
              <p:cTn id="571" dur="indefinite" nodeType="mainSeq">
                <p:childTnLst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6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9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3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1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3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Students don't pay. Partners do.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comes from merchants, brands, banks &amp; universities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945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337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partners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120640" y="2194560"/>
            <a:ext cx="6446520" cy="512064"/>
          </a:xfrm>
          <a:prstGeom prst="roundRect">
            <a:avLst>
              <a:gd name="adj" fmla="val 14286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85232" y="2359152"/>
            <a:ext cx="182880" cy="18288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219456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affiliate commerce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0" y="219456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0" y="219456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10–20% on ethnic groceries &amp; food. Recurring weekly spend.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120640" y="2798064"/>
            <a:ext cx="6446520" cy="512064"/>
          </a:xfrm>
          <a:prstGeom prst="roundRect">
            <a:avLst>
              <a:gd name="adj" fmla="val 1428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85232" y="2962656"/>
            <a:ext cx="182880" cy="1828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79806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&amp; offers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44000" y="2798064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58400" y="2798064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reach verified students. The proven UNiDAYS model.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120640" y="3401568"/>
            <a:ext cx="6446520" cy="512064"/>
          </a:xfrm>
          <a:prstGeom prst="roundRect">
            <a:avLst>
              <a:gd name="adj" fmla="val 14286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85232" y="3566160"/>
            <a:ext cx="182880" cy="18288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340156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Financial-services referrals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0" y="3401568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58400" y="340156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fintechs pay for student accounts, cards, remittance.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120640" y="4005072"/>
            <a:ext cx="6446520" cy="512064"/>
          </a:xfrm>
          <a:prstGeom prst="roundRect">
            <a:avLst>
              <a:gd name="adj" fmla="val 1428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85232" y="4169664"/>
            <a:ext cx="182880" cy="18288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26" name="Text 23"/>
          <p:cNvSpPr/>
          <p:nvPr/>
        </p:nvSpPr>
        <p:spPr>
          <a:xfrm>
            <a:off x="5577840" y="400507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144000" y="4005072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058400" y="400507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€499–€2,999/mo to cut dropout.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120640" y="4608576"/>
            <a:ext cx="6446520" cy="512064"/>
          </a:xfrm>
          <a:prstGeom prst="roundRect">
            <a:avLst>
              <a:gd name="adj" fmla="val 14286"/>
            </a:avLst>
          </a:prstGeom>
          <a:solidFill>
            <a:srgbClr val="131E54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85232" y="4773168"/>
            <a:ext cx="182880" cy="182880"/>
          </a:xfrm>
          <a:prstGeom prst="ellipse">
            <a:avLst/>
          </a:prstGeom>
          <a:solidFill>
            <a:srgbClr val="5E6E9E"/>
          </a:solidFill>
          <a:ln/>
        </p:spPr>
      </p:sp>
      <p:sp>
        <p:nvSpPr>
          <p:cNvPr id="31" name="Text 28"/>
          <p:cNvSpPr/>
          <p:nvPr/>
        </p:nvSpPr>
        <p:spPr>
          <a:xfrm>
            <a:off x="5577840" y="46085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subscriptions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144000" y="4608576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E6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058400" y="4608576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— students mostly stay free.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120640" y="5285232"/>
            <a:ext cx="6446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€250–450/mo grocery spend × 12–15% = ~€12–15/mo per student — more than any subscription, and they pay €0.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answer: students have no money, so we don't rely on them — only 12% of revenue. The other 88% comes from everyone who'll pay to reach a verified student. Affiliate commerce is biggest: a student spends €250–450/month on groceries, and we take commission on it. UNiDAYS makes £53M a year this way with students paying nothing.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637" dur="indefinite" restart="never" nodeType="tmRoot">
          <p:childTnLst>
            <p:seq concurrent="1" nextAc="seek">
              <p:cTn id="638" dur="indefinite" nodeType="mainSeq">
                <p:childTnLst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6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2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4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6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€1M ARR.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6949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2194560"/>
            <a:ext cx="3611880" cy="676656"/>
          </a:xfrm>
          <a:prstGeom prst="roundRect">
            <a:avLst>
              <a:gd name="adj" fmla="val 1081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09560" y="2194560"/>
            <a:ext cx="64008" cy="676656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2494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D4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€92K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784080" y="2194560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09560" y="2980944"/>
            <a:ext cx="3611880" cy="676656"/>
          </a:xfrm>
          <a:prstGeom prst="roundRect">
            <a:avLst>
              <a:gd name="adj" fmla="val 1081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09560" y="2980944"/>
            <a:ext cx="64008" cy="676656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€808K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784080" y="2980944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09560" y="3767328"/>
            <a:ext cx="3611880" cy="676656"/>
          </a:xfrm>
          <a:prstGeom prst="roundRect">
            <a:avLst>
              <a:gd name="adj" fmla="val 1081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09560" y="3767328"/>
            <a:ext cx="64008" cy="676656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17" name="Text 14"/>
          <p:cNvSpPr/>
          <p:nvPr/>
        </p:nvSpPr>
        <p:spPr>
          <a:xfrm>
            <a:off x="8092440" y="3822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18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9784080" y="3767328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09560" y="4553712"/>
            <a:ext cx="3611880" cy="676656"/>
          </a:xfrm>
          <a:prstGeom prst="roundRect">
            <a:avLst>
              <a:gd name="adj" fmla="val 10811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09560" y="4553712"/>
            <a:ext cx="64008" cy="67665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8"/>
          <p:cNvSpPr/>
          <p:nvPr/>
        </p:nvSpPr>
        <p:spPr>
          <a:xfrm>
            <a:off x="8092440" y="4608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: 1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9784080" y="4553712"/>
            <a:ext cx="1691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builds network density. From Q3, partner revenue kicks in and growth turns nonlinear. With near-zero marginal cost, viral acquisition, and a daily-habit retention loop, our LTV-to-CAC is exceptional. We break even at month 18 and reach over €800K ARR by end of Year 2 — conservatively.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704" dur="indefinite" restart="never" nodeType="tmRoot">
          <p:childTnLst>
            <p:seq concurrent="1" nextAc="seek">
              <p:cTn id="705" dur="indefinite" nodeType="mainSeq">
                <p:childTnLst>
                  <p:par>
                    <p:cTn id="706" fill="hold">
                      <p:stCondLst>
                        <p:cond delay="indefinite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0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3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1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7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5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9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7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1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9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3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256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2377440" cy="-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457200"/>
            <a:ext cx="4023360" cy="914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548640"/>
            <a:ext cx="2926080" cy="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822960"/>
            <a:ext cx="1463040" cy="13716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840480"/>
            <a:ext cx="1280160" cy="21945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731520"/>
            <a:ext cx="-182880" cy="31089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548640"/>
            <a:ext cx="4572000" cy="40233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008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68580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990088" y="33832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49524" y="39776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86016" y="40233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59168" y="47548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84664" y="64922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71532" y="73609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0" y="210312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75720" y="214884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" y="3721608"/>
            <a:ext cx="237744" cy="237744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" y="3781044"/>
            <a:ext cx="118872" cy="118872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58016" y="4425696"/>
            <a:ext cx="292608" cy="292608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631168" y="449884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5064" y="5861304"/>
            <a:ext cx="347472" cy="347472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41932" y="5948172"/>
            <a:ext cx="173736" cy="173736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7" name="Shape 25"/>
          <p:cNvSpPr/>
          <p:nvPr/>
        </p:nvSpPr>
        <p:spPr>
          <a:xfrm>
            <a:off x="9418320" y="6126480"/>
            <a:ext cx="182880" cy="182880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464040" y="6172200"/>
            <a:ext cx="91440" cy="91440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student app to lifelong</a:t>
            </a:r>
            <a:endParaRPr lang="en-US" sz="3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commerce network.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40080" y="24688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2642616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2642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63040" y="246888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alumni → lifelong companion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035040" y="2468880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grows into high-value financial life stages.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33101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8680" y="34838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63040" y="331012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035040" y="3310128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finds offers, negotiates, and shares knowledge on your behalf.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415137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432511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4151376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commerce &amp; finance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035040" y="415137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your runway — so we surface the right product at the right moment.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49926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0F1740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68680" y="516636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63040" y="499262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campus, every country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6035040" y="499262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localisation playbook that repeats: new nationality → new partner network.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endgame: the queryable layer of human experience — monetised through commerce.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7200" y="5806440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0A1230"/>
          </a:solidFill>
          <a:ln w="12700">
            <a:solidFill>
              <a:srgbClr val="4F3BD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5806440"/>
            <a:ext cx="64008" cy="841248"/>
          </a:xfrm>
          <a:prstGeom prst="rect">
            <a:avLst/>
          </a:prstGeom>
          <a:solidFill>
            <a:srgbClr val="00D4F0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" y="5879592"/>
            <a:ext cx="108658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becomes an alumnus and the agent grows with them into their biggest financial decisions. Long term: the agent economy, predictive commerce, and a localisation playbook that repeats per nationality. The endgame is the queryable layer of human experience — monetised through commerce.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771" dur="indefinite" restart="never" nodeType="tmRoot">
          <p:childTnLst>
            <p:seq concurrent="1" nextAc="seek">
              <p:cTn id="772" dur="indefinite" nodeType="mainSeq">
                <p:childTnLst>
                  <p:par>
                    <p:cTn id="773" fill="hold">
                      <p:stCondLst>
                        <p:cond delay="indefinite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0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1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4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8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0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2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4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01168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2011680" cy="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005840"/>
            <a:ext cx="219456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2286000" cy="2743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914400"/>
            <a:ext cx="2011680" cy="-3657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926080"/>
            <a:ext cx="228600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377440"/>
            <a:ext cx="237744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3108960"/>
            <a:ext cx="237744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560320"/>
            <a:ext cx="2377440" cy="6400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822960"/>
            <a:ext cx="640080" cy="21031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1280160" cy="21031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914400"/>
            <a:ext cx="1554480" cy="22860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937760"/>
            <a:ext cx="246888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5669280"/>
            <a:ext cx="2377440" cy="-54864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5120640"/>
            <a:ext cx="2560320" cy="7315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5852160"/>
            <a:ext cx="2743200" cy="-82296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926080"/>
            <a:ext cx="-548640" cy="20116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108960"/>
            <a:ext cx="-365760" cy="201168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0" y="3200400"/>
            <a:ext cx="182880" cy="182880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5029200"/>
            <a:ext cx="-731520" cy="1188720"/>
          </a:xfrm>
          <a:prstGeom prst="line">
            <a:avLst/>
          </a:prstGeom>
          <a:noFill/>
          <a:ln w="9525">
            <a:solidFill>
              <a:srgbClr val="6C5CE7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73152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77724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4328" y="33832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83764" y="39776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08576" y="85953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81728" y="93268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28" name="Shape 26"/>
          <p:cNvSpPr/>
          <p:nvPr/>
        </p:nvSpPr>
        <p:spPr>
          <a:xfrm>
            <a:off x="6775704" y="46634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62572" y="55321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82296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89720" y="86868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28248" y="429768"/>
            <a:ext cx="237744" cy="237744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187684" y="489204"/>
            <a:ext cx="118872" cy="118872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34" name="Shape 32"/>
          <p:cNvSpPr/>
          <p:nvPr/>
        </p:nvSpPr>
        <p:spPr>
          <a:xfrm>
            <a:off x="1225296" y="2779776"/>
            <a:ext cx="292608" cy="292608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98448" y="2852928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3483864" y="2203704"/>
            <a:ext cx="347472" cy="347472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70732" y="2290572"/>
            <a:ext cx="173736" cy="173736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3017520"/>
            <a:ext cx="182880" cy="182880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89320" y="3063240"/>
            <a:ext cx="91440" cy="91440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40" name="Shape 38"/>
          <p:cNvSpPr/>
          <p:nvPr/>
        </p:nvSpPr>
        <p:spPr>
          <a:xfrm>
            <a:off x="8293608" y="2441448"/>
            <a:ext cx="237744" cy="237744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53044" y="2500884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43616" y="3054096"/>
            <a:ext cx="292608" cy="292608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716768" y="3127248"/>
            <a:ext cx="146304" cy="146304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224" y="4764024"/>
            <a:ext cx="347472" cy="347472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6092" y="4850892"/>
            <a:ext cx="173736" cy="173736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5577840"/>
            <a:ext cx="182880" cy="182880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246120" y="5623560"/>
            <a:ext cx="91440" cy="914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8" name="Shape 46"/>
          <p:cNvSpPr/>
          <p:nvPr/>
        </p:nvSpPr>
        <p:spPr>
          <a:xfrm>
            <a:off x="5550408" y="5001768"/>
            <a:ext cx="237744" cy="237744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609844" y="5061204"/>
            <a:ext cx="118872" cy="118872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50" name="Shape 48"/>
          <p:cNvSpPr/>
          <p:nvPr/>
        </p:nvSpPr>
        <p:spPr>
          <a:xfrm>
            <a:off x="8083296" y="5705856"/>
            <a:ext cx="292608" cy="292608"/>
          </a:xfrm>
          <a:prstGeom prst="ellipse">
            <a:avLst/>
          </a:prstGeom>
          <a:solidFill>
            <a:srgbClr val="4F3BDB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156448" y="5779008"/>
            <a:ext cx="146304" cy="146304"/>
          </a:xfrm>
          <a:prstGeom prst="ellipse">
            <a:avLst/>
          </a:prstGeom>
          <a:solidFill>
            <a:srgbClr val="4F3B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99064" y="4855464"/>
            <a:ext cx="347472" cy="347472"/>
          </a:xfrm>
          <a:prstGeom prst="ellipse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885932" y="4942332"/>
            <a:ext cx="173736" cy="1737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49840" y="6126480"/>
            <a:ext cx="182880" cy="182880"/>
          </a:xfrm>
          <a:prstGeom prst="ellipse">
            <a:avLst/>
          </a:prstGeom>
          <a:solidFill>
            <a:srgbClr val="00D4F0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195560" y="6172200"/>
            <a:ext cx="91440" cy="91440"/>
          </a:xfrm>
          <a:prstGeom prst="ellipse">
            <a:avLst/>
          </a:prstGeom>
          <a:solidFill>
            <a:srgbClr val="00D4F0"/>
          </a:solidFill>
          <a:ln/>
        </p:spPr>
      </p:sp>
      <p:sp>
        <p:nvSpPr>
          <p:cNvPr id="56" name="Shape 54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6C5CE7">
              <a:alpha val="2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6C5CE7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 grows.</a:t>
            </a:r>
            <a:endParaRPr lang="en-US" sz="5400" dirty="0"/>
          </a:p>
        </p:txBody>
      </p:sp>
      <p:sp>
        <p:nvSpPr>
          <p:cNvPr id="58" name="Text 56"/>
          <p:cNvSpPr/>
          <p:nvPr/>
        </p:nvSpPr>
        <p:spPr>
          <a:xfrm>
            <a:off x="1371600" y="33832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we add makes the product smarter, the deals better, and the margins higher.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371600" y="38404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they can't graduate without — a relationship that starts at 18 and lasts a lifetime.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084168" y="461772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4F3BDB"/>
          </a:solidFill>
          <a:ln/>
          <a:effectLst>
            <a:outerShdw sx="100000" sy="100000" kx="0" ky="0" algn="bl" rotWithShape="0" blurRad="228600" dist="50800" dir="16200000">
              <a:srgbClr val="6C5CE7">
                <a:alpha val="5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084168" y="46177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A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  ·  hello@unimind.ai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838" dur="indefinite" restart="never" nodeType="tmRoot">
          <p:childTnLst>
            <p:seq concurrent="1" nextAc="seek">
              <p:cTn id="839" dur="indefinite" nodeType="mainSeq">
                <p:childTnLst>
                  <p:par>
                    <p:cTn id="840" fill="hold">
                      <p:stCondLst>
                        <p:cond delay="indefinite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2" presetClass="entr" presetSubtype="4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7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8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9" presetID="2" presetClass="entr" presetSubtype="4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1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2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presetID="2" presetClass="entr" presetSubtype="4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2" presetClass="entr" presetSubtype="4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1" presetID="2" presetClass="entr" presetSubtype="4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presetID="2" presetClass="entr" presetSubtype="4" fill="hold" nodeType="after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2" presetClass="entr" presetSubtype="4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3" presetID="2" presetClass="entr" presetSubtype="4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7" presetID="2" presetClass="entr" presetSubtype="4" fill="hold" nodeType="after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2" presetClass="entr" presetSubtype="4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5" presetID="2" presetClass="entr" presetSubtype="4" fill="hold" nodeType="after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9" presetID="2" presetClass="entr" presetSubtype="4" fill="hold" nodeType="after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presetID="2" presetClass="entr" presetSubtype="4" fill="hold" nodeType="after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7" presetID="2" presetClass="entr" presetSubtype="4" fill="hold" nodeType="after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1" presetID="2" presetClass="entr" presetSubtype="4" fill="hold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UniMind — Investor Pitch</dc:title>
  <dc:subject>PptxGenJS Presentation</dc:subject>
  <dc:creator>PptxGenJS</dc:creator>
  <cp:lastModifiedBy>PptxGenJS</cp:lastModifiedBy>
  <cp:revision>1</cp:revision>
  <dcterms:created xsi:type="dcterms:W3CDTF">2026-05-21T00:30:17Z</dcterms:created>
  <dcterms:modified xsi:type="dcterms:W3CDTF">2026-05-21T00:30:17Z</dcterms:modified>
</cp:coreProperties>
</file>