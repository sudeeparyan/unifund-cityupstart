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Manrope"/>
      <p:regular r:id="rId16"/>
      <p:bold r:id="rId17"/>
    </p:embeddedFont>
    <p:embeddedFont>
      <p:font typeface="Sora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83-4D8F-82B6-4C9E1B6FB34C}"/>
              </c:ext>
            </c:extLst>
          </c:dPt>
          <c:dPt>
            <c:idx val="1"/>
            <c:bubble3D val="0"/>
            <c:spPr>
              <a:solidFill>
                <a:srgbClr val="4F75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83-4D8F-82B6-4C9E1B6FB34C}"/>
              </c:ext>
            </c:extLst>
          </c:dPt>
          <c:dPt>
            <c:idx val="2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83-4D8F-82B6-4C9E1B6FB34C}"/>
              </c:ext>
            </c:extLst>
          </c:dPt>
          <c:dPt>
            <c:idx val="3"/>
            <c:bubble3D val="0"/>
            <c:spPr>
              <a:solidFill>
                <a:srgbClr val="C08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83-4D8F-82B6-4C9E1B6FB34C}"/>
              </c:ext>
            </c:extLst>
          </c:dPt>
          <c:dPt>
            <c:idx val="4"/>
            <c:bubble3D val="0"/>
            <c:spPr>
              <a:solidFill>
                <a:srgbClr val="8A9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F83-4D8F-82B6-4C9E1B6FB34C}"/>
              </c:ext>
            </c:extLst>
          </c:dPt>
          <c:cat>
            <c:strRef>
              <c:f>Sheet1!$A$2:$A$6</c:f>
              <c:strCache>
                <c:ptCount val="5"/>
                <c:pt idx="0">
                  <c:v>Hyper-local affiliate commerce</c:v>
                </c:pt>
                <c:pt idx="1">
                  <c:v>Brand partnerships &amp; offers</c:v>
                </c:pt>
                <c:pt idx="2">
                  <c:v>Financial-services referrals</c:v>
                </c:pt>
                <c:pt idx="3">
                  <c:v>Institutional B2B</c:v>
                </c:pt>
                <c:pt idx="4">
                  <c:v>Student subscriptions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22</c:v>
                </c:pt>
                <c:pt idx="2">
                  <c:v>20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F83-4D8F-82B6-4C9E1B6FB3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181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ln w="15875">
            <a:solidFill>
              <a:srgbClr val="2C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784080" y="1280160"/>
            <a:ext cx="3840480" cy="3840480"/>
          </a:xfrm>
          <a:prstGeom prst="ellipse">
            <a:avLst/>
          </a:prstGeom>
          <a:ln w="12700">
            <a:solidFill>
              <a:srgbClr val="263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881360" y="3931920"/>
            <a:ext cx="2743200" cy="2743200"/>
          </a:xfrm>
          <a:prstGeom prst="ellipse">
            <a:avLst/>
          </a:prstGeom>
          <a:solidFill>
            <a:srgbClr val="2232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F75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INVESTOR PRESENTATION ·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UNIFUND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 your career.</a:t>
            </a:r>
            <a:r>
              <a:rPr lang="en-US" sz="2100" dirty="0">
                <a:solidFill>
                  <a:srgbClr val="C7D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Protect your money.   Plug into your people.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24128" y="4343400"/>
            <a:ext cx="4023360" cy="0"/>
          </a:xfrm>
          <a:prstGeom prst="line">
            <a:avLst/>
          </a:prstGeom>
          <a:noFill/>
          <a:ln w="254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8BA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Confidential — for discussion purposes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Advice is broken. Money is scary.</a:t>
            </a:r>
            <a:endParaRPr lang="en-US" sz="33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Student knowledge dies every year.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3317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33856" y="2642616"/>
            <a:ext cx="566928" cy="56692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icons/sa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78434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3264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B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65376" y="260604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Lack of saving motivation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865376" y="299008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struggle to consistently save without accountability or incentives.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83096" y="23317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775704" y="264261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compas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78434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57416" y="3264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07224" y="260604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Career blindness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07224" y="299008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invest significant time and substantial financial resources in a path whose outcomes remain uncertain.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41248" y="440740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133856" y="4718304"/>
            <a:ext cx="566928" cy="56692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icons/isolatio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" y="4860036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5340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A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865376" y="46817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Isolation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865376" y="506577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They begin with limited professional networks and without access to mentors who have navigated a similar path.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83096" y="440740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75704" y="4718304"/>
            <a:ext cx="566928" cy="566928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 descr="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86003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57416" y="5340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75C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507224" y="46817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Lost knowledge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507224" y="506577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student who found the cheap grocer, the right bank, the visa trick — once they graduate, it is gone.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AI agent per student. Three engines.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42316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41248" y="2423160"/>
            <a:ext cx="3456432" cy="82296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298448" y="2807208"/>
            <a:ext cx="749808" cy="74980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0" descr="icons/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994660"/>
            <a:ext cx="374904" cy="374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98448" y="37216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DB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98448" y="417880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Career Simulation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98448" y="4636008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 your plan and see a month-by-month prediction, built from thousands who already did it.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709160" y="242316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709160" y="2423160"/>
            <a:ext cx="3456432" cy="8229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166360" y="2807208"/>
            <a:ext cx="749808" cy="74980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1" descr="icons/wall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812" y="2994660"/>
            <a:ext cx="374904" cy="3749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37216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166360" y="417880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Money &amp; Runway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5166360" y="4636008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Tracks spending and shows exactly how many months of runway remain — the daily habit.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577072" y="242316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8577072" y="2423160"/>
            <a:ext cx="3456432" cy="82296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9034272" y="2807208"/>
            <a:ext cx="749808" cy="74980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2" descr="icons/netwo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1724" y="2994660"/>
            <a:ext cx="374904" cy="3749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34272" y="37216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8A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9034272" y="417880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Community Knowledge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9034272" y="4636008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Students' agents share knowledge automatically — the network that compounds.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Four pillars hold the business up.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19456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33856" y="2505456"/>
            <a:ext cx="566928" cy="56692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icons/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64718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B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65376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Forward-Looking Visibility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865376" y="285292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Replaces the backward-looking model of traditional banking apps by showing students what they can spend, not just what they have spent.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83096" y="219456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775704" y="250545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ro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64718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57416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07224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Personalized Intelligence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07224" y="285292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student has a personal AI agent that learns their behaviour, goals, and context over time.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41248" y="427024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133856" y="4581144"/>
            <a:ext cx="566928" cy="56692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icons/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" y="4722876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5202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A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865376" y="45445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Collective Wisdom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865376" y="492861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platform's true strength lies in its student community, where anonymized peer connections turn individual experiences into shared knowledge.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83096" y="427024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75704" y="4581144"/>
            <a:ext cx="566928" cy="566928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 descr="icons/infinit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72287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57416" y="5202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75C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507224" y="45445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Compounding Network Effect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507224" y="492861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new student strengthens the platform by contributing insights that continuously improve recommendations and increase its value.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B4DB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Forward-Looking Visibility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Replaces the backward-looking model of traditional banking apps by showing students what they can spend, not just what they have spent.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FINANCIAL RUNWAY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718552"/>
            <a:ext cx="7123176" cy="3512337"/>
          </a:xfrm>
          <a:prstGeom prst="roundRect">
            <a:avLst>
              <a:gd name="adj" fmla="val 2083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runway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828280"/>
            <a:ext cx="6903720" cy="3292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E7C7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Agent Studio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student has a personal AI agent that learns their behaviour, goals, and context over time — building an identity that grows with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STUDIO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692516"/>
            <a:ext cx="7123176" cy="3564408"/>
          </a:xfrm>
          <a:prstGeom prst="roundRect">
            <a:avLst>
              <a:gd name="adj" fmla="val 2052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agent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802244"/>
            <a:ext cx="6903720" cy="3344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C08A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Community Knowledge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platform's true strength lies in its student community, where anonymized peer connections transform individual experiences into shared knowledge.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COMMUNITY 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636350"/>
            <a:ext cx="7123176" cy="3676741"/>
          </a:xfrm>
          <a:prstGeom prst="roundRect">
            <a:avLst>
              <a:gd name="adj" fmla="val 1990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community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746078"/>
            <a:ext cx="6903720" cy="3457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4F75C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4F7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Compounding Network Effect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new student strengthens the platform by contributing insights that continuously improve recommendations and increase its value over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AGENTIC WEB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707810"/>
            <a:ext cx="7123176" cy="3533821"/>
          </a:xfrm>
          <a:prstGeom prst="roundRect">
            <a:avLst>
              <a:gd name="adj" fmla="val 2070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network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817538"/>
            <a:ext cx="6903720" cy="3314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experience, in five beats.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07008" y="2606040"/>
            <a:ext cx="0" cy="31455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2331720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01368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wakes up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93208" y="23317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3D particle system forms your digital self as you onboard.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2688" y="3118104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2688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01368" y="31181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Daily money check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93208" y="311810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"4.2 months of runway. You're €38 over on food this week."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" y="3904488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01368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Career simulation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93208" y="390448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"Masters in AI, Dublin" renders a month-by-month timeline with risks flagged.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32688" y="4690872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32688" y="4690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01368" y="4690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Community answers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093208" y="469087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Another student's agent replies automatically while they sleep.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32688" y="5477256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2688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01368" y="54772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Marketplace moment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093208" y="54772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"Grocery 1.2km away, 15% off." The student saves; we earn commission.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Students don't pay. Partners do.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88% of revenue comes from merchants, brands, banks and universities.</a:t>
            </a:r>
            <a:endParaRPr lang="en-US" sz="14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02920" y="233172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55448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DB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88%
</a:t>
            </a:r>
            <a:r>
              <a:rPr lang="en-US" sz="11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partners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892040" y="2377440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093208" y="2633472"/>
            <a:ext cx="164592" cy="164592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22392" y="2377440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Hyper-local affiliate commerce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237744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4DB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680" y="2377440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Merchants pay 10–20% on ethnic groceries &amp; food. Recurring weekly.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92040" y="3118104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093208" y="3374136"/>
            <a:ext cx="164592" cy="164592"/>
          </a:xfrm>
          <a:prstGeom prst="ellipse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422392" y="311810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 partnerships &amp; offers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01000" y="311810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F75C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22%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69680" y="311810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Brands pay to reach verified students. The proven UNiDAYS model.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92040" y="3858768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093208" y="4114800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22392" y="385876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Financial-services referrals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01000" y="38587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7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869680" y="385876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Banks and fintechs pay for student accounts, cards, remittance.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4599432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093208" y="4855464"/>
            <a:ext cx="164592" cy="164592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422392" y="45994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Institutional B2B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01000" y="459943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08A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16%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869680" y="459943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Universities pay €499–€2,999/mo to reduce dropout.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92040" y="5340096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5093208" y="5596128"/>
            <a:ext cx="164592" cy="164592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422392" y="5340096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 subscriptions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001000" y="534009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869680" y="5340096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Kept low — students mostly stay free.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892040" y="5943600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C08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€250–450/mo grocery spend × 12–15% ≈ €12–15/mo per student — more than any subscription, and they pay €0.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student app to lifelong AI commerce network.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212848"/>
            <a:ext cx="603504" cy="603504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gra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3637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9928" y="22128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 → alumni → lifelong companion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053328" y="221284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agent grows into the user's high-value financial life stages.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41248" y="2999232"/>
            <a:ext cx="603504" cy="603504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handshak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3150108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09928" y="299923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agent economy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053328" y="299923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agent finds offers, negotiates, and shares knowledge on your behalf.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41248" y="3785616"/>
            <a:ext cx="603504" cy="603504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icons/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393649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9928" y="378561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Predictive commerce &amp; finance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053328" y="378561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know your runway, so we surface the right product at the right moment.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41248" y="4572000"/>
            <a:ext cx="603504" cy="603504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s/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472287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09928" y="45720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campus, every country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053328" y="45720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localisation playbook that repeats, market after market.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841248" y="5614416"/>
            <a:ext cx="10509199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1115568" y="5614416"/>
            <a:ext cx="99605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endgame:  </a:t>
            </a:r>
            <a:r>
              <a:rPr lang="en-US" sz="1350" dirty="0">
                <a:solidFill>
                  <a:srgbClr val="C7D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queryable layer of human experience — monetized through commerce.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00" y="-1280160"/>
            <a:ext cx="4754880" cy="4754880"/>
          </a:xfrm>
          <a:prstGeom prst="ellipse">
            <a:avLst/>
          </a:prstGeom>
          <a:ln w="15875">
            <a:solidFill>
              <a:srgbClr val="2C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2232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F75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network students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can't graduate without.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C7D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student we add makes the product smarter, the partner deals better, and the margins higher — a relationship that starts at 18 and lasts a lifetime.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05840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98448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98448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 live — real product, not a mockup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90288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90288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82896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Proven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82896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model as UNiDAYS (£53M/yr)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74736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74736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67344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Aligned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67344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profit when students save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05840" y="57150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B4DB1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0" descr="icons/ro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5879592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5715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Let's build this together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1B4DB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UNIFUND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2A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 your career.  Protect your money.  Plug into your people.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869</Words>
  <Application>Microsoft Office PowerPoint</Application>
  <PresentationFormat>Widescreen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Manrope</vt:lpstr>
      <vt:lpstr>Arial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UniFund Investor Presentation</dc:title>
  <dc:subject>PptxGenJS Presentation</dc:subject>
  <dc:creator>UniFund</dc:creator>
  <cp:lastModifiedBy>Gaddameedi SudeepAryan</cp:lastModifiedBy>
  <cp:revision>1</cp:revision>
  <dcterms:created xsi:type="dcterms:W3CDTF">2026-05-26T23:41:45Z</dcterms:created>
  <dcterms:modified xsi:type="dcterms:W3CDTF">2026-05-26T23:44:25Z</dcterms:modified>
</cp:coreProperties>
</file>