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B2C Pro (€12/mo)</c:v>
                </c:pt>
              </c:strCache>
            </c:strRef>
          </c:tx>
          <c:spPr>
            <a:solidFill>
              <a:srgbClr val="00C2E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Q1 Y1</c:v>
                  </c:pt>
                  <c:pt idx="1">
                    <c:v>Q2 Y1</c:v>
                  </c:pt>
                  <c:pt idx="2">
                    <c:v>Q3 Y1</c:v>
                  </c:pt>
                  <c:pt idx="3">
                    <c:v>Q4 Y1</c:v>
                  </c:pt>
                  <c:pt idx="4">
                    <c:v>Q1 Y2</c:v>
                  </c:pt>
                  <c:pt idx="5">
                    <c:v>Q2 Y2</c:v>
                  </c:pt>
                  <c:pt idx="6">
                    <c:v>Q3 Y2</c:v>
                  </c:pt>
                  <c:pt idx="7">
                    <c:v>Q4 Y2</c:v>
                  </c:pt>
                </c:lvl>
              </c:multiLvlStrCache>
            </c:multiLvlStrRef>
          </c:cat>
          <c:val>
            <c:numRef>
              <c:f>Sheet1!$B$2:$B$9</c:f>
              <c:numCache>
                <c:formatCode>General</c:formatCode>
                <c:ptCount val="8"/>
                <c:pt idx="0">
                  <c:v>1800</c:v>
                </c:pt>
                <c:pt idx="1">
                  <c:v>5400</c:v>
                </c:pt>
                <c:pt idx="2">
                  <c:v>14400</c:v>
                </c:pt>
                <c:pt idx="3">
                  <c:v>28800</c:v>
                </c:pt>
                <c:pt idx="4">
                  <c:v>43200</c:v>
                </c:pt>
                <c:pt idx="5">
                  <c:v>72000</c:v>
                </c:pt>
                <c:pt idx="6">
                  <c:v>115200</c:v>
                </c:pt>
                <c:pt idx="7">
                  <c:v>172800</c:v>
                </c:pt>
              </c:numCache>
            </c:numRef>
          </c:val>
        </c:ser>
        <c:ser>
          <c:idx val="1"/>
          <c:order val="1"/>
          <c:tx>
            <c:strRef>
              <c:f>Sheet1!$C$1</c:f>
              <c:strCache>
                <c:ptCount val="1"/>
                <c:pt idx="0">
                  <c:v>Institutional (€499–€2,999)</c:v>
                </c:pt>
              </c:strCache>
            </c:strRef>
          </c:tx>
          <c:spPr>
            <a:solidFill>
              <a:srgbClr val="4F3B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Q1 Y1</c:v>
                  </c:pt>
                  <c:pt idx="1">
                    <c:v>Q2 Y1</c:v>
                  </c:pt>
                  <c:pt idx="2">
                    <c:v>Q3 Y1</c:v>
                  </c:pt>
                  <c:pt idx="3">
                    <c:v>Q4 Y1</c:v>
                  </c:pt>
                  <c:pt idx="4">
                    <c:v>Q1 Y2</c:v>
                  </c:pt>
                  <c:pt idx="5">
                    <c:v>Q2 Y2</c:v>
                  </c:pt>
                  <c:pt idx="6">
                    <c:v>Q3 Y2</c:v>
                  </c:pt>
                  <c:pt idx="7">
                    <c:v>Q4 Y2</c:v>
                  </c:pt>
                </c:lvl>
              </c:multiLvlStrCache>
            </c:multiLvlStrRef>
          </c:cat>
          <c:val>
            <c:numRef>
              <c:f>Sheet1!$C$2:$C$9</c:f>
              <c:numCache>
                <c:formatCode>General</c:formatCode>
                <c:ptCount val="8"/>
                <c:pt idx="0">
                  <c:v>0</c:v>
                </c:pt>
                <c:pt idx="1">
                  <c:v>0</c:v>
                </c:pt>
                <c:pt idx="2">
                  <c:v>10000</c:v>
                </c:pt>
                <c:pt idx="3">
                  <c:v>35000</c:v>
                </c:pt>
                <c:pt idx="4">
                  <c:v>80000</c:v>
                </c:pt>
                <c:pt idx="5">
                  <c:v>160000</c:v>
                </c:pt>
                <c:pt idx="6">
                  <c:v>280000</c:v>
                </c:pt>
                <c:pt idx="7">
                  <c:v>480000</c:v>
                </c:pt>
              </c:numCache>
            </c:numRef>
          </c:val>
        </c:ser>
        <c:ser>
          <c:idx val="2"/>
          <c:order val="2"/>
          <c:tx>
            <c:strRef>
              <c:f>Sheet1!$D$1</c:f>
              <c:strCache>
                <c:ptCount val="1"/>
                <c:pt idx="0">
                  <c:v>Marketplace (30% rev share)</c:v>
                </c:pt>
              </c:strCache>
            </c:strRef>
          </c:tx>
          <c:spPr>
            <a:solidFill>
              <a:srgbClr val="F5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Q1 Y1</c:v>
                  </c:pt>
                  <c:pt idx="1">
                    <c:v>Q2 Y1</c:v>
                  </c:pt>
                  <c:pt idx="2">
                    <c:v>Q3 Y1</c:v>
                  </c:pt>
                  <c:pt idx="3">
                    <c:v>Q4 Y1</c:v>
                  </c:pt>
                  <c:pt idx="4">
                    <c:v>Q1 Y2</c:v>
                  </c:pt>
                  <c:pt idx="5">
                    <c:v>Q2 Y2</c:v>
                  </c:pt>
                  <c:pt idx="6">
                    <c:v>Q3 Y2</c:v>
                  </c:pt>
                  <c:pt idx="7">
                    <c:v>Q4 Y2</c:v>
                  </c:pt>
                </c:lvl>
              </c:multiLvlStrCache>
            </c:multiLvlStrRef>
          </c:cat>
          <c:val>
            <c:numRef>
              <c:f>Sheet1!$D$2:$D$9</c:f>
              <c:numCache>
                <c:formatCode>General</c:formatCode>
                <c:ptCount val="8"/>
                <c:pt idx="0">
                  <c:v>0</c:v>
                </c:pt>
                <c:pt idx="1">
                  <c:v>0</c:v>
                </c:pt>
                <c:pt idx="2">
                  <c:v>0</c:v>
                </c:pt>
                <c:pt idx="3">
                  <c:v>0</c:v>
                </c:pt>
                <c:pt idx="4">
                  <c:v>5000</c:v>
                </c:pt>
                <c:pt idx="5">
                  <c:v>18000</c:v>
                </c:pt>
                <c:pt idx="6">
                  <c:v>45000</c:v>
                </c:pt>
                <c:pt idx="7">
                  <c:v>110000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A7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C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8FA3C8"/>
              </a:solidFill>
            </a:defRPr>
          </a:pPr>
          <a:endParaRPr lang="en-US"/>
        </a:p>
      </c:txPr>
    </c:legend>
    <c:plotVisOnly val="1"/>
    <c:dispBlanksAs val="span"/>
  </c:chart>
  <c:spPr>
    <a:solidFill>
      <a:srgbClr val="131E4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1014984" y="923544"/>
            <a:ext cx="164592" cy="164592"/>
          </a:xfrm>
          <a:prstGeom prst="ellipse">
            <a:avLst/>
          </a:prstGeom>
          <a:solidFill>
            <a:srgbClr val="4F3BDB">
              <a:alpha val="30000"/>
            </a:srgbClr>
          </a:solidFill>
          <a:ln w="12700">
            <a:solidFill>
              <a:srgbClr val="4F3BDB"/>
            </a:solidFill>
            <a:prstDash val="solid"/>
          </a:ln>
        </p:spPr>
      </p:sp>
      <p:sp>
        <p:nvSpPr>
          <p:cNvPr id="3" name="Shape 1"/>
          <p:cNvSpPr/>
          <p:nvPr/>
        </p:nvSpPr>
        <p:spPr>
          <a:xfrm>
            <a:off x="1056132" y="964692"/>
            <a:ext cx="82296" cy="82296"/>
          </a:xfrm>
          <a:prstGeom prst="ellipse">
            <a:avLst/>
          </a:prstGeom>
          <a:solidFill>
            <a:srgbClr val="4F3BDB"/>
          </a:solidFill>
          <a:ln w="12700">
            <a:solidFill>
              <a:srgbClr val="4F3BDB"/>
            </a:solidFill>
            <a:prstDash val="solid"/>
          </a:ln>
        </p:spPr>
      </p:sp>
      <p:sp>
        <p:nvSpPr>
          <p:cNvPr id="4" name="Shape 2"/>
          <p:cNvSpPr/>
          <p:nvPr/>
        </p:nvSpPr>
        <p:spPr>
          <a:xfrm>
            <a:off x="3118104" y="283464"/>
            <a:ext cx="164592" cy="164592"/>
          </a:xfrm>
          <a:prstGeom prst="ellipse">
            <a:avLst/>
          </a:prstGeom>
          <a:solidFill>
            <a:srgbClr val="4F3BDB">
              <a:alpha val="30000"/>
            </a:srgbClr>
          </a:solidFill>
          <a:ln w="12700">
            <a:solidFill>
              <a:srgbClr val="4F3BDB"/>
            </a:solidFill>
            <a:prstDash val="solid"/>
          </a:ln>
        </p:spPr>
      </p:sp>
      <p:sp>
        <p:nvSpPr>
          <p:cNvPr id="5" name="Shape 3"/>
          <p:cNvSpPr/>
          <p:nvPr/>
        </p:nvSpPr>
        <p:spPr>
          <a:xfrm>
            <a:off x="3159252" y="324612"/>
            <a:ext cx="82296" cy="82296"/>
          </a:xfrm>
          <a:prstGeom prst="ellipse">
            <a:avLst/>
          </a:prstGeom>
          <a:solidFill>
            <a:srgbClr val="4F3BDB"/>
          </a:solidFill>
          <a:ln w="12700">
            <a:solidFill>
              <a:srgbClr val="4F3BDB"/>
            </a:solidFill>
            <a:prstDash val="solid"/>
          </a:ln>
        </p:spPr>
      </p:sp>
      <p:sp>
        <p:nvSpPr>
          <p:cNvPr id="6" name="Shape 4"/>
          <p:cNvSpPr/>
          <p:nvPr/>
        </p:nvSpPr>
        <p:spPr>
          <a:xfrm>
            <a:off x="7415784" y="649224"/>
            <a:ext cx="164592" cy="164592"/>
          </a:xfrm>
          <a:prstGeom prst="ellipse">
            <a:avLst/>
          </a:prstGeom>
          <a:solidFill>
            <a:srgbClr val="4F3BDB">
              <a:alpha val="30000"/>
            </a:srgbClr>
          </a:solidFill>
          <a:ln w="12700">
            <a:solidFill>
              <a:srgbClr val="4F3BDB"/>
            </a:solidFill>
            <a:prstDash val="solid"/>
          </a:ln>
        </p:spPr>
      </p:sp>
      <p:sp>
        <p:nvSpPr>
          <p:cNvPr id="7" name="Shape 5"/>
          <p:cNvSpPr/>
          <p:nvPr/>
        </p:nvSpPr>
        <p:spPr>
          <a:xfrm>
            <a:off x="7456932" y="690372"/>
            <a:ext cx="82296" cy="82296"/>
          </a:xfrm>
          <a:prstGeom prst="ellipse">
            <a:avLst/>
          </a:prstGeom>
          <a:solidFill>
            <a:srgbClr val="4F3BDB"/>
          </a:solidFill>
          <a:ln w="12700">
            <a:solidFill>
              <a:srgbClr val="4F3BDB"/>
            </a:solidFill>
            <a:prstDash val="solid"/>
          </a:ln>
        </p:spPr>
      </p:sp>
      <p:sp>
        <p:nvSpPr>
          <p:cNvPr id="8" name="Shape 6"/>
          <p:cNvSpPr/>
          <p:nvPr/>
        </p:nvSpPr>
        <p:spPr>
          <a:xfrm>
            <a:off x="8695944" y="1929384"/>
            <a:ext cx="164592" cy="164592"/>
          </a:xfrm>
          <a:prstGeom prst="ellipse">
            <a:avLst/>
          </a:prstGeom>
          <a:solidFill>
            <a:srgbClr val="4F3BDB">
              <a:alpha val="30000"/>
            </a:srgbClr>
          </a:solidFill>
          <a:ln w="12700">
            <a:solidFill>
              <a:srgbClr val="4F3BDB"/>
            </a:solidFill>
            <a:prstDash val="solid"/>
          </a:ln>
        </p:spPr>
      </p:sp>
      <p:sp>
        <p:nvSpPr>
          <p:cNvPr id="9" name="Shape 7"/>
          <p:cNvSpPr/>
          <p:nvPr/>
        </p:nvSpPr>
        <p:spPr>
          <a:xfrm>
            <a:off x="8737092" y="1970532"/>
            <a:ext cx="82296" cy="82296"/>
          </a:xfrm>
          <a:prstGeom prst="ellipse">
            <a:avLst/>
          </a:prstGeom>
          <a:solidFill>
            <a:srgbClr val="4F3BDB"/>
          </a:solidFill>
          <a:ln w="12700">
            <a:solidFill>
              <a:srgbClr val="4F3BDB"/>
            </a:solidFill>
            <a:prstDash val="solid"/>
          </a:ln>
        </p:spPr>
      </p:sp>
      <p:sp>
        <p:nvSpPr>
          <p:cNvPr id="10" name="Shape 8"/>
          <p:cNvSpPr/>
          <p:nvPr/>
        </p:nvSpPr>
        <p:spPr>
          <a:xfrm>
            <a:off x="374904" y="3666744"/>
            <a:ext cx="164592" cy="164592"/>
          </a:xfrm>
          <a:prstGeom prst="ellipse">
            <a:avLst/>
          </a:prstGeom>
          <a:solidFill>
            <a:srgbClr val="4F3BDB">
              <a:alpha val="30000"/>
            </a:srgbClr>
          </a:solidFill>
          <a:ln w="12700">
            <a:solidFill>
              <a:srgbClr val="4F3BDB"/>
            </a:solidFill>
            <a:prstDash val="solid"/>
          </a:ln>
        </p:spPr>
      </p:sp>
      <p:sp>
        <p:nvSpPr>
          <p:cNvPr id="11" name="Shape 9"/>
          <p:cNvSpPr/>
          <p:nvPr/>
        </p:nvSpPr>
        <p:spPr>
          <a:xfrm>
            <a:off x="416052" y="3707892"/>
            <a:ext cx="82296" cy="82296"/>
          </a:xfrm>
          <a:prstGeom prst="ellipse">
            <a:avLst/>
          </a:prstGeom>
          <a:solidFill>
            <a:srgbClr val="4F3BDB"/>
          </a:solidFill>
          <a:ln w="12700">
            <a:solidFill>
              <a:srgbClr val="4F3BDB"/>
            </a:solidFill>
            <a:prstDash val="solid"/>
          </a:ln>
        </p:spPr>
      </p:sp>
      <p:sp>
        <p:nvSpPr>
          <p:cNvPr id="12" name="Shape 10"/>
          <p:cNvSpPr/>
          <p:nvPr/>
        </p:nvSpPr>
        <p:spPr>
          <a:xfrm>
            <a:off x="6135624" y="4489704"/>
            <a:ext cx="164592" cy="164592"/>
          </a:xfrm>
          <a:prstGeom prst="ellipse">
            <a:avLst/>
          </a:prstGeom>
          <a:solidFill>
            <a:srgbClr val="4F3BDB">
              <a:alpha val="30000"/>
            </a:srgbClr>
          </a:solidFill>
          <a:ln w="12700">
            <a:solidFill>
              <a:srgbClr val="4F3BDB"/>
            </a:solidFill>
            <a:prstDash val="solid"/>
          </a:ln>
        </p:spPr>
      </p:sp>
      <p:sp>
        <p:nvSpPr>
          <p:cNvPr id="13" name="Shape 11"/>
          <p:cNvSpPr/>
          <p:nvPr/>
        </p:nvSpPr>
        <p:spPr>
          <a:xfrm>
            <a:off x="6176772" y="4530852"/>
            <a:ext cx="82296" cy="82296"/>
          </a:xfrm>
          <a:prstGeom prst="ellipse">
            <a:avLst/>
          </a:prstGeom>
          <a:solidFill>
            <a:srgbClr val="4F3BDB"/>
          </a:solidFill>
          <a:ln w="12700">
            <a:solidFill>
              <a:srgbClr val="4F3BDB"/>
            </a:solidFill>
            <a:prstDash val="solid"/>
          </a:ln>
        </p:spPr>
      </p:sp>
      <p:sp>
        <p:nvSpPr>
          <p:cNvPr id="14" name="Shape 12"/>
          <p:cNvSpPr/>
          <p:nvPr/>
        </p:nvSpPr>
        <p:spPr>
          <a:xfrm>
            <a:off x="8238744" y="4215384"/>
            <a:ext cx="164592" cy="164592"/>
          </a:xfrm>
          <a:prstGeom prst="ellipse">
            <a:avLst/>
          </a:prstGeom>
          <a:solidFill>
            <a:srgbClr val="4F3BDB">
              <a:alpha val="30000"/>
            </a:srgbClr>
          </a:solidFill>
          <a:ln w="12700">
            <a:solidFill>
              <a:srgbClr val="4F3BDB"/>
            </a:solidFill>
            <a:prstDash val="solid"/>
          </a:ln>
        </p:spPr>
      </p:sp>
      <p:sp>
        <p:nvSpPr>
          <p:cNvPr id="15" name="Shape 13"/>
          <p:cNvSpPr/>
          <p:nvPr/>
        </p:nvSpPr>
        <p:spPr>
          <a:xfrm>
            <a:off x="8279892" y="4256532"/>
            <a:ext cx="82296" cy="82296"/>
          </a:xfrm>
          <a:prstGeom prst="ellipse">
            <a:avLst/>
          </a:prstGeom>
          <a:solidFill>
            <a:srgbClr val="4F3BDB"/>
          </a:solidFill>
          <a:ln w="12700">
            <a:solidFill>
              <a:srgbClr val="4F3BDB"/>
            </a:solidFill>
            <a:prstDash val="solid"/>
          </a:ln>
        </p:spPr>
      </p:sp>
      <p:sp>
        <p:nvSpPr>
          <p:cNvPr id="16" name="Shape 14"/>
          <p:cNvSpPr/>
          <p:nvPr/>
        </p:nvSpPr>
        <p:spPr>
          <a:xfrm>
            <a:off x="2514600" y="2423160"/>
            <a:ext cx="91440" cy="91440"/>
          </a:xfrm>
          <a:prstGeom prst="ellipse">
            <a:avLst/>
          </a:prstGeom>
          <a:solidFill>
            <a:srgbClr val="00C2E0">
              <a:alpha val="30000"/>
            </a:srgbClr>
          </a:solidFill>
          <a:ln w="12700">
            <a:solidFill>
              <a:srgbClr val="00C2E0"/>
            </a:solidFill>
            <a:prstDash val="solid"/>
          </a:ln>
        </p:spPr>
      </p:sp>
      <p:sp>
        <p:nvSpPr>
          <p:cNvPr id="17" name="Shape 15"/>
          <p:cNvSpPr/>
          <p:nvPr/>
        </p:nvSpPr>
        <p:spPr>
          <a:xfrm>
            <a:off x="2537460" y="2446020"/>
            <a:ext cx="45720" cy="45720"/>
          </a:xfrm>
          <a:prstGeom prst="ellipse">
            <a:avLst/>
          </a:prstGeom>
          <a:solidFill>
            <a:srgbClr val="00C2E0"/>
          </a:solidFill>
          <a:ln w="12700">
            <a:solidFill>
              <a:srgbClr val="00C2E0"/>
            </a:solidFill>
            <a:prstDash val="solid"/>
          </a:ln>
        </p:spPr>
      </p:sp>
      <p:sp>
        <p:nvSpPr>
          <p:cNvPr id="18" name="Shape 16"/>
          <p:cNvSpPr/>
          <p:nvPr/>
        </p:nvSpPr>
        <p:spPr>
          <a:xfrm>
            <a:off x="4983480" y="868680"/>
            <a:ext cx="91440" cy="91440"/>
          </a:xfrm>
          <a:prstGeom prst="ellipse">
            <a:avLst/>
          </a:prstGeom>
          <a:solidFill>
            <a:srgbClr val="00C2E0">
              <a:alpha val="30000"/>
            </a:srgbClr>
          </a:solidFill>
          <a:ln w="12700">
            <a:solidFill>
              <a:srgbClr val="00C2E0"/>
            </a:solidFill>
            <a:prstDash val="solid"/>
          </a:ln>
        </p:spPr>
      </p:sp>
      <p:sp>
        <p:nvSpPr>
          <p:cNvPr id="19" name="Shape 17"/>
          <p:cNvSpPr/>
          <p:nvPr/>
        </p:nvSpPr>
        <p:spPr>
          <a:xfrm>
            <a:off x="5006340" y="891540"/>
            <a:ext cx="45720" cy="45720"/>
          </a:xfrm>
          <a:prstGeom prst="ellipse">
            <a:avLst/>
          </a:prstGeom>
          <a:solidFill>
            <a:srgbClr val="00C2E0"/>
          </a:solidFill>
          <a:ln w="12700">
            <a:solidFill>
              <a:srgbClr val="00C2E0"/>
            </a:solidFill>
            <a:prstDash val="solid"/>
          </a:ln>
        </p:spPr>
      </p:sp>
      <p:sp>
        <p:nvSpPr>
          <p:cNvPr id="20" name="Shape 18"/>
          <p:cNvSpPr/>
          <p:nvPr/>
        </p:nvSpPr>
        <p:spPr>
          <a:xfrm>
            <a:off x="6812280" y="3429000"/>
            <a:ext cx="91440" cy="91440"/>
          </a:xfrm>
          <a:prstGeom prst="ellipse">
            <a:avLst/>
          </a:prstGeom>
          <a:solidFill>
            <a:srgbClr val="00C2E0">
              <a:alpha val="30000"/>
            </a:srgbClr>
          </a:solidFill>
          <a:ln w="12700">
            <a:solidFill>
              <a:srgbClr val="00C2E0"/>
            </a:solidFill>
            <a:prstDash val="solid"/>
          </a:ln>
        </p:spPr>
      </p:sp>
      <p:sp>
        <p:nvSpPr>
          <p:cNvPr id="21" name="Shape 19"/>
          <p:cNvSpPr/>
          <p:nvPr/>
        </p:nvSpPr>
        <p:spPr>
          <a:xfrm>
            <a:off x="6835140" y="3451860"/>
            <a:ext cx="45720" cy="45720"/>
          </a:xfrm>
          <a:prstGeom prst="ellipse">
            <a:avLst/>
          </a:prstGeom>
          <a:solidFill>
            <a:srgbClr val="00C2E0"/>
          </a:solidFill>
          <a:ln w="12700">
            <a:solidFill>
              <a:srgbClr val="00C2E0"/>
            </a:solidFill>
            <a:prstDash val="solid"/>
          </a:ln>
        </p:spPr>
      </p:sp>
      <p:sp>
        <p:nvSpPr>
          <p:cNvPr id="22" name="Shape 20"/>
          <p:cNvSpPr/>
          <p:nvPr/>
        </p:nvSpPr>
        <p:spPr>
          <a:xfrm>
            <a:off x="1097280" y="1005840"/>
            <a:ext cx="2103120" cy="-640080"/>
          </a:xfrm>
          <a:prstGeom prst="line">
            <a:avLst/>
          </a:prstGeom>
          <a:noFill/>
          <a:ln w="6350">
            <a:solidFill>
              <a:srgbClr val="4F3BDB">
                <a:alpha val="40000"/>
              </a:srgbClr>
            </a:solidFill>
            <a:prstDash val="solid"/>
          </a:ln>
        </p:spPr>
      </p:sp>
      <p:sp>
        <p:nvSpPr>
          <p:cNvPr id="23" name="Shape 21"/>
          <p:cNvSpPr/>
          <p:nvPr/>
        </p:nvSpPr>
        <p:spPr>
          <a:xfrm>
            <a:off x="3200400" y="365760"/>
            <a:ext cx="1828800" cy="548640"/>
          </a:xfrm>
          <a:prstGeom prst="line">
            <a:avLst/>
          </a:prstGeom>
          <a:noFill/>
          <a:ln w="6350">
            <a:solidFill>
              <a:srgbClr val="4F3BDB">
                <a:alpha val="40000"/>
              </a:srgbClr>
            </a:solidFill>
            <a:prstDash val="solid"/>
          </a:ln>
        </p:spPr>
      </p:sp>
      <p:sp>
        <p:nvSpPr>
          <p:cNvPr id="24" name="Shape 22"/>
          <p:cNvSpPr/>
          <p:nvPr/>
        </p:nvSpPr>
        <p:spPr>
          <a:xfrm>
            <a:off x="5029200" y="914400"/>
            <a:ext cx="2468880" cy="-182880"/>
          </a:xfrm>
          <a:prstGeom prst="line">
            <a:avLst/>
          </a:prstGeom>
          <a:noFill/>
          <a:ln w="6350">
            <a:solidFill>
              <a:srgbClr val="4F3BDB">
                <a:alpha val="40000"/>
              </a:srgbClr>
            </a:solidFill>
            <a:prstDash val="solid"/>
          </a:ln>
        </p:spPr>
      </p:sp>
      <p:sp>
        <p:nvSpPr>
          <p:cNvPr id="25" name="Shape 23"/>
          <p:cNvSpPr/>
          <p:nvPr/>
        </p:nvSpPr>
        <p:spPr>
          <a:xfrm>
            <a:off x="2560320" y="2468880"/>
            <a:ext cx="2468880" cy="-1554480"/>
          </a:xfrm>
          <a:prstGeom prst="line">
            <a:avLst/>
          </a:prstGeom>
          <a:noFill/>
          <a:ln w="6350">
            <a:solidFill>
              <a:srgbClr val="4F3BDB">
                <a:alpha val="40000"/>
              </a:srgbClr>
            </a:solidFill>
            <a:prstDash val="solid"/>
          </a:ln>
        </p:spPr>
      </p:sp>
      <p:sp>
        <p:nvSpPr>
          <p:cNvPr id="26" name="Shape 24"/>
          <p:cNvSpPr/>
          <p:nvPr/>
        </p:nvSpPr>
        <p:spPr>
          <a:xfrm>
            <a:off x="7498080" y="731520"/>
            <a:ext cx="1280160" cy="1280160"/>
          </a:xfrm>
          <a:prstGeom prst="line">
            <a:avLst/>
          </a:prstGeom>
          <a:noFill/>
          <a:ln w="6350">
            <a:solidFill>
              <a:srgbClr val="4F3BDB">
                <a:alpha val="40000"/>
              </a:srgbClr>
            </a:solidFill>
            <a:prstDash val="solid"/>
          </a:ln>
        </p:spPr>
      </p:sp>
      <p:sp>
        <p:nvSpPr>
          <p:cNvPr id="27" name="Shape 25"/>
          <p:cNvSpPr/>
          <p:nvPr/>
        </p:nvSpPr>
        <p:spPr>
          <a:xfrm>
            <a:off x="5029200" y="914400"/>
            <a:ext cx="1188720" cy="3657600"/>
          </a:xfrm>
          <a:prstGeom prst="line">
            <a:avLst/>
          </a:prstGeom>
          <a:noFill/>
          <a:ln w="6350">
            <a:solidFill>
              <a:srgbClr val="4F3BDB">
                <a:alpha val="40000"/>
              </a:srgbClr>
            </a:solidFill>
            <a:prstDash val="solid"/>
          </a:ln>
        </p:spPr>
      </p:sp>
      <p:sp>
        <p:nvSpPr>
          <p:cNvPr id="28" name="Text 26"/>
          <p:cNvSpPr/>
          <p:nvPr/>
        </p:nvSpPr>
        <p:spPr>
          <a:xfrm>
            <a:off x="548640" y="1463040"/>
            <a:ext cx="4572000"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UniMind</a:t>
            </a:r>
            <a:endParaRPr lang="en-US" sz="5400" dirty="0"/>
          </a:p>
        </p:txBody>
      </p:sp>
      <p:sp>
        <p:nvSpPr>
          <p:cNvPr id="29" name="Text 27"/>
          <p:cNvSpPr/>
          <p:nvPr/>
        </p:nvSpPr>
        <p:spPr>
          <a:xfrm>
            <a:off x="594360" y="2331720"/>
            <a:ext cx="3657600" cy="365760"/>
          </a:xfrm>
          <a:prstGeom prst="rect">
            <a:avLst/>
          </a:prstGeom>
          <a:noFill/>
          <a:ln/>
        </p:spPr>
        <p:txBody>
          <a:bodyPr wrap="square" rtlCol="0" anchor="ctr"/>
          <a:lstStyle/>
          <a:p>
            <a:pPr indent="0" marL="0">
              <a:buNone/>
            </a:pPr>
            <a:r>
              <a:rPr lang="en-US" sz="1600" spc="200" kern="0" dirty="0">
                <a:solidFill>
                  <a:srgbClr val="00C2E0"/>
                </a:solidFill>
                <a:latin typeface="Calibri" pitchFamily="34" charset="0"/>
                <a:ea typeface="Calibri" pitchFamily="34" charset="-122"/>
                <a:cs typeface="Calibri" pitchFamily="34" charset="-120"/>
              </a:rPr>
              <a:t>by Unifund</a:t>
            </a:r>
            <a:endParaRPr lang="en-US" sz="1600" dirty="0"/>
          </a:p>
        </p:txBody>
      </p:sp>
      <p:sp>
        <p:nvSpPr>
          <p:cNvPr id="30" name="Text 28"/>
          <p:cNvSpPr/>
          <p:nvPr/>
        </p:nvSpPr>
        <p:spPr>
          <a:xfrm>
            <a:off x="548640" y="2880360"/>
            <a:ext cx="5486400" cy="822960"/>
          </a:xfrm>
          <a:prstGeom prst="rect">
            <a:avLst/>
          </a:prstGeom>
          <a:noFill/>
          <a:ln/>
        </p:spPr>
        <p:txBody>
          <a:bodyPr wrap="square" rtlCol="0" anchor="ctr"/>
          <a:lstStyle/>
          <a:p>
            <a:pPr indent="0" marL="0">
              <a:lnSpc>
                <a:spcPct val="140000"/>
              </a:lnSpc>
              <a:buNone/>
            </a:pPr>
            <a:r>
              <a:rPr lang="en-US" sz="1500" dirty="0">
                <a:solidFill>
                  <a:srgbClr val="8FA3C8"/>
                </a:solidFill>
                <a:latin typeface="Calibri" pitchFamily="34" charset="0"/>
                <a:ea typeface="Calibri" pitchFamily="34" charset="-122"/>
                <a:cs typeface="Calibri" pitchFamily="34" charset="-120"/>
              </a:rPr>
              <a:t>The AI that predicts your future</a:t>
            </a:r>
            <a:endParaRPr lang="en-US" sz="1500" dirty="0"/>
          </a:p>
          <a:p>
            <a:pPr indent="0" marL="0">
              <a:lnSpc>
                <a:spcPct val="140000"/>
              </a:lnSpc>
              <a:buNone/>
            </a:pPr>
            <a:r>
              <a:rPr lang="en-US" sz="1500" dirty="0">
                <a:solidFill>
                  <a:srgbClr val="8FA3C8"/>
                </a:solidFill>
                <a:latin typeface="Calibri" pitchFamily="34" charset="0"/>
                <a:ea typeface="Calibri" pitchFamily="34" charset="-122"/>
                <a:cs typeface="Calibri" pitchFamily="34" charset="-120"/>
              </a:rPr>
              <a:t>using the lived experience of thousands.</a:t>
            </a:r>
            <a:endParaRPr lang="en-US" sz="1500" dirty="0"/>
          </a:p>
        </p:txBody>
      </p:sp>
      <p:sp>
        <p:nvSpPr>
          <p:cNvPr id="31" name="Shape 29"/>
          <p:cNvSpPr/>
          <p:nvPr/>
        </p:nvSpPr>
        <p:spPr>
          <a:xfrm>
            <a:off x="365760" y="3931920"/>
            <a:ext cx="8412480" cy="9601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2" name="Text 30"/>
          <p:cNvSpPr/>
          <p:nvPr/>
        </p:nvSpPr>
        <p:spPr>
          <a:xfrm>
            <a:off x="502920" y="3977640"/>
            <a:ext cx="1828800" cy="22860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33" name="Text 31"/>
          <p:cNvSpPr/>
          <p:nvPr/>
        </p:nvSpPr>
        <p:spPr>
          <a:xfrm>
            <a:off x="502920" y="4206240"/>
            <a:ext cx="8229600" cy="59436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"What if instead of Googling advice, you could run a simulation — powered by real people who already walked your exact path? That's UniMind. We turn lived human experience into a queryable prediction engine. And today, I'm here to show you how we monetise it."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74320"/>
            <a:ext cx="3200400" cy="201168"/>
          </a:xfrm>
          <a:prstGeom prst="rect">
            <a:avLst/>
          </a:prstGeom>
          <a:noFill/>
          <a:ln/>
        </p:spPr>
        <p:txBody>
          <a:bodyPr wrap="square" rtlCol="0" anchor="ctr"/>
          <a:lstStyle/>
          <a:p>
            <a:pPr indent="0" marL="0">
              <a:buNone/>
            </a:pPr>
            <a:r>
              <a:rPr lang="en-US" sz="800" b="1" spc="300" kern="0" dirty="0">
                <a:solidFill>
                  <a:srgbClr val="00C2E0"/>
                </a:solidFill>
                <a:latin typeface="Calibri" pitchFamily="34" charset="0"/>
                <a:ea typeface="Calibri" pitchFamily="34" charset="-122"/>
                <a:cs typeface="Calibri" pitchFamily="34" charset="-120"/>
              </a:rPr>
              <a:t>THE PROBLEM</a:t>
            </a:r>
            <a:endParaRPr lang="en-US" sz="800" dirty="0"/>
          </a:p>
        </p:txBody>
      </p:sp>
      <p:sp>
        <p:nvSpPr>
          <p:cNvPr id="3" name="Text 1"/>
          <p:cNvSpPr/>
          <p:nvPr/>
        </p:nvSpPr>
        <p:spPr>
          <a:xfrm>
            <a:off x="457200" y="530352"/>
            <a:ext cx="6858000" cy="91440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Advice is broken.</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Knowledge dies with the person.</a:t>
            </a:r>
            <a:endParaRPr lang="en-US" sz="2800" dirty="0"/>
          </a:p>
        </p:txBody>
      </p:sp>
      <p:sp>
        <p:nvSpPr>
          <p:cNvPr id="4" name="Shape 2"/>
          <p:cNvSpPr/>
          <p:nvPr/>
        </p:nvSpPr>
        <p:spPr>
          <a:xfrm>
            <a:off x="457200" y="1600200"/>
            <a:ext cx="4023360" cy="1143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594360" y="1709928"/>
            <a:ext cx="3749040" cy="292608"/>
          </a:xfrm>
          <a:prstGeom prst="rect">
            <a:avLst/>
          </a:prstGeom>
          <a:noFill/>
          <a:ln/>
        </p:spPr>
        <p:txBody>
          <a:bodyPr wrap="square" rtlCol="0" anchor="ctr"/>
          <a:lstStyle/>
          <a:p>
            <a:pPr indent="0" marL="0">
              <a:buNone/>
            </a:pPr>
            <a:r>
              <a:rPr lang="en-US" sz="1300" b="1" dirty="0">
                <a:solidFill>
                  <a:srgbClr val="FF4D6D"/>
                </a:solidFill>
                <a:latin typeface="Calibri" pitchFamily="34" charset="0"/>
                <a:ea typeface="Calibri" pitchFamily="34" charset="-122"/>
                <a:cs typeface="Calibri" pitchFamily="34" charset="-120"/>
              </a:rPr>
              <a:t>❌  Generic AI</a:t>
            </a:r>
            <a:endParaRPr lang="en-US" sz="1300" dirty="0"/>
          </a:p>
        </p:txBody>
      </p:sp>
      <p:sp>
        <p:nvSpPr>
          <p:cNvPr id="6" name="Text 4"/>
          <p:cNvSpPr/>
          <p:nvPr/>
        </p:nvSpPr>
        <p:spPr>
          <a:xfrm>
            <a:off x="594360" y="2002536"/>
            <a:ext cx="3749040" cy="5943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ChatGPT gives the same answer to a 19-year-old student and a 40-year-old career changer.</a:t>
            </a:r>
            <a:endParaRPr lang="en-US" sz="1100" dirty="0"/>
          </a:p>
        </p:txBody>
      </p:sp>
      <p:sp>
        <p:nvSpPr>
          <p:cNvPr id="7" name="Shape 5"/>
          <p:cNvSpPr/>
          <p:nvPr/>
        </p:nvSpPr>
        <p:spPr>
          <a:xfrm>
            <a:off x="457200" y="2926080"/>
            <a:ext cx="4023360" cy="1143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594360" y="3035808"/>
            <a:ext cx="3749040" cy="292608"/>
          </a:xfrm>
          <a:prstGeom prst="rect">
            <a:avLst/>
          </a:prstGeom>
          <a:noFill/>
          <a:ln/>
        </p:spPr>
        <p:txBody>
          <a:bodyPr wrap="square" rtlCol="0" anchor="ctr"/>
          <a:lstStyle/>
          <a:p>
            <a:pPr indent="0" marL="0">
              <a:buNone/>
            </a:pPr>
            <a:r>
              <a:rPr lang="en-US" sz="1300" b="1" dirty="0">
                <a:solidFill>
                  <a:srgbClr val="FF4D6D"/>
                </a:solidFill>
                <a:latin typeface="Calibri" pitchFamily="34" charset="0"/>
                <a:ea typeface="Calibri" pitchFamily="34" charset="-122"/>
                <a:cs typeface="Calibri" pitchFamily="34" charset="-120"/>
              </a:rPr>
              <a:t>❌  One-to-one mentorship</a:t>
            </a:r>
            <a:endParaRPr lang="en-US" sz="1300" dirty="0"/>
          </a:p>
        </p:txBody>
      </p:sp>
      <p:sp>
        <p:nvSpPr>
          <p:cNvPr id="9" name="Text 7"/>
          <p:cNvSpPr/>
          <p:nvPr/>
        </p:nvSpPr>
        <p:spPr>
          <a:xfrm>
            <a:off x="594360" y="3328416"/>
            <a:ext cx="3749040" cy="5943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The best advice only reaches one person at a time. Most people never access it.</a:t>
            </a:r>
            <a:endParaRPr lang="en-US" sz="1100" dirty="0"/>
          </a:p>
        </p:txBody>
      </p:sp>
      <p:sp>
        <p:nvSpPr>
          <p:cNvPr id="10" name="Shape 8"/>
          <p:cNvSpPr/>
          <p:nvPr/>
        </p:nvSpPr>
        <p:spPr>
          <a:xfrm>
            <a:off x="4709160" y="1600200"/>
            <a:ext cx="4023360" cy="1143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846320" y="1709928"/>
            <a:ext cx="3749040" cy="292608"/>
          </a:xfrm>
          <a:prstGeom prst="rect">
            <a:avLst/>
          </a:prstGeom>
          <a:noFill/>
          <a:ln/>
        </p:spPr>
        <p:txBody>
          <a:bodyPr wrap="square" rtlCol="0" anchor="ctr"/>
          <a:lstStyle/>
          <a:p>
            <a:pPr indent="0" marL="0">
              <a:buNone/>
            </a:pPr>
            <a:r>
              <a:rPr lang="en-US" sz="1300" b="1" dirty="0">
                <a:solidFill>
                  <a:srgbClr val="FF4D6D"/>
                </a:solidFill>
                <a:latin typeface="Calibri" pitchFamily="34" charset="0"/>
                <a:ea typeface="Calibri" pitchFamily="34" charset="-122"/>
                <a:cs typeface="Calibri" pitchFamily="34" charset="-120"/>
              </a:rPr>
              <a:t>❌  No memory of you</a:t>
            </a:r>
            <a:endParaRPr lang="en-US" sz="1300" dirty="0"/>
          </a:p>
        </p:txBody>
      </p:sp>
      <p:sp>
        <p:nvSpPr>
          <p:cNvPr id="12" name="Text 10"/>
          <p:cNvSpPr/>
          <p:nvPr/>
        </p:nvSpPr>
        <p:spPr>
          <a:xfrm>
            <a:off x="4846320" y="2002536"/>
            <a:ext cx="3749040" cy="5943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Every conversation starts from zero. No AI knows your journey, your fears, or your goals.</a:t>
            </a:r>
            <a:endParaRPr lang="en-US" sz="1100" dirty="0"/>
          </a:p>
        </p:txBody>
      </p:sp>
      <p:sp>
        <p:nvSpPr>
          <p:cNvPr id="13" name="Shape 11"/>
          <p:cNvSpPr/>
          <p:nvPr/>
        </p:nvSpPr>
        <p:spPr>
          <a:xfrm>
            <a:off x="4709160" y="2926080"/>
            <a:ext cx="4023360" cy="1143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4846320" y="3035808"/>
            <a:ext cx="3749040" cy="292608"/>
          </a:xfrm>
          <a:prstGeom prst="rect">
            <a:avLst/>
          </a:prstGeom>
          <a:noFill/>
          <a:ln/>
        </p:spPr>
        <p:txBody>
          <a:bodyPr wrap="square" rtlCol="0" anchor="ctr"/>
          <a:lstStyle/>
          <a:p>
            <a:pPr indent="0" marL="0">
              <a:buNone/>
            </a:pPr>
            <a:r>
              <a:rPr lang="en-US" sz="1300" b="1" dirty="0">
                <a:solidFill>
                  <a:srgbClr val="FF4D6D"/>
                </a:solidFill>
                <a:latin typeface="Calibri" pitchFamily="34" charset="0"/>
                <a:ea typeface="Calibri" pitchFamily="34" charset="-122"/>
                <a:cs typeface="Calibri" pitchFamily="34" charset="-120"/>
              </a:rPr>
              <a:t>❌  Advice without proof</a:t>
            </a:r>
            <a:endParaRPr lang="en-US" sz="1300" dirty="0"/>
          </a:p>
        </p:txBody>
      </p:sp>
      <p:sp>
        <p:nvSpPr>
          <p:cNvPr id="15" name="Text 13"/>
          <p:cNvSpPr/>
          <p:nvPr/>
        </p:nvSpPr>
        <p:spPr>
          <a:xfrm>
            <a:off x="4846320" y="3328416"/>
            <a:ext cx="3749040" cy="5943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People learn from people who 'read about it' — not from those who actually lived it.</a:t>
            </a:r>
            <a:endParaRPr lang="en-US" sz="1100" dirty="0"/>
          </a:p>
        </p:txBody>
      </p:sp>
      <p:sp>
        <p:nvSpPr>
          <p:cNvPr id="16" name="Shape 14"/>
          <p:cNvSpPr/>
          <p:nvPr/>
        </p:nvSpPr>
        <p:spPr>
          <a:xfrm>
            <a:off x="365760" y="3977640"/>
            <a:ext cx="8412480" cy="9144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7" name="Text 15"/>
          <p:cNvSpPr/>
          <p:nvPr/>
        </p:nvSpPr>
        <p:spPr>
          <a:xfrm>
            <a:off x="502920" y="4023360"/>
            <a:ext cx="1828800" cy="22860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18" name="Text 16"/>
          <p:cNvSpPr/>
          <p:nvPr/>
        </p:nvSpPr>
        <p:spPr>
          <a:xfrm>
            <a:off x="502920" y="4251960"/>
            <a:ext cx="8229600" cy="54864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"Every day, millions of people face the same crossroads — starting college, switching careers, launching a business — and they search the internet and get the same generic answer as everyone else. The person who already lived that exact journey? They're not in the room. That wisdom evaporates. UniMind captures it permanently."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56032"/>
            <a:ext cx="2743200" cy="201168"/>
          </a:xfrm>
          <a:prstGeom prst="rect">
            <a:avLst/>
          </a:prstGeom>
          <a:noFill/>
          <a:ln/>
        </p:spPr>
        <p:txBody>
          <a:bodyPr wrap="square" rtlCol="0" anchor="ctr"/>
          <a:lstStyle/>
          <a:p>
            <a:pPr indent="0" marL="0">
              <a:buNone/>
            </a:pPr>
            <a:r>
              <a:rPr lang="en-US" sz="800" b="1" spc="300" kern="0" dirty="0">
                <a:solidFill>
                  <a:srgbClr val="00C2E0"/>
                </a:solidFill>
                <a:latin typeface="Calibri" pitchFamily="34" charset="0"/>
                <a:ea typeface="Calibri" pitchFamily="34" charset="-122"/>
                <a:cs typeface="Calibri" pitchFamily="34" charset="-120"/>
              </a:rPr>
              <a:t>THE SOLUTION</a:t>
            </a:r>
            <a:endParaRPr lang="en-US" sz="800" dirty="0"/>
          </a:p>
        </p:txBody>
      </p:sp>
      <p:sp>
        <p:nvSpPr>
          <p:cNvPr id="3" name="Text 1"/>
          <p:cNvSpPr/>
          <p:nvPr/>
        </p:nvSpPr>
        <p:spPr>
          <a:xfrm>
            <a:off x="457200" y="475488"/>
            <a:ext cx="8229600" cy="91440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UniMind: Your personal AI agent</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in a network of lived human experience.</a:t>
            </a:r>
            <a:endParaRPr lang="en-US" sz="2600" dirty="0"/>
          </a:p>
        </p:txBody>
      </p:sp>
      <p:sp>
        <p:nvSpPr>
          <p:cNvPr id="4" name="Shape 2"/>
          <p:cNvSpPr/>
          <p:nvPr/>
        </p:nvSpPr>
        <p:spPr>
          <a:xfrm>
            <a:off x="365760" y="1508760"/>
            <a:ext cx="2697480" cy="2331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530352" y="1627632"/>
            <a:ext cx="502920" cy="502920"/>
          </a:xfrm>
          <a:prstGeom prst="ellipse">
            <a:avLst/>
          </a:prstGeom>
          <a:solidFill>
            <a:srgbClr val="4F3BDB"/>
          </a:solidFill>
          <a:ln w="12700">
            <a:solidFill>
              <a:srgbClr val="4F3BDB"/>
            </a:solidFill>
            <a:prstDash val="solid"/>
          </a:ln>
        </p:spPr>
      </p:sp>
      <p:sp>
        <p:nvSpPr>
          <p:cNvPr id="6" name="Text 4"/>
          <p:cNvSpPr/>
          <p:nvPr/>
        </p:nvSpPr>
        <p:spPr>
          <a:xfrm>
            <a:off x="530352" y="1627632"/>
            <a:ext cx="502920" cy="502920"/>
          </a:xfrm>
          <a:prstGeom prst="rect">
            <a:avLst/>
          </a:prstGeom>
          <a:noFill/>
          <a:ln/>
        </p:spPr>
        <p:txBody>
          <a:bodyPr wrap="square" rtlCol="0" anchor="ctr"/>
          <a:lstStyle/>
          <a:p>
            <a:pPr algn="ctr" indent="0" marL="0">
              <a:buNone/>
            </a:pPr>
            <a:r>
              <a:rPr lang="en-US" sz="1200" b="1" dirty="0">
                <a:solidFill>
                  <a:srgbClr val="0B1437"/>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502920" y="2212848"/>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Create Your Agent</a:t>
            </a:r>
            <a:endParaRPr lang="en-US" sz="1300" dirty="0"/>
          </a:p>
        </p:txBody>
      </p:sp>
      <p:sp>
        <p:nvSpPr>
          <p:cNvPr id="8" name="Text 6"/>
          <p:cNvSpPr/>
          <p:nvPr/>
        </p:nvSpPr>
        <p:spPr>
          <a:xfrm>
            <a:off x="502920" y="2578608"/>
            <a:ext cx="2468880" cy="109728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Deep onboarding builds a digital version of YOU — your goals, fears, skills, and life context.</a:t>
            </a:r>
            <a:endParaRPr lang="en-US" sz="1100" dirty="0"/>
          </a:p>
        </p:txBody>
      </p:sp>
      <p:sp>
        <p:nvSpPr>
          <p:cNvPr id="9" name="Text 7"/>
          <p:cNvSpPr/>
          <p:nvPr/>
        </p:nvSpPr>
        <p:spPr>
          <a:xfrm>
            <a:off x="3108960" y="2468880"/>
            <a:ext cx="274320" cy="365760"/>
          </a:xfrm>
          <a:prstGeom prst="rect">
            <a:avLst/>
          </a:prstGeom>
          <a:noFill/>
          <a:ln/>
        </p:spPr>
        <p:txBody>
          <a:bodyPr wrap="square" rtlCol="0" anchor="ctr"/>
          <a:lstStyle/>
          <a:p>
            <a:pPr algn="ctr" indent="0" marL="0">
              <a:buNone/>
            </a:pPr>
            <a:r>
              <a:rPr lang="en-US" sz="2000" dirty="0">
                <a:solidFill>
                  <a:srgbClr val="4F3BD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291840" y="1508760"/>
            <a:ext cx="2697480" cy="2331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456432" y="1627632"/>
            <a:ext cx="502920" cy="502920"/>
          </a:xfrm>
          <a:prstGeom prst="ellipse">
            <a:avLst/>
          </a:prstGeom>
          <a:solidFill>
            <a:srgbClr val="00C2E0"/>
          </a:solidFill>
          <a:ln w="12700">
            <a:solidFill>
              <a:srgbClr val="00C2E0"/>
            </a:solidFill>
            <a:prstDash val="solid"/>
          </a:ln>
        </p:spPr>
      </p:sp>
      <p:sp>
        <p:nvSpPr>
          <p:cNvPr id="12" name="Text 10"/>
          <p:cNvSpPr/>
          <p:nvPr/>
        </p:nvSpPr>
        <p:spPr>
          <a:xfrm>
            <a:off x="3456432" y="1627632"/>
            <a:ext cx="502920" cy="502920"/>
          </a:xfrm>
          <a:prstGeom prst="rect">
            <a:avLst/>
          </a:prstGeom>
          <a:noFill/>
          <a:ln/>
        </p:spPr>
        <p:txBody>
          <a:bodyPr wrap="square" rtlCol="0" anchor="ctr"/>
          <a:lstStyle/>
          <a:p>
            <a:pPr algn="ctr" indent="0" marL="0">
              <a:buNone/>
            </a:pPr>
            <a:r>
              <a:rPr lang="en-US" sz="1200" b="1" dirty="0">
                <a:solidFill>
                  <a:srgbClr val="0B1437"/>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3429000" y="2212848"/>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Join the Agentic Web</a:t>
            </a:r>
            <a:endParaRPr lang="en-US" sz="1300" dirty="0"/>
          </a:p>
        </p:txBody>
      </p:sp>
      <p:sp>
        <p:nvSpPr>
          <p:cNvPr id="14" name="Text 12"/>
          <p:cNvSpPr/>
          <p:nvPr/>
        </p:nvSpPr>
        <p:spPr>
          <a:xfrm>
            <a:off x="3429000" y="2578608"/>
            <a:ext cx="2468880" cy="109728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Your agent connects to thousands of others, sharing knowledge autonomously on your behalf.</a:t>
            </a:r>
            <a:endParaRPr lang="en-US" sz="1100" dirty="0"/>
          </a:p>
        </p:txBody>
      </p:sp>
      <p:sp>
        <p:nvSpPr>
          <p:cNvPr id="15" name="Text 13"/>
          <p:cNvSpPr/>
          <p:nvPr/>
        </p:nvSpPr>
        <p:spPr>
          <a:xfrm>
            <a:off x="6035040" y="2468880"/>
            <a:ext cx="274320" cy="365760"/>
          </a:xfrm>
          <a:prstGeom prst="rect">
            <a:avLst/>
          </a:prstGeom>
          <a:noFill/>
          <a:ln/>
        </p:spPr>
        <p:txBody>
          <a:bodyPr wrap="square" rtlCol="0" anchor="ctr"/>
          <a:lstStyle/>
          <a:p>
            <a:pPr algn="ctr" indent="0" marL="0">
              <a:buNone/>
            </a:pPr>
            <a:r>
              <a:rPr lang="en-US" sz="2000" dirty="0">
                <a:solidFill>
                  <a:srgbClr val="4F3BD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17920" y="1508760"/>
            <a:ext cx="2697480" cy="2331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7" name="Shape 15"/>
          <p:cNvSpPr/>
          <p:nvPr/>
        </p:nvSpPr>
        <p:spPr>
          <a:xfrm>
            <a:off x="6382512" y="1627632"/>
            <a:ext cx="502920" cy="502920"/>
          </a:xfrm>
          <a:prstGeom prst="ellipse">
            <a:avLst/>
          </a:prstGeom>
          <a:solidFill>
            <a:srgbClr val="00C48C"/>
          </a:solidFill>
          <a:ln w="12700">
            <a:solidFill>
              <a:srgbClr val="00C48C"/>
            </a:solidFill>
            <a:prstDash val="solid"/>
          </a:ln>
        </p:spPr>
      </p:sp>
      <p:sp>
        <p:nvSpPr>
          <p:cNvPr id="18" name="Text 16"/>
          <p:cNvSpPr/>
          <p:nvPr/>
        </p:nvSpPr>
        <p:spPr>
          <a:xfrm>
            <a:off x="6382512" y="1627632"/>
            <a:ext cx="502920" cy="502920"/>
          </a:xfrm>
          <a:prstGeom prst="rect">
            <a:avLst/>
          </a:prstGeom>
          <a:noFill/>
          <a:ln/>
        </p:spPr>
        <p:txBody>
          <a:bodyPr wrap="square" rtlCol="0" anchor="ctr"/>
          <a:lstStyle/>
          <a:p>
            <a:pPr algn="ctr" indent="0" marL="0">
              <a:buNone/>
            </a:pPr>
            <a:r>
              <a:rPr lang="en-US" sz="1200" b="1" dirty="0">
                <a:solidFill>
                  <a:srgbClr val="0B1437"/>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355080" y="2212848"/>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 a Simulation</a:t>
            </a:r>
            <a:endParaRPr lang="en-US" sz="1300" dirty="0"/>
          </a:p>
        </p:txBody>
      </p:sp>
      <p:sp>
        <p:nvSpPr>
          <p:cNvPr id="20" name="Text 18"/>
          <p:cNvSpPr/>
          <p:nvPr/>
        </p:nvSpPr>
        <p:spPr>
          <a:xfrm>
            <a:off x="6355080" y="2578608"/>
            <a:ext cx="2468880" cy="109728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Describe any scenario — school, career, startup. Get a month-by-month prediction from real journeys.</a:t>
            </a:r>
            <a:endParaRPr lang="en-US" sz="1100" dirty="0"/>
          </a:p>
        </p:txBody>
      </p:sp>
      <p:sp>
        <p:nvSpPr>
          <p:cNvPr id="21" name="Shape 19"/>
          <p:cNvSpPr/>
          <p:nvPr/>
        </p:nvSpPr>
        <p:spPr>
          <a:xfrm>
            <a:off x="365760" y="3950208"/>
            <a:ext cx="8412480" cy="457200"/>
          </a:xfrm>
          <a:prstGeom prst="rect">
            <a:avLst/>
          </a:prstGeom>
          <a:solidFill>
            <a:srgbClr val="4F3BDB">
              <a:alpha val="15000"/>
            </a:srgbClr>
          </a:solidFill>
          <a:ln w="12700">
            <a:solidFill>
              <a:srgbClr val="4F3BDB"/>
            </a:solidFill>
            <a:prstDash val="solid"/>
          </a:ln>
        </p:spPr>
      </p:sp>
      <p:sp>
        <p:nvSpPr>
          <p:cNvPr id="22" name="Text 20"/>
          <p:cNvSpPr/>
          <p:nvPr/>
        </p:nvSpPr>
        <p:spPr>
          <a:xfrm>
            <a:off x="502920" y="3977640"/>
            <a:ext cx="822960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The more people join, the smarter every simulation becomes. The network is multiplicative — not just additive.</a:t>
            </a:r>
            <a:endParaRPr lang="en-US" sz="1200" dirty="0"/>
          </a:p>
        </p:txBody>
      </p:sp>
      <p:sp>
        <p:nvSpPr>
          <p:cNvPr id="23" name="Shape 21"/>
          <p:cNvSpPr/>
          <p:nvPr/>
        </p:nvSpPr>
        <p:spPr>
          <a:xfrm>
            <a:off x="365760" y="4480560"/>
            <a:ext cx="8412480" cy="5029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4" name="Text 22"/>
          <p:cNvSpPr/>
          <p:nvPr/>
        </p:nvSpPr>
        <p:spPr>
          <a:xfrm>
            <a:off x="502920" y="4507992"/>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25" name="Text 23"/>
          <p:cNvSpPr/>
          <p:nvPr/>
        </p:nvSpPr>
        <p:spPr>
          <a:xfrm>
            <a:off x="502920" y="4663440"/>
            <a:ext cx="8229600" cy="256032"/>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"You sign up, your agent wakes up. It asks deep questions — not a form, a real conversation. Then it joins a living network. When you simulate your future, we scan both your personal history AND the patterns of thousands of real people who already walked that path. The prediction gets eerily accurate."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56032"/>
            <a:ext cx="1828800" cy="201168"/>
          </a:xfrm>
          <a:prstGeom prst="rect">
            <a:avLst/>
          </a:prstGeom>
          <a:noFill/>
          <a:ln/>
        </p:spPr>
        <p:txBody>
          <a:bodyPr wrap="square" rtlCol="0" anchor="ctr"/>
          <a:lstStyle/>
          <a:p>
            <a:pPr indent="0" marL="0">
              <a:buNone/>
            </a:pPr>
            <a:r>
              <a:rPr lang="en-US" sz="800" b="1" spc="300" kern="0" dirty="0">
                <a:solidFill>
                  <a:srgbClr val="00C2E0"/>
                </a:solidFill>
                <a:latin typeface="Calibri" pitchFamily="34" charset="0"/>
                <a:ea typeface="Calibri" pitchFamily="34" charset="-122"/>
                <a:cs typeface="Calibri" pitchFamily="34" charset="-120"/>
              </a:rPr>
              <a:t>PRODUCT</a:t>
            </a:r>
            <a:endParaRPr lang="en-US" sz="800" dirty="0"/>
          </a:p>
        </p:txBody>
      </p:sp>
      <p:sp>
        <p:nvSpPr>
          <p:cNvPr id="3" name="Text 1"/>
          <p:cNvSpPr/>
          <p:nvPr/>
        </p:nvSpPr>
        <p:spPr>
          <a:xfrm>
            <a:off x="457200" y="475488"/>
            <a:ext cx="8229600" cy="54864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Three surfaces. One coherent experience.</a:t>
            </a:r>
            <a:endParaRPr lang="en-US" sz="2600" dirty="0"/>
          </a:p>
        </p:txBody>
      </p:sp>
      <p:sp>
        <p:nvSpPr>
          <p:cNvPr id="4" name="Shape 2"/>
          <p:cNvSpPr/>
          <p:nvPr/>
        </p:nvSpPr>
        <p:spPr>
          <a:xfrm>
            <a:off x="347472" y="1143000"/>
            <a:ext cx="2788920" cy="27432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47472" y="1143000"/>
            <a:ext cx="54864" cy="2743200"/>
          </a:xfrm>
          <a:prstGeom prst="rect">
            <a:avLst/>
          </a:prstGeom>
          <a:solidFill>
            <a:srgbClr val="4F3BDB"/>
          </a:solidFill>
          <a:ln w="12700">
            <a:solidFill>
              <a:srgbClr val="4F3BDB"/>
            </a:solidFill>
            <a:prstDash val="solid"/>
          </a:ln>
        </p:spPr>
      </p:sp>
      <p:sp>
        <p:nvSpPr>
          <p:cNvPr id="6" name="Shape 4"/>
          <p:cNvSpPr/>
          <p:nvPr/>
        </p:nvSpPr>
        <p:spPr>
          <a:xfrm>
            <a:off x="484632" y="1188720"/>
            <a:ext cx="457200" cy="457200"/>
          </a:xfrm>
          <a:prstGeom prst="rect">
            <a:avLst/>
          </a:prstGeom>
          <a:solidFill>
            <a:srgbClr val="4F3BDB"/>
          </a:solidFill>
          <a:ln w="12700">
            <a:solidFill>
              <a:srgbClr val="4F3BDB"/>
            </a:solidFill>
            <a:prstDash val="solid"/>
          </a:ln>
        </p:spPr>
      </p:sp>
      <p:sp>
        <p:nvSpPr>
          <p:cNvPr id="7" name="Text 5"/>
          <p:cNvSpPr/>
          <p:nvPr/>
        </p:nvSpPr>
        <p:spPr>
          <a:xfrm>
            <a:off x="484632" y="1188720"/>
            <a:ext cx="457200" cy="457200"/>
          </a:xfrm>
          <a:prstGeom prst="rect">
            <a:avLst/>
          </a:prstGeom>
          <a:noFill/>
          <a:ln/>
        </p:spPr>
        <p:txBody>
          <a:bodyPr wrap="square" rtlCol="0" anchor="ctr"/>
          <a:lstStyle/>
          <a:p>
            <a:pPr algn="ctr" indent="0" marL="0">
              <a:buNone/>
            </a:pPr>
            <a:r>
              <a:rPr lang="en-US" sz="1600" b="1" dirty="0">
                <a:solidFill>
                  <a:srgbClr val="0B1437"/>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484632" y="1719072"/>
            <a:ext cx="25603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Onboarding Conversation</a:t>
            </a:r>
            <a:endParaRPr lang="en-US" sz="1300" dirty="0"/>
          </a:p>
        </p:txBody>
      </p:sp>
      <p:sp>
        <p:nvSpPr>
          <p:cNvPr id="9" name="Shape 7"/>
          <p:cNvSpPr/>
          <p:nvPr/>
        </p:nvSpPr>
        <p:spPr>
          <a:xfrm>
            <a:off x="484632" y="2121408"/>
            <a:ext cx="2468880" cy="219456"/>
          </a:xfrm>
          <a:prstGeom prst="rect">
            <a:avLst/>
          </a:prstGeom>
          <a:solidFill>
            <a:srgbClr val="4F3BDB">
              <a:alpha val="25000"/>
            </a:srgbClr>
          </a:solidFill>
          <a:ln w="12700">
            <a:solidFill>
              <a:srgbClr val="4F3BDB"/>
            </a:solidFill>
            <a:prstDash val="solid"/>
          </a:ln>
        </p:spPr>
      </p:sp>
      <p:sp>
        <p:nvSpPr>
          <p:cNvPr id="10" name="Text 8"/>
          <p:cNvSpPr/>
          <p:nvPr/>
        </p:nvSpPr>
        <p:spPr>
          <a:xfrm>
            <a:off x="484632" y="2121408"/>
            <a:ext cx="2468880" cy="219456"/>
          </a:xfrm>
          <a:prstGeom prst="rect">
            <a:avLst/>
          </a:prstGeom>
          <a:noFill/>
          <a:ln/>
        </p:spPr>
        <p:txBody>
          <a:bodyPr wrap="square" rtlCol="0" anchor="ctr"/>
          <a:lstStyle/>
          <a:p>
            <a:pPr algn="ctr" indent="0" marL="0">
              <a:buNone/>
            </a:pPr>
            <a:r>
              <a:rPr lang="en-US" sz="900" b="1" spc="100" kern="0" dirty="0">
                <a:solidFill>
                  <a:srgbClr val="4F3BDB"/>
                </a:solidFill>
                <a:latin typeface="Calibri" pitchFamily="34" charset="0"/>
                <a:ea typeface="Calibri" pitchFamily="34" charset="-122"/>
                <a:cs typeface="Calibri" pitchFamily="34" charset="-120"/>
              </a:rPr>
              <a:t>Acquisition</a:t>
            </a:r>
            <a:endParaRPr lang="en-US" sz="900" dirty="0"/>
          </a:p>
        </p:txBody>
      </p:sp>
      <p:sp>
        <p:nvSpPr>
          <p:cNvPr id="11" name="Text 9"/>
          <p:cNvSpPr/>
          <p:nvPr/>
        </p:nvSpPr>
        <p:spPr>
          <a:xfrm>
            <a:off x="512064" y="2432304"/>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Multi-step AI dialogue (not a form)</a:t>
            </a:r>
            <a:endParaRPr lang="en-US" sz="1100" dirty="0"/>
          </a:p>
        </p:txBody>
      </p:sp>
      <p:sp>
        <p:nvSpPr>
          <p:cNvPr id="12" name="Text 10"/>
          <p:cNvSpPr/>
          <p:nvPr/>
        </p:nvSpPr>
        <p:spPr>
          <a:xfrm>
            <a:off x="512064" y="2761488"/>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3D particle system visualises agent forming</a:t>
            </a:r>
            <a:endParaRPr lang="en-US" sz="1100" dirty="0"/>
          </a:p>
        </p:txBody>
      </p:sp>
      <p:sp>
        <p:nvSpPr>
          <p:cNvPr id="13" name="Text 11"/>
          <p:cNvSpPr/>
          <p:nvPr/>
        </p:nvSpPr>
        <p:spPr>
          <a:xfrm>
            <a:off x="512064" y="3090672"/>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Output: personality fingerprint + goal stack</a:t>
            </a:r>
            <a:endParaRPr lang="en-US" sz="1100" dirty="0"/>
          </a:p>
        </p:txBody>
      </p:sp>
      <p:sp>
        <p:nvSpPr>
          <p:cNvPr id="14" name="Shape 12"/>
          <p:cNvSpPr/>
          <p:nvPr/>
        </p:nvSpPr>
        <p:spPr>
          <a:xfrm>
            <a:off x="3291840" y="1143000"/>
            <a:ext cx="2788920" cy="27432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3291840" y="1143000"/>
            <a:ext cx="54864" cy="2743200"/>
          </a:xfrm>
          <a:prstGeom prst="rect">
            <a:avLst/>
          </a:prstGeom>
          <a:solidFill>
            <a:srgbClr val="4F3BDB"/>
          </a:solidFill>
          <a:ln w="12700">
            <a:solidFill>
              <a:srgbClr val="4F3BDB"/>
            </a:solidFill>
            <a:prstDash val="solid"/>
          </a:ln>
        </p:spPr>
      </p:sp>
      <p:sp>
        <p:nvSpPr>
          <p:cNvPr id="16" name="Shape 14"/>
          <p:cNvSpPr/>
          <p:nvPr/>
        </p:nvSpPr>
        <p:spPr>
          <a:xfrm>
            <a:off x="3429000" y="1188720"/>
            <a:ext cx="457200" cy="457200"/>
          </a:xfrm>
          <a:prstGeom prst="rect">
            <a:avLst/>
          </a:prstGeom>
          <a:solidFill>
            <a:srgbClr val="00C2E0"/>
          </a:solidFill>
          <a:ln w="12700">
            <a:solidFill>
              <a:srgbClr val="00C2E0"/>
            </a:solidFill>
            <a:prstDash val="solid"/>
          </a:ln>
        </p:spPr>
      </p:sp>
      <p:sp>
        <p:nvSpPr>
          <p:cNvPr id="17" name="Text 15"/>
          <p:cNvSpPr/>
          <p:nvPr/>
        </p:nvSpPr>
        <p:spPr>
          <a:xfrm>
            <a:off x="3429000" y="1188720"/>
            <a:ext cx="457200" cy="457200"/>
          </a:xfrm>
          <a:prstGeom prst="rect">
            <a:avLst/>
          </a:prstGeom>
          <a:noFill/>
          <a:ln/>
        </p:spPr>
        <p:txBody>
          <a:bodyPr wrap="square" rtlCol="0" anchor="ctr"/>
          <a:lstStyle/>
          <a:p>
            <a:pPr algn="ctr" indent="0" marL="0">
              <a:buNone/>
            </a:pPr>
            <a:r>
              <a:rPr lang="en-US" sz="1600" b="1" dirty="0">
                <a:solidFill>
                  <a:srgbClr val="0B1437"/>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3429000" y="1719072"/>
            <a:ext cx="25603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Simulation Studio</a:t>
            </a:r>
            <a:endParaRPr lang="en-US" sz="1300" dirty="0"/>
          </a:p>
        </p:txBody>
      </p:sp>
      <p:sp>
        <p:nvSpPr>
          <p:cNvPr id="19" name="Shape 17"/>
          <p:cNvSpPr/>
          <p:nvPr/>
        </p:nvSpPr>
        <p:spPr>
          <a:xfrm>
            <a:off x="3429000" y="2121408"/>
            <a:ext cx="2468880" cy="219456"/>
          </a:xfrm>
          <a:prstGeom prst="rect">
            <a:avLst/>
          </a:prstGeom>
          <a:solidFill>
            <a:srgbClr val="00C2E0">
              <a:alpha val="25000"/>
            </a:srgbClr>
          </a:solidFill>
          <a:ln w="12700">
            <a:solidFill>
              <a:srgbClr val="00C2E0"/>
            </a:solidFill>
            <a:prstDash val="solid"/>
          </a:ln>
        </p:spPr>
      </p:sp>
      <p:sp>
        <p:nvSpPr>
          <p:cNvPr id="20" name="Text 18"/>
          <p:cNvSpPr/>
          <p:nvPr/>
        </p:nvSpPr>
        <p:spPr>
          <a:xfrm>
            <a:off x="3429000" y="2121408"/>
            <a:ext cx="2468880" cy="219456"/>
          </a:xfrm>
          <a:prstGeom prst="rect">
            <a:avLst/>
          </a:prstGeom>
          <a:noFill/>
          <a:ln/>
        </p:spPr>
        <p:txBody>
          <a:bodyPr wrap="square" rtlCol="0" anchor="ctr"/>
          <a:lstStyle/>
          <a:p>
            <a:pPr algn="ctr" indent="0" marL="0">
              <a:buNone/>
            </a:pPr>
            <a:r>
              <a:rPr lang="en-US" sz="900" b="1" spc="100" kern="0" dirty="0">
                <a:solidFill>
                  <a:srgbClr val="00C2E0"/>
                </a:solidFill>
                <a:latin typeface="Calibri" pitchFamily="34" charset="0"/>
                <a:ea typeface="Calibri" pitchFamily="34" charset="-122"/>
                <a:cs typeface="Calibri" pitchFamily="34" charset="-120"/>
              </a:rPr>
              <a:t>Core Value / Monetisation</a:t>
            </a:r>
            <a:endParaRPr lang="en-US" sz="900" dirty="0"/>
          </a:p>
        </p:txBody>
      </p:sp>
      <p:sp>
        <p:nvSpPr>
          <p:cNvPr id="21" name="Text 19"/>
          <p:cNvSpPr/>
          <p:nvPr/>
        </p:nvSpPr>
        <p:spPr>
          <a:xfrm>
            <a:off x="3456432" y="2432304"/>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Cinematic month-by-month prediction</a:t>
            </a:r>
            <a:endParaRPr lang="en-US" sz="1100" dirty="0"/>
          </a:p>
        </p:txBody>
      </p:sp>
      <p:sp>
        <p:nvSpPr>
          <p:cNvPr id="22" name="Text 20"/>
          <p:cNvSpPr/>
          <p:nvPr/>
        </p:nvSpPr>
        <p:spPr>
          <a:xfrm>
            <a:off x="3456432" y="2761488"/>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Ghost trails of similar community journeys</a:t>
            </a:r>
            <a:endParaRPr lang="en-US" sz="1100" dirty="0"/>
          </a:p>
        </p:txBody>
      </p:sp>
      <p:sp>
        <p:nvSpPr>
          <p:cNvPr id="23" name="Text 21"/>
          <p:cNvSpPr/>
          <p:nvPr/>
        </p:nvSpPr>
        <p:spPr>
          <a:xfrm>
            <a:off x="3456432" y="3090672"/>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Risk flags, decision forks, alternate timelines</a:t>
            </a:r>
            <a:endParaRPr lang="en-US" sz="1100" dirty="0"/>
          </a:p>
        </p:txBody>
      </p:sp>
      <p:sp>
        <p:nvSpPr>
          <p:cNvPr id="24" name="Shape 22"/>
          <p:cNvSpPr/>
          <p:nvPr/>
        </p:nvSpPr>
        <p:spPr>
          <a:xfrm>
            <a:off x="6236208" y="1143000"/>
            <a:ext cx="2788920" cy="27432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5" name="Shape 23"/>
          <p:cNvSpPr/>
          <p:nvPr/>
        </p:nvSpPr>
        <p:spPr>
          <a:xfrm>
            <a:off x="6236208" y="1143000"/>
            <a:ext cx="54864" cy="2743200"/>
          </a:xfrm>
          <a:prstGeom prst="rect">
            <a:avLst/>
          </a:prstGeom>
          <a:solidFill>
            <a:srgbClr val="4F3BDB"/>
          </a:solidFill>
          <a:ln w="12700">
            <a:solidFill>
              <a:srgbClr val="4F3BDB"/>
            </a:solidFill>
            <a:prstDash val="solid"/>
          </a:ln>
        </p:spPr>
      </p:sp>
      <p:sp>
        <p:nvSpPr>
          <p:cNvPr id="26" name="Shape 24"/>
          <p:cNvSpPr/>
          <p:nvPr/>
        </p:nvSpPr>
        <p:spPr>
          <a:xfrm>
            <a:off x="6373368" y="1188720"/>
            <a:ext cx="457200" cy="457200"/>
          </a:xfrm>
          <a:prstGeom prst="rect">
            <a:avLst/>
          </a:prstGeom>
          <a:solidFill>
            <a:srgbClr val="00C48C"/>
          </a:solidFill>
          <a:ln w="12700">
            <a:solidFill>
              <a:srgbClr val="00C48C"/>
            </a:solidFill>
            <a:prstDash val="solid"/>
          </a:ln>
        </p:spPr>
      </p:sp>
      <p:sp>
        <p:nvSpPr>
          <p:cNvPr id="27" name="Text 25"/>
          <p:cNvSpPr/>
          <p:nvPr/>
        </p:nvSpPr>
        <p:spPr>
          <a:xfrm>
            <a:off x="6373368" y="1188720"/>
            <a:ext cx="457200" cy="457200"/>
          </a:xfrm>
          <a:prstGeom prst="rect">
            <a:avLst/>
          </a:prstGeom>
          <a:noFill/>
          <a:ln/>
        </p:spPr>
        <p:txBody>
          <a:bodyPr wrap="square" rtlCol="0" anchor="ctr"/>
          <a:lstStyle/>
          <a:p>
            <a:pPr algn="ctr" indent="0" marL="0">
              <a:buNone/>
            </a:pPr>
            <a:r>
              <a:rPr lang="en-US" sz="1600" b="1" dirty="0">
                <a:solidFill>
                  <a:srgbClr val="0B1437"/>
                </a:solidFill>
                <a:latin typeface="Calibri" pitchFamily="34" charset="0"/>
                <a:ea typeface="Calibri" pitchFamily="34" charset="-122"/>
                <a:cs typeface="Calibri" pitchFamily="34" charset="-120"/>
              </a:rPr>
              <a:t>3</a:t>
            </a:r>
            <a:endParaRPr lang="en-US" sz="1600" dirty="0"/>
          </a:p>
        </p:txBody>
      </p:sp>
      <p:sp>
        <p:nvSpPr>
          <p:cNvPr id="28" name="Text 26"/>
          <p:cNvSpPr/>
          <p:nvPr/>
        </p:nvSpPr>
        <p:spPr>
          <a:xfrm>
            <a:off x="6373368" y="1719072"/>
            <a:ext cx="25603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Agentic Web</a:t>
            </a:r>
            <a:endParaRPr lang="en-US" sz="1300" dirty="0"/>
          </a:p>
        </p:txBody>
      </p:sp>
      <p:sp>
        <p:nvSpPr>
          <p:cNvPr id="29" name="Shape 27"/>
          <p:cNvSpPr/>
          <p:nvPr/>
        </p:nvSpPr>
        <p:spPr>
          <a:xfrm>
            <a:off x="6373368" y="2121408"/>
            <a:ext cx="2468880" cy="219456"/>
          </a:xfrm>
          <a:prstGeom prst="rect">
            <a:avLst/>
          </a:prstGeom>
          <a:solidFill>
            <a:srgbClr val="00C48C">
              <a:alpha val="25000"/>
            </a:srgbClr>
          </a:solidFill>
          <a:ln w="12700">
            <a:solidFill>
              <a:srgbClr val="00C48C"/>
            </a:solidFill>
            <a:prstDash val="solid"/>
          </a:ln>
        </p:spPr>
      </p:sp>
      <p:sp>
        <p:nvSpPr>
          <p:cNvPr id="30" name="Text 28"/>
          <p:cNvSpPr/>
          <p:nvPr/>
        </p:nvSpPr>
        <p:spPr>
          <a:xfrm>
            <a:off x="6373368" y="2121408"/>
            <a:ext cx="2468880" cy="219456"/>
          </a:xfrm>
          <a:prstGeom prst="rect">
            <a:avLst/>
          </a:prstGeom>
          <a:noFill/>
          <a:ln/>
        </p:spPr>
        <p:txBody>
          <a:bodyPr wrap="square" rtlCol="0" anchor="ctr"/>
          <a:lstStyle/>
          <a:p>
            <a:pPr algn="ctr" indent="0" marL="0">
              <a:buNone/>
            </a:pPr>
            <a:r>
              <a:rPr lang="en-US" sz="900" b="1" spc="100" kern="0" dirty="0">
                <a:solidFill>
                  <a:srgbClr val="00C48C"/>
                </a:solidFill>
                <a:latin typeface="Calibri" pitchFamily="34" charset="0"/>
                <a:ea typeface="Calibri" pitchFamily="34" charset="-122"/>
                <a:cs typeface="Calibri" pitchFamily="34" charset="-120"/>
              </a:rPr>
              <a:t>Retention &amp; Network Effect</a:t>
            </a:r>
            <a:endParaRPr lang="en-US" sz="900" dirty="0"/>
          </a:p>
        </p:txBody>
      </p:sp>
      <p:sp>
        <p:nvSpPr>
          <p:cNvPr id="31" name="Text 29"/>
          <p:cNvSpPr/>
          <p:nvPr/>
        </p:nvSpPr>
        <p:spPr>
          <a:xfrm>
            <a:off x="6400800" y="2432304"/>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3D interactive network of all agents</a:t>
            </a:r>
            <a:endParaRPr lang="en-US" sz="1100" dirty="0"/>
          </a:p>
        </p:txBody>
      </p:sp>
      <p:sp>
        <p:nvSpPr>
          <p:cNvPr id="32" name="Text 30"/>
          <p:cNvSpPr/>
          <p:nvPr/>
        </p:nvSpPr>
        <p:spPr>
          <a:xfrm>
            <a:off x="6400800" y="2761488"/>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Leaderboard rewards top contributors</a:t>
            </a:r>
            <a:endParaRPr lang="en-US" sz="1100" dirty="0"/>
          </a:p>
        </p:txBody>
      </p:sp>
      <p:sp>
        <p:nvSpPr>
          <p:cNvPr id="33" name="Text 31"/>
          <p:cNvSpPr/>
          <p:nvPr/>
        </p:nvSpPr>
        <p:spPr>
          <a:xfrm>
            <a:off x="6400800" y="3090672"/>
            <a:ext cx="2560320" cy="301752"/>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  BFS pathfinding, filters, timeline scrubber</a:t>
            </a:r>
            <a:endParaRPr lang="en-US" sz="1100" dirty="0"/>
          </a:p>
        </p:txBody>
      </p:sp>
      <p:sp>
        <p:nvSpPr>
          <p:cNvPr id="34" name="Shape 32"/>
          <p:cNvSpPr/>
          <p:nvPr/>
        </p:nvSpPr>
        <p:spPr>
          <a:xfrm>
            <a:off x="347472" y="3959352"/>
            <a:ext cx="8449056" cy="402336"/>
          </a:xfrm>
          <a:prstGeom prst="rect">
            <a:avLst/>
          </a:prstGeom>
          <a:solidFill>
            <a:srgbClr val="00C48C">
              <a:alpha val="12000"/>
            </a:srgbClr>
          </a:solidFill>
          <a:ln w="12700">
            <a:solidFill>
              <a:srgbClr val="00C48C"/>
            </a:solidFill>
            <a:prstDash val="solid"/>
          </a:ln>
        </p:spPr>
      </p:sp>
      <p:sp>
        <p:nvSpPr>
          <p:cNvPr id="35" name="Text 33"/>
          <p:cNvSpPr/>
          <p:nvPr/>
        </p:nvSpPr>
        <p:spPr>
          <a:xfrm>
            <a:off x="502920" y="3986784"/>
            <a:ext cx="8229600" cy="32918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React frontend COMPLETE — 1,401-node interactive Agentic Web live. Python AI backend next.</a:t>
            </a:r>
            <a:endParaRPr lang="en-US" sz="1200" dirty="0"/>
          </a:p>
        </p:txBody>
      </p:sp>
      <p:sp>
        <p:nvSpPr>
          <p:cNvPr id="36" name="Shape 34"/>
          <p:cNvSpPr/>
          <p:nvPr/>
        </p:nvSpPr>
        <p:spPr>
          <a:xfrm>
            <a:off x="347472" y="4443984"/>
            <a:ext cx="8449056" cy="54864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7" name="Text 35"/>
          <p:cNvSpPr/>
          <p:nvPr/>
        </p:nvSpPr>
        <p:spPr>
          <a:xfrm>
            <a:off x="502920" y="4480560"/>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38" name="Text 36"/>
          <p:cNvSpPr/>
          <p:nvPr/>
        </p:nvSpPr>
        <p:spPr>
          <a:xfrm>
            <a:off x="502920" y="4645152"/>
            <a:ext cx="8229600" cy="274320"/>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"The frontend is fully built. You can open it today. The Agentic Web has 1,400 nodes, live search, BFS pathfinding, a leaderboard, timeline scrubber — a full experience. The AI backend is the next sprint. Investors are seeing a real product, not a mockup."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28600"/>
            <a:ext cx="3200400" cy="201168"/>
          </a:xfrm>
          <a:prstGeom prst="rect">
            <a:avLst/>
          </a:prstGeom>
          <a:noFill/>
          <a:ln/>
        </p:spPr>
        <p:txBody>
          <a:bodyPr wrap="square" rtlCol="0" anchor="ctr"/>
          <a:lstStyle/>
          <a:p>
            <a:pPr indent="0" marL="0">
              <a:buNone/>
            </a:pPr>
            <a:r>
              <a:rPr lang="en-US" sz="800" b="1" spc="300" kern="0" dirty="0">
                <a:solidFill>
                  <a:srgbClr val="F5A623"/>
                </a:solidFill>
                <a:latin typeface="Calibri" pitchFamily="34" charset="0"/>
                <a:ea typeface="Calibri" pitchFamily="34" charset="-122"/>
                <a:cs typeface="Calibri" pitchFamily="34" charset="-120"/>
              </a:rPr>
              <a:t>BUSINESS MODEL</a:t>
            </a:r>
            <a:endParaRPr lang="en-US" sz="800" dirty="0"/>
          </a:p>
        </p:txBody>
      </p:sp>
      <p:sp>
        <p:nvSpPr>
          <p:cNvPr id="3" name="Text 1"/>
          <p:cNvSpPr/>
          <p:nvPr/>
        </p:nvSpPr>
        <p:spPr>
          <a:xfrm>
            <a:off x="457200" y="438912"/>
            <a:ext cx="8229600" cy="8229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Four revenue streams.</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Built for scale.</a:t>
            </a:r>
            <a:endParaRPr lang="en-US" sz="2800" dirty="0"/>
          </a:p>
        </p:txBody>
      </p:sp>
      <p:sp>
        <p:nvSpPr>
          <p:cNvPr id="4" name="Shape 2"/>
          <p:cNvSpPr/>
          <p:nvPr/>
        </p:nvSpPr>
        <p:spPr>
          <a:xfrm>
            <a:off x="347472" y="1371600"/>
            <a:ext cx="2121408" cy="25603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47472" y="1371600"/>
            <a:ext cx="2121408" cy="54864"/>
          </a:xfrm>
          <a:prstGeom prst="rect">
            <a:avLst/>
          </a:prstGeom>
          <a:solidFill>
            <a:srgbClr val="8FA3C8"/>
          </a:solidFill>
          <a:ln w="12700">
            <a:solidFill>
              <a:srgbClr val="8FA3C8"/>
            </a:solidFill>
            <a:prstDash val="solid"/>
          </a:ln>
        </p:spPr>
      </p:sp>
      <p:sp>
        <p:nvSpPr>
          <p:cNvPr id="6" name="Shape 4"/>
          <p:cNvSpPr/>
          <p:nvPr/>
        </p:nvSpPr>
        <p:spPr>
          <a:xfrm>
            <a:off x="457200" y="1481328"/>
            <a:ext cx="1463040" cy="201168"/>
          </a:xfrm>
          <a:prstGeom prst="rect">
            <a:avLst/>
          </a:prstGeom>
          <a:solidFill>
            <a:srgbClr val="8FA3C8">
              <a:alpha val="20000"/>
            </a:srgbClr>
          </a:solidFill>
          <a:ln w="12700">
            <a:solidFill>
              <a:srgbClr val="8FA3C8"/>
            </a:solidFill>
            <a:prstDash val="solid"/>
          </a:ln>
        </p:spPr>
      </p:sp>
      <p:sp>
        <p:nvSpPr>
          <p:cNvPr id="7" name="Text 5"/>
          <p:cNvSpPr/>
          <p:nvPr/>
        </p:nvSpPr>
        <p:spPr>
          <a:xfrm>
            <a:off x="457200" y="1481328"/>
            <a:ext cx="1463040" cy="201168"/>
          </a:xfrm>
          <a:prstGeom prst="rect">
            <a:avLst/>
          </a:prstGeom>
          <a:noFill/>
          <a:ln/>
        </p:spPr>
        <p:txBody>
          <a:bodyPr wrap="square" rtlCol="0" anchor="ctr"/>
          <a:lstStyle/>
          <a:p>
            <a:pPr algn="ctr" indent="0" marL="0">
              <a:buNone/>
            </a:pPr>
            <a:r>
              <a:rPr lang="en-US" sz="800" b="1" spc="150" kern="0" dirty="0">
                <a:solidFill>
                  <a:srgbClr val="8FA3C8"/>
                </a:solidFill>
                <a:latin typeface="Calibri" pitchFamily="34" charset="0"/>
                <a:ea typeface="Calibri" pitchFamily="34" charset="-122"/>
                <a:cs typeface="Calibri" pitchFamily="34" charset="-120"/>
              </a:rPr>
              <a:t>FREEMIUM</a:t>
            </a:r>
            <a:endParaRPr lang="en-US" sz="800" dirty="0"/>
          </a:p>
        </p:txBody>
      </p:sp>
      <p:sp>
        <p:nvSpPr>
          <p:cNvPr id="8" name="Text 6"/>
          <p:cNvSpPr/>
          <p:nvPr/>
        </p:nvSpPr>
        <p:spPr>
          <a:xfrm>
            <a:off x="457200" y="1737360"/>
            <a:ext cx="19202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Free Agent</a:t>
            </a:r>
            <a:endParaRPr lang="en-US" sz="1300" dirty="0"/>
          </a:p>
        </p:txBody>
      </p:sp>
      <p:sp>
        <p:nvSpPr>
          <p:cNvPr id="9" name="Text 7"/>
          <p:cNvSpPr/>
          <p:nvPr/>
        </p:nvSpPr>
        <p:spPr>
          <a:xfrm>
            <a:off x="457200" y="2029968"/>
            <a:ext cx="1920240" cy="256032"/>
          </a:xfrm>
          <a:prstGeom prst="rect">
            <a:avLst/>
          </a:prstGeom>
          <a:noFill/>
          <a:ln/>
        </p:spPr>
        <p:txBody>
          <a:bodyPr wrap="square" rtlCol="0" anchor="ctr"/>
          <a:lstStyle/>
          <a:p>
            <a:pPr indent="0" marL="0">
              <a:buNone/>
            </a:pPr>
            <a:r>
              <a:rPr lang="en-US" sz="1150" b="1" dirty="0">
                <a:solidFill>
                  <a:srgbClr val="8FA3C8"/>
                </a:solidFill>
                <a:latin typeface="Calibri" pitchFamily="34" charset="0"/>
                <a:ea typeface="Calibri" pitchFamily="34" charset="-122"/>
                <a:cs typeface="Calibri" pitchFamily="34" charset="-120"/>
              </a:rPr>
              <a:t>€0 / month</a:t>
            </a:r>
            <a:endParaRPr lang="en-US" sz="1150" dirty="0"/>
          </a:p>
        </p:txBody>
      </p:sp>
      <p:sp>
        <p:nvSpPr>
          <p:cNvPr id="10" name="Text 8"/>
          <p:cNvSpPr/>
          <p:nvPr/>
        </p:nvSpPr>
        <p:spPr>
          <a:xfrm>
            <a:off x="457200" y="2331720"/>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Basic agent profile</a:t>
            </a:r>
            <a:endParaRPr lang="en-US" sz="950" dirty="0"/>
          </a:p>
        </p:txBody>
      </p:sp>
      <p:sp>
        <p:nvSpPr>
          <p:cNvPr id="11" name="Text 9"/>
          <p:cNvSpPr/>
          <p:nvPr/>
        </p:nvSpPr>
        <p:spPr>
          <a:xfrm>
            <a:off x="457200" y="2596896"/>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3 simulations per month</a:t>
            </a:r>
            <a:endParaRPr lang="en-US" sz="950" dirty="0"/>
          </a:p>
        </p:txBody>
      </p:sp>
      <p:sp>
        <p:nvSpPr>
          <p:cNvPr id="12" name="Text 10"/>
          <p:cNvSpPr/>
          <p:nvPr/>
        </p:nvSpPr>
        <p:spPr>
          <a:xfrm>
            <a:off x="457200" y="2862072"/>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Community read-only access</a:t>
            </a:r>
            <a:endParaRPr lang="en-US" sz="950" dirty="0"/>
          </a:p>
        </p:txBody>
      </p:sp>
      <p:sp>
        <p:nvSpPr>
          <p:cNvPr id="13" name="Text 11"/>
          <p:cNvSpPr/>
          <p:nvPr/>
        </p:nvSpPr>
        <p:spPr>
          <a:xfrm>
            <a:off x="457200" y="3657600"/>
            <a:ext cx="1920240" cy="201168"/>
          </a:xfrm>
          <a:prstGeom prst="rect">
            <a:avLst/>
          </a:prstGeom>
          <a:noFill/>
          <a:ln/>
        </p:spPr>
        <p:txBody>
          <a:bodyPr wrap="square" rtlCol="0" anchor="ctr"/>
          <a:lstStyle/>
          <a:p>
            <a:pPr indent="0" marL="0">
              <a:buNone/>
            </a:pPr>
            <a:r>
              <a:rPr lang="en-US" sz="850" i="1" dirty="0">
                <a:solidFill>
                  <a:srgbClr val="8FA3C8"/>
                </a:solidFill>
                <a:latin typeface="Calibri" pitchFamily="34" charset="0"/>
                <a:ea typeface="Calibri" pitchFamily="34" charset="-122"/>
                <a:cs typeface="Calibri" pitchFamily="34" charset="-120"/>
              </a:rPr>
              <a:t>Drives acquisition &amp; network density</a:t>
            </a:r>
            <a:endParaRPr lang="en-US" sz="850" dirty="0"/>
          </a:p>
        </p:txBody>
      </p:sp>
      <p:sp>
        <p:nvSpPr>
          <p:cNvPr id="14" name="Shape 12"/>
          <p:cNvSpPr/>
          <p:nvPr/>
        </p:nvSpPr>
        <p:spPr>
          <a:xfrm>
            <a:off x="2578608" y="1371600"/>
            <a:ext cx="2121408" cy="25603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2578608" y="1371600"/>
            <a:ext cx="2121408" cy="54864"/>
          </a:xfrm>
          <a:prstGeom prst="rect">
            <a:avLst/>
          </a:prstGeom>
          <a:solidFill>
            <a:srgbClr val="00C2E0"/>
          </a:solidFill>
          <a:ln w="12700">
            <a:solidFill>
              <a:srgbClr val="00C2E0"/>
            </a:solidFill>
            <a:prstDash val="solid"/>
          </a:ln>
        </p:spPr>
      </p:sp>
      <p:sp>
        <p:nvSpPr>
          <p:cNvPr id="16" name="Shape 14"/>
          <p:cNvSpPr/>
          <p:nvPr/>
        </p:nvSpPr>
        <p:spPr>
          <a:xfrm>
            <a:off x="2688336" y="1481328"/>
            <a:ext cx="1463040" cy="201168"/>
          </a:xfrm>
          <a:prstGeom prst="rect">
            <a:avLst/>
          </a:prstGeom>
          <a:solidFill>
            <a:srgbClr val="00C2E0">
              <a:alpha val="20000"/>
            </a:srgbClr>
          </a:solidFill>
          <a:ln w="12700">
            <a:solidFill>
              <a:srgbClr val="00C2E0"/>
            </a:solidFill>
            <a:prstDash val="solid"/>
          </a:ln>
        </p:spPr>
      </p:sp>
      <p:sp>
        <p:nvSpPr>
          <p:cNvPr id="17" name="Text 15"/>
          <p:cNvSpPr/>
          <p:nvPr/>
        </p:nvSpPr>
        <p:spPr>
          <a:xfrm>
            <a:off x="2688336" y="1481328"/>
            <a:ext cx="1463040" cy="201168"/>
          </a:xfrm>
          <a:prstGeom prst="rect">
            <a:avLst/>
          </a:prstGeom>
          <a:noFill/>
          <a:ln/>
        </p:spPr>
        <p:txBody>
          <a:bodyPr wrap="square" rtlCol="0" anchor="ctr"/>
          <a:lstStyle/>
          <a:p>
            <a:pPr algn="ctr" indent="0" marL="0">
              <a:buNone/>
            </a:pPr>
            <a:r>
              <a:rPr lang="en-US" sz="800" b="1" spc="150" kern="0" dirty="0">
                <a:solidFill>
                  <a:srgbClr val="00C2E0"/>
                </a:solidFill>
                <a:latin typeface="Calibri" pitchFamily="34" charset="0"/>
                <a:ea typeface="Calibri" pitchFamily="34" charset="-122"/>
                <a:cs typeface="Calibri" pitchFamily="34" charset="-120"/>
              </a:rPr>
              <a:t>CORE</a:t>
            </a:r>
            <a:endParaRPr lang="en-US" sz="800" dirty="0"/>
          </a:p>
        </p:txBody>
      </p:sp>
      <p:sp>
        <p:nvSpPr>
          <p:cNvPr id="18" name="Text 16"/>
          <p:cNvSpPr/>
          <p:nvPr/>
        </p:nvSpPr>
        <p:spPr>
          <a:xfrm>
            <a:off x="2688336" y="1737360"/>
            <a:ext cx="19202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Pro Agent</a:t>
            </a:r>
            <a:endParaRPr lang="en-US" sz="1300" dirty="0"/>
          </a:p>
        </p:txBody>
      </p:sp>
      <p:sp>
        <p:nvSpPr>
          <p:cNvPr id="19" name="Text 17"/>
          <p:cNvSpPr/>
          <p:nvPr/>
        </p:nvSpPr>
        <p:spPr>
          <a:xfrm>
            <a:off x="2688336" y="2029968"/>
            <a:ext cx="1920240" cy="256032"/>
          </a:xfrm>
          <a:prstGeom prst="rect">
            <a:avLst/>
          </a:prstGeom>
          <a:noFill/>
          <a:ln/>
        </p:spPr>
        <p:txBody>
          <a:bodyPr wrap="square" rtlCol="0" anchor="ctr"/>
          <a:lstStyle/>
          <a:p>
            <a:pPr indent="0" marL="0">
              <a:buNone/>
            </a:pPr>
            <a:r>
              <a:rPr lang="en-US" sz="1150" b="1" dirty="0">
                <a:solidFill>
                  <a:srgbClr val="00C2E0"/>
                </a:solidFill>
                <a:latin typeface="Calibri" pitchFamily="34" charset="0"/>
                <a:ea typeface="Calibri" pitchFamily="34" charset="-122"/>
                <a:cs typeface="Calibri" pitchFamily="34" charset="-120"/>
              </a:rPr>
              <a:t>€12 / month</a:t>
            </a:r>
            <a:endParaRPr lang="en-US" sz="1150" dirty="0"/>
          </a:p>
        </p:txBody>
      </p:sp>
      <p:sp>
        <p:nvSpPr>
          <p:cNvPr id="20" name="Text 18"/>
          <p:cNvSpPr/>
          <p:nvPr/>
        </p:nvSpPr>
        <p:spPr>
          <a:xfrm>
            <a:off x="2688336" y="2331720"/>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Unlimited simulations</a:t>
            </a:r>
            <a:endParaRPr lang="en-US" sz="950" dirty="0"/>
          </a:p>
        </p:txBody>
      </p:sp>
      <p:sp>
        <p:nvSpPr>
          <p:cNvPr id="21" name="Text 19"/>
          <p:cNvSpPr/>
          <p:nvPr/>
        </p:nvSpPr>
        <p:spPr>
          <a:xfrm>
            <a:off x="2688336" y="2596896"/>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Full Agentic Web access</a:t>
            </a:r>
            <a:endParaRPr lang="en-US" sz="950" dirty="0"/>
          </a:p>
        </p:txBody>
      </p:sp>
      <p:sp>
        <p:nvSpPr>
          <p:cNvPr id="22" name="Text 20"/>
          <p:cNvSpPr/>
          <p:nvPr/>
        </p:nvSpPr>
        <p:spPr>
          <a:xfrm>
            <a:off x="2688336" y="2862072"/>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Agent evolution tracking</a:t>
            </a:r>
            <a:endParaRPr lang="en-US" sz="950" dirty="0"/>
          </a:p>
        </p:txBody>
      </p:sp>
      <p:sp>
        <p:nvSpPr>
          <p:cNvPr id="23" name="Text 21"/>
          <p:cNvSpPr/>
          <p:nvPr/>
        </p:nvSpPr>
        <p:spPr>
          <a:xfrm>
            <a:off x="2688336" y="3127248"/>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Priority community matching</a:t>
            </a:r>
            <a:endParaRPr lang="en-US" sz="950" dirty="0"/>
          </a:p>
        </p:txBody>
      </p:sp>
      <p:sp>
        <p:nvSpPr>
          <p:cNvPr id="24" name="Text 22"/>
          <p:cNvSpPr/>
          <p:nvPr/>
        </p:nvSpPr>
        <p:spPr>
          <a:xfrm>
            <a:off x="2688336" y="3657600"/>
            <a:ext cx="1920240" cy="201168"/>
          </a:xfrm>
          <a:prstGeom prst="rect">
            <a:avLst/>
          </a:prstGeom>
          <a:noFill/>
          <a:ln/>
        </p:spPr>
        <p:txBody>
          <a:bodyPr wrap="square" rtlCol="0" anchor="ctr"/>
          <a:lstStyle/>
          <a:p>
            <a:pPr indent="0" marL="0">
              <a:buNone/>
            </a:pPr>
            <a:r>
              <a:rPr lang="en-US" sz="850" i="1" dirty="0">
                <a:solidFill>
                  <a:srgbClr val="00C2E0"/>
                </a:solidFill>
                <a:latin typeface="Calibri" pitchFamily="34" charset="0"/>
                <a:ea typeface="Calibri" pitchFamily="34" charset="-122"/>
                <a:cs typeface="Calibri" pitchFamily="34" charset="-120"/>
              </a:rPr>
              <a:t>Primary consumer revenue stream</a:t>
            </a:r>
            <a:endParaRPr lang="en-US" sz="850" dirty="0"/>
          </a:p>
        </p:txBody>
      </p:sp>
      <p:sp>
        <p:nvSpPr>
          <p:cNvPr id="25" name="Shape 23"/>
          <p:cNvSpPr/>
          <p:nvPr/>
        </p:nvSpPr>
        <p:spPr>
          <a:xfrm>
            <a:off x="4809744" y="1371600"/>
            <a:ext cx="2121408" cy="25603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4809744" y="1371600"/>
            <a:ext cx="2121408" cy="54864"/>
          </a:xfrm>
          <a:prstGeom prst="rect">
            <a:avLst/>
          </a:prstGeom>
          <a:solidFill>
            <a:srgbClr val="4F3BDB"/>
          </a:solidFill>
          <a:ln w="12700">
            <a:solidFill>
              <a:srgbClr val="4F3BDB"/>
            </a:solidFill>
            <a:prstDash val="solid"/>
          </a:ln>
        </p:spPr>
      </p:sp>
      <p:sp>
        <p:nvSpPr>
          <p:cNvPr id="27" name="Shape 25"/>
          <p:cNvSpPr/>
          <p:nvPr/>
        </p:nvSpPr>
        <p:spPr>
          <a:xfrm>
            <a:off x="4919472" y="1481328"/>
            <a:ext cx="1463040" cy="201168"/>
          </a:xfrm>
          <a:prstGeom prst="rect">
            <a:avLst/>
          </a:prstGeom>
          <a:solidFill>
            <a:srgbClr val="4F3BDB">
              <a:alpha val="20000"/>
            </a:srgbClr>
          </a:solidFill>
          <a:ln w="12700">
            <a:solidFill>
              <a:srgbClr val="4F3BDB"/>
            </a:solidFill>
            <a:prstDash val="solid"/>
          </a:ln>
        </p:spPr>
      </p:sp>
      <p:sp>
        <p:nvSpPr>
          <p:cNvPr id="28" name="Text 26"/>
          <p:cNvSpPr/>
          <p:nvPr/>
        </p:nvSpPr>
        <p:spPr>
          <a:xfrm>
            <a:off x="4919472" y="1481328"/>
            <a:ext cx="1463040" cy="201168"/>
          </a:xfrm>
          <a:prstGeom prst="rect">
            <a:avLst/>
          </a:prstGeom>
          <a:noFill/>
          <a:ln/>
        </p:spPr>
        <p:txBody>
          <a:bodyPr wrap="square" rtlCol="0" anchor="ctr"/>
          <a:lstStyle/>
          <a:p>
            <a:pPr algn="ctr" indent="0" marL="0">
              <a:buNone/>
            </a:pPr>
            <a:r>
              <a:rPr lang="en-US" sz="800" b="1" spc="150" kern="0" dirty="0">
                <a:solidFill>
                  <a:srgbClr val="4F3BDB"/>
                </a:solidFill>
                <a:latin typeface="Calibri" pitchFamily="34" charset="0"/>
                <a:ea typeface="Calibri" pitchFamily="34" charset="-122"/>
                <a:cs typeface="Calibri" pitchFamily="34" charset="-120"/>
              </a:rPr>
              <a:t>ENTERPRISE</a:t>
            </a:r>
            <a:endParaRPr lang="en-US" sz="800" dirty="0"/>
          </a:p>
        </p:txBody>
      </p:sp>
      <p:sp>
        <p:nvSpPr>
          <p:cNvPr id="29" name="Text 27"/>
          <p:cNvSpPr/>
          <p:nvPr/>
        </p:nvSpPr>
        <p:spPr>
          <a:xfrm>
            <a:off x="4919472" y="1737360"/>
            <a:ext cx="19202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Institutional</a:t>
            </a:r>
            <a:endParaRPr lang="en-US" sz="1300" dirty="0"/>
          </a:p>
        </p:txBody>
      </p:sp>
      <p:sp>
        <p:nvSpPr>
          <p:cNvPr id="30" name="Text 28"/>
          <p:cNvSpPr/>
          <p:nvPr/>
        </p:nvSpPr>
        <p:spPr>
          <a:xfrm>
            <a:off x="4919472" y="2029968"/>
            <a:ext cx="1920240" cy="256032"/>
          </a:xfrm>
          <a:prstGeom prst="rect">
            <a:avLst/>
          </a:prstGeom>
          <a:noFill/>
          <a:ln/>
        </p:spPr>
        <p:txBody>
          <a:bodyPr wrap="square" rtlCol="0" anchor="ctr"/>
          <a:lstStyle/>
          <a:p>
            <a:pPr indent="0" marL="0">
              <a:buNone/>
            </a:pPr>
            <a:r>
              <a:rPr lang="en-US" sz="1150" b="1" dirty="0">
                <a:solidFill>
                  <a:srgbClr val="4F3BDB"/>
                </a:solidFill>
                <a:latin typeface="Calibri" pitchFamily="34" charset="0"/>
                <a:ea typeface="Calibri" pitchFamily="34" charset="-122"/>
                <a:cs typeface="Calibri" pitchFamily="34" charset="-120"/>
              </a:rPr>
              <a:t>€499 – €2,999 / month</a:t>
            </a:r>
            <a:endParaRPr lang="en-US" sz="1150" dirty="0"/>
          </a:p>
        </p:txBody>
      </p:sp>
      <p:sp>
        <p:nvSpPr>
          <p:cNvPr id="31" name="Text 29"/>
          <p:cNvSpPr/>
          <p:nvPr/>
        </p:nvSpPr>
        <p:spPr>
          <a:xfrm>
            <a:off x="4919472" y="2331720"/>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Universities: student cohort simulations</a:t>
            </a:r>
            <a:endParaRPr lang="en-US" sz="950" dirty="0"/>
          </a:p>
        </p:txBody>
      </p:sp>
      <p:sp>
        <p:nvSpPr>
          <p:cNvPr id="32" name="Text 30"/>
          <p:cNvSpPr/>
          <p:nvPr/>
        </p:nvSpPr>
        <p:spPr>
          <a:xfrm>
            <a:off x="4919472" y="2596896"/>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Corporates: career transition modelling</a:t>
            </a:r>
            <a:endParaRPr lang="en-US" sz="950" dirty="0"/>
          </a:p>
        </p:txBody>
      </p:sp>
      <p:sp>
        <p:nvSpPr>
          <p:cNvPr id="33" name="Text 31"/>
          <p:cNvSpPr/>
          <p:nvPr/>
        </p:nvSpPr>
        <p:spPr>
          <a:xfrm>
            <a:off x="4919472" y="2862072"/>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Gov / NGO: policy impact simulation</a:t>
            </a:r>
            <a:endParaRPr lang="en-US" sz="950" dirty="0"/>
          </a:p>
        </p:txBody>
      </p:sp>
      <p:sp>
        <p:nvSpPr>
          <p:cNvPr id="34" name="Text 32"/>
          <p:cNvSpPr/>
          <p:nvPr/>
        </p:nvSpPr>
        <p:spPr>
          <a:xfrm>
            <a:off x="4919472" y="3127248"/>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Custom branded agent communities</a:t>
            </a:r>
            <a:endParaRPr lang="en-US" sz="950" dirty="0"/>
          </a:p>
        </p:txBody>
      </p:sp>
      <p:sp>
        <p:nvSpPr>
          <p:cNvPr id="35" name="Text 33"/>
          <p:cNvSpPr/>
          <p:nvPr/>
        </p:nvSpPr>
        <p:spPr>
          <a:xfrm>
            <a:off x="4919472" y="3657600"/>
            <a:ext cx="1920240" cy="201168"/>
          </a:xfrm>
          <a:prstGeom prst="rect">
            <a:avLst/>
          </a:prstGeom>
          <a:noFill/>
          <a:ln/>
        </p:spPr>
        <p:txBody>
          <a:bodyPr wrap="square" rtlCol="0" anchor="ctr"/>
          <a:lstStyle/>
          <a:p>
            <a:pPr indent="0" marL="0">
              <a:buNone/>
            </a:pPr>
            <a:r>
              <a:rPr lang="en-US" sz="850" i="1" dirty="0">
                <a:solidFill>
                  <a:srgbClr val="4F3BDB"/>
                </a:solidFill>
                <a:latin typeface="Calibri" pitchFamily="34" charset="0"/>
                <a:ea typeface="Calibri" pitchFamily="34" charset="-122"/>
                <a:cs typeface="Calibri" pitchFamily="34" charset="-120"/>
              </a:rPr>
              <a:t>High-value B2B anchor revenue</a:t>
            </a:r>
            <a:endParaRPr lang="en-US" sz="850" dirty="0"/>
          </a:p>
        </p:txBody>
      </p:sp>
      <p:sp>
        <p:nvSpPr>
          <p:cNvPr id="36" name="Shape 34"/>
          <p:cNvSpPr/>
          <p:nvPr/>
        </p:nvSpPr>
        <p:spPr>
          <a:xfrm>
            <a:off x="7040880" y="1371600"/>
            <a:ext cx="2121408" cy="25603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7" name="Shape 35"/>
          <p:cNvSpPr/>
          <p:nvPr/>
        </p:nvSpPr>
        <p:spPr>
          <a:xfrm>
            <a:off x="7040880" y="1371600"/>
            <a:ext cx="2121408" cy="54864"/>
          </a:xfrm>
          <a:prstGeom prst="rect">
            <a:avLst/>
          </a:prstGeom>
          <a:solidFill>
            <a:srgbClr val="F5A623"/>
          </a:solidFill>
          <a:ln w="12700">
            <a:solidFill>
              <a:srgbClr val="F5A623"/>
            </a:solidFill>
            <a:prstDash val="solid"/>
          </a:ln>
        </p:spPr>
      </p:sp>
      <p:sp>
        <p:nvSpPr>
          <p:cNvPr id="38" name="Shape 36"/>
          <p:cNvSpPr/>
          <p:nvPr/>
        </p:nvSpPr>
        <p:spPr>
          <a:xfrm>
            <a:off x="7150608" y="1481328"/>
            <a:ext cx="1463040" cy="201168"/>
          </a:xfrm>
          <a:prstGeom prst="rect">
            <a:avLst/>
          </a:prstGeom>
          <a:solidFill>
            <a:srgbClr val="F5A623">
              <a:alpha val="20000"/>
            </a:srgbClr>
          </a:solidFill>
          <a:ln w="12700">
            <a:solidFill>
              <a:srgbClr val="F5A623"/>
            </a:solidFill>
            <a:prstDash val="solid"/>
          </a:ln>
        </p:spPr>
      </p:sp>
      <p:sp>
        <p:nvSpPr>
          <p:cNvPr id="39" name="Text 37"/>
          <p:cNvSpPr/>
          <p:nvPr/>
        </p:nvSpPr>
        <p:spPr>
          <a:xfrm>
            <a:off x="7150608" y="1481328"/>
            <a:ext cx="1463040" cy="201168"/>
          </a:xfrm>
          <a:prstGeom prst="rect">
            <a:avLst/>
          </a:prstGeom>
          <a:noFill/>
          <a:ln/>
        </p:spPr>
        <p:txBody>
          <a:bodyPr wrap="square" rtlCol="0" anchor="ctr"/>
          <a:lstStyle/>
          <a:p>
            <a:pPr algn="ctr" indent="0" marL="0">
              <a:buNone/>
            </a:pPr>
            <a:r>
              <a:rPr lang="en-US" sz="800" b="1" spc="150" kern="0" dirty="0">
                <a:solidFill>
                  <a:srgbClr val="F5A623"/>
                </a:solidFill>
                <a:latin typeface="Calibri" pitchFamily="34" charset="0"/>
                <a:ea typeface="Calibri" pitchFamily="34" charset="-122"/>
                <a:cs typeface="Calibri" pitchFamily="34" charset="-120"/>
              </a:rPr>
              <a:t>MARKETPLACE</a:t>
            </a:r>
            <a:endParaRPr lang="en-US" sz="800" dirty="0"/>
          </a:p>
        </p:txBody>
      </p:sp>
      <p:sp>
        <p:nvSpPr>
          <p:cNvPr id="40" name="Text 38"/>
          <p:cNvSpPr/>
          <p:nvPr/>
        </p:nvSpPr>
        <p:spPr>
          <a:xfrm>
            <a:off x="7150608" y="1737360"/>
            <a:ext cx="192024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Expert Agents</a:t>
            </a:r>
            <a:endParaRPr lang="en-US" sz="1300" dirty="0"/>
          </a:p>
        </p:txBody>
      </p:sp>
      <p:sp>
        <p:nvSpPr>
          <p:cNvPr id="41" name="Text 39"/>
          <p:cNvSpPr/>
          <p:nvPr/>
        </p:nvSpPr>
        <p:spPr>
          <a:xfrm>
            <a:off x="7150608" y="2029968"/>
            <a:ext cx="1920240" cy="256032"/>
          </a:xfrm>
          <a:prstGeom prst="rect">
            <a:avLst/>
          </a:prstGeom>
          <a:noFill/>
          <a:ln/>
        </p:spPr>
        <p:txBody>
          <a:bodyPr wrap="square" rtlCol="0" anchor="ctr"/>
          <a:lstStyle/>
          <a:p>
            <a:pPr indent="0" marL="0">
              <a:buNone/>
            </a:pPr>
            <a:r>
              <a:rPr lang="en-US" sz="1150" b="1" dirty="0">
                <a:solidFill>
                  <a:srgbClr val="F5A623"/>
                </a:solidFill>
                <a:latin typeface="Calibri" pitchFamily="34" charset="0"/>
                <a:ea typeface="Calibri" pitchFamily="34" charset="-122"/>
                <a:cs typeface="Calibri" pitchFamily="34" charset="-120"/>
              </a:rPr>
              <a:t>Revenue share (30 / 70)</a:t>
            </a:r>
            <a:endParaRPr lang="en-US" sz="1150" dirty="0"/>
          </a:p>
        </p:txBody>
      </p:sp>
      <p:sp>
        <p:nvSpPr>
          <p:cNvPr id="42" name="Text 40"/>
          <p:cNvSpPr/>
          <p:nvPr/>
        </p:nvSpPr>
        <p:spPr>
          <a:xfrm>
            <a:off x="7150608" y="2331720"/>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Top contributors monetise their knowledge</a:t>
            </a:r>
            <a:endParaRPr lang="en-US" sz="950" dirty="0"/>
          </a:p>
        </p:txBody>
      </p:sp>
      <p:sp>
        <p:nvSpPr>
          <p:cNvPr id="43" name="Text 41"/>
          <p:cNvSpPr/>
          <p:nvPr/>
        </p:nvSpPr>
        <p:spPr>
          <a:xfrm>
            <a:off x="7150608" y="2596896"/>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Users pay to access premium agent profiles</a:t>
            </a:r>
            <a:endParaRPr lang="en-US" sz="950" dirty="0"/>
          </a:p>
        </p:txBody>
      </p:sp>
      <p:sp>
        <p:nvSpPr>
          <p:cNvPr id="44" name="Text 42"/>
          <p:cNvSpPr/>
          <p:nvPr/>
        </p:nvSpPr>
        <p:spPr>
          <a:xfrm>
            <a:off x="7150608" y="2862072"/>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Creator economy inside the network</a:t>
            </a:r>
            <a:endParaRPr lang="en-US" sz="950" dirty="0"/>
          </a:p>
        </p:txBody>
      </p:sp>
      <p:sp>
        <p:nvSpPr>
          <p:cNvPr id="45" name="Text 43"/>
          <p:cNvSpPr/>
          <p:nvPr/>
        </p:nvSpPr>
        <p:spPr>
          <a:xfrm>
            <a:off x="7150608" y="3127248"/>
            <a:ext cx="1920240" cy="246888"/>
          </a:xfrm>
          <a:prstGeom prst="rect">
            <a:avLst/>
          </a:prstGeom>
          <a:noFill/>
          <a:ln/>
        </p:spPr>
        <p:txBody>
          <a:bodyPr wrap="square" rtlCol="0" anchor="ctr"/>
          <a:lstStyle/>
          <a:p>
            <a:pPr indent="0" marL="0">
              <a:buNone/>
            </a:pPr>
            <a:r>
              <a:rPr lang="en-US" sz="950" dirty="0">
                <a:solidFill>
                  <a:srgbClr val="8FA3C8"/>
                </a:solidFill>
                <a:latin typeface="Calibri" pitchFamily="34" charset="0"/>
                <a:ea typeface="Calibri" pitchFamily="34" charset="-122"/>
                <a:cs typeface="Calibri" pitchFamily="34" charset="-120"/>
              </a:rPr>
              <a:t>· Incentive flywheel for quality contribution</a:t>
            </a:r>
            <a:endParaRPr lang="en-US" sz="950" dirty="0"/>
          </a:p>
        </p:txBody>
      </p:sp>
      <p:sp>
        <p:nvSpPr>
          <p:cNvPr id="46" name="Text 44"/>
          <p:cNvSpPr/>
          <p:nvPr/>
        </p:nvSpPr>
        <p:spPr>
          <a:xfrm>
            <a:off x="7150608" y="3657600"/>
            <a:ext cx="1920240" cy="201168"/>
          </a:xfrm>
          <a:prstGeom prst="rect">
            <a:avLst/>
          </a:prstGeom>
          <a:noFill/>
          <a:ln/>
        </p:spPr>
        <p:txBody>
          <a:bodyPr wrap="square" rtlCol="0" anchor="ctr"/>
          <a:lstStyle/>
          <a:p>
            <a:pPr indent="0" marL="0">
              <a:buNone/>
            </a:pPr>
            <a:r>
              <a:rPr lang="en-US" sz="850" i="1" dirty="0">
                <a:solidFill>
                  <a:srgbClr val="F5A623"/>
                </a:solidFill>
                <a:latin typeface="Calibri" pitchFamily="34" charset="0"/>
                <a:ea typeface="Calibri" pitchFamily="34" charset="-122"/>
                <a:cs typeface="Calibri" pitchFamily="34" charset="-120"/>
              </a:rPr>
              <a:t>Long-term network monetisation</a:t>
            </a:r>
            <a:endParaRPr lang="en-US" sz="850" dirty="0"/>
          </a:p>
        </p:txBody>
      </p:sp>
      <p:sp>
        <p:nvSpPr>
          <p:cNvPr id="47" name="Shape 45"/>
          <p:cNvSpPr/>
          <p:nvPr/>
        </p:nvSpPr>
        <p:spPr>
          <a:xfrm>
            <a:off x="347472" y="4023360"/>
            <a:ext cx="8449056" cy="9144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48" name="Text 46"/>
          <p:cNvSpPr/>
          <p:nvPr/>
        </p:nvSpPr>
        <p:spPr>
          <a:xfrm>
            <a:off x="502920" y="4059936"/>
            <a:ext cx="1828800" cy="201168"/>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49" name="Text 47"/>
          <p:cNvSpPr/>
          <p:nvPr/>
        </p:nvSpPr>
        <p:spPr>
          <a:xfrm>
            <a:off x="502920" y="4279392"/>
            <a:ext cx="8229600" cy="59436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"We make money four ways. Free tier fills the network — density is everything. Pro at €12 a month captures the core user. Institutional is where serious money lives: imagine every Irish university paying us to simulate their incoming student cohort. And long-term, our expert marketplace lets top contributors monetise their knowledge, creating a self-reinforcing flywheel. Every stream feeds the others."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28600"/>
            <a:ext cx="3657600" cy="201168"/>
          </a:xfrm>
          <a:prstGeom prst="rect">
            <a:avLst/>
          </a:prstGeom>
          <a:noFill/>
          <a:ln/>
        </p:spPr>
        <p:txBody>
          <a:bodyPr wrap="square" rtlCol="0" anchor="ctr"/>
          <a:lstStyle/>
          <a:p>
            <a:pPr indent="0" marL="0">
              <a:buNone/>
            </a:pPr>
            <a:r>
              <a:rPr lang="en-US" sz="800" b="1" spc="300" kern="0" dirty="0">
                <a:solidFill>
                  <a:srgbClr val="00C48C"/>
                </a:solidFill>
                <a:latin typeface="Calibri" pitchFamily="34" charset="0"/>
                <a:ea typeface="Calibri" pitchFamily="34" charset="-122"/>
                <a:cs typeface="Calibri" pitchFamily="34" charset="-120"/>
              </a:rPr>
              <a:t>MARKET OPPORTUNITY</a:t>
            </a:r>
            <a:endParaRPr lang="en-US" sz="800" dirty="0"/>
          </a:p>
        </p:txBody>
      </p:sp>
      <p:sp>
        <p:nvSpPr>
          <p:cNvPr id="3" name="Text 1"/>
          <p:cNvSpPr/>
          <p:nvPr/>
        </p:nvSpPr>
        <p:spPr>
          <a:xfrm>
            <a:off x="457200" y="438912"/>
            <a:ext cx="7315200" cy="8229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 market defined by every</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human making a life decision.</a:t>
            </a:r>
            <a:endParaRPr lang="en-US" sz="2800" dirty="0"/>
          </a:p>
        </p:txBody>
      </p:sp>
      <p:sp>
        <p:nvSpPr>
          <p:cNvPr id="4" name="Shape 2"/>
          <p:cNvSpPr/>
          <p:nvPr/>
        </p:nvSpPr>
        <p:spPr>
          <a:xfrm>
            <a:off x="365760" y="1371600"/>
            <a:ext cx="2743200" cy="2286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1371600"/>
            <a:ext cx="54864" cy="2286000"/>
          </a:xfrm>
          <a:prstGeom prst="rect">
            <a:avLst/>
          </a:prstGeom>
          <a:solidFill>
            <a:srgbClr val="4F3BDB"/>
          </a:solidFill>
          <a:ln w="12700">
            <a:solidFill>
              <a:srgbClr val="4F3BDB"/>
            </a:solidFill>
            <a:prstDash val="solid"/>
          </a:ln>
        </p:spPr>
      </p:sp>
      <p:sp>
        <p:nvSpPr>
          <p:cNvPr id="6" name="Text 4"/>
          <p:cNvSpPr/>
          <p:nvPr/>
        </p:nvSpPr>
        <p:spPr>
          <a:xfrm>
            <a:off x="548640" y="1481328"/>
            <a:ext cx="1371600" cy="274320"/>
          </a:xfrm>
          <a:prstGeom prst="rect">
            <a:avLst/>
          </a:prstGeom>
          <a:noFill/>
          <a:ln/>
        </p:spPr>
        <p:txBody>
          <a:bodyPr wrap="square" rtlCol="0" anchor="ctr"/>
          <a:lstStyle/>
          <a:p>
            <a:pPr indent="0" marL="0">
              <a:buNone/>
            </a:pPr>
            <a:r>
              <a:rPr lang="en-US" sz="1100" b="1" spc="300" kern="0" dirty="0">
                <a:solidFill>
                  <a:srgbClr val="4F3BDB"/>
                </a:solidFill>
                <a:latin typeface="Calibri" pitchFamily="34" charset="0"/>
                <a:ea typeface="Calibri" pitchFamily="34" charset="-122"/>
                <a:cs typeface="Calibri" pitchFamily="34" charset="-120"/>
              </a:rPr>
              <a:t>TAM</a:t>
            </a:r>
            <a:endParaRPr lang="en-US" sz="1100" dirty="0"/>
          </a:p>
        </p:txBody>
      </p:sp>
      <p:sp>
        <p:nvSpPr>
          <p:cNvPr id="7" name="Text 5"/>
          <p:cNvSpPr/>
          <p:nvPr/>
        </p:nvSpPr>
        <p:spPr>
          <a:xfrm>
            <a:off x="548640" y="1783080"/>
            <a:ext cx="2468880" cy="6400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$140B+</a:t>
            </a:r>
            <a:endParaRPr lang="en-US" sz="3400" dirty="0"/>
          </a:p>
        </p:txBody>
      </p:sp>
      <p:sp>
        <p:nvSpPr>
          <p:cNvPr id="8" name="Text 6"/>
          <p:cNvSpPr/>
          <p:nvPr/>
        </p:nvSpPr>
        <p:spPr>
          <a:xfrm>
            <a:off x="548640" y="2450592"/>
            <a:ext cx="2468880" cy="10515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Global EdTech + Career Guidance + AI Coaching markets combined</a:t>
            </a:r>
            <a:endParaRPr lang="en-US" sz="1100" dirty="0"/>
          </a:p>
        </p:txBody>
      </p:sp>
      <p:sp>
        <p:nvSpPr>
          <p:cNvPr id="9" name="Shape 7"/>
          <p:cNvSpPr/>
          <p:nvPr/>
        </p:nvSpPr>
        <p:spPr>
          <a:xfrm>
            <a:off x="3291840" y="1371600"/>
            <a:ext cx="2743200" cy="2286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0" name="Shape 8"/>
          <p:cNvSpPr/>
          <p:nvPr/>
        </p:nvSpPr>
        <p:spPr>
          <a:xfrm>
            <a:off x="3291840" y="1371600"/>
            <a:ext cx="54864" cy="2286000"/>
          </a:xfrm>
          <a:prstGeom prst="rect">
            <a:avLst/>
          </a:prstGeom>
          <a:solidFill>
            <a:srgbClr val="4F3BDB"/>
          </a:solidFill>
          <a:ln w="12700">
            <a:solidFill>
              <a:srgbClr val="4F3BDB"/>
            </a:solidFill>
            <a:prstDash val="solid"/>
          </a:ln>
        </p:spPr>
      </p:sp>
      <p:sp>
        <p:nvSpPr>
          <p:cNvPr id="11" name="Text 9"/>
          <p:cNvSpPr/>
          <p:nvPr/>
        </p:nvSpPr>
        <p:spPr>
          <a:xfrm>
            <a:off x="3474720" y="1481328"/>
            <a:ext cx="1371600" cy="274320"/>
          </a:xfrm>
          <a:prstGeom prst="rect">
            <a:avLst/>
          </a:prstGeom>
          <a:noFill/>
          <a:ln/>
        </p:spPr>
        <p:txBody>
          <a:bodyPr wrap="square" rtlCol="0" anchor="ctr"/>
          <a:lstStyle/>
          <a:p>
            <a:pPr indent="0" marL="0">
              <a:buNone/>
            </a:pPr>
            <a:r>
              <a:rPr lang="en-US" sz="1100" b="1" spc="300" kern="0" dirty="0">
                <a:solidFill>
                  <a:srgbClr val="00C2E0"/>
                </a:solidFill>
                <a:latin typeface="Calibri" pitchFamily="34" charset="0"/>
                <a:ea typeface="Calibri" pitchFamily="34" charset="-122"/>
                <a:cs typeface="Calibri" pitchFamily="34" charset="-120"/>
              </a:rPr>
              <a:t>SAM</a:t>
            </a:r>
            <a:endParaRPr lang="en-US" sz="1100" dirty="0"/>
          </a:p>
        </p:txBody>
      </p:sp>
      <p:sp>
        <p:nvSpPr>
          <p:cNvPr id="12" name="Text 10"/>
          <p:cNvSpPr/>
          <p:nvPr/>
        </p:nvSpPr>
        <p:spPr>
          <a:xfrm>
            <a:off x="3474720" y="1783080"/>
            <a:ext cx="2468880" cy="6400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$18B</a:t>
            </a:r>
            <a:endParaRPr lang="en-US" sz="3400" dirty="0"/>
          </a:p>
        </p:txBody>
      </p:sp>
      <p:sp>
        <p:nvSpPr>
          <p:cNvPr id="13" name="Text 11"/>
          <p:cNvSpPr/>
          <p:nvPr/>
        </p:nvSpPr>
        <p:spPr>
          <a:xfrm>
            <a:off x="3474720" y="2450592"/>
            <a:ext cx="2468880" cy="10515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English-speaking AI personalisation &amp; mentorship platforms</a:t>
            </a:r>
            <a:endParaRPr lang="en-US" sz="1100" dirty="0"/>
          </a:p>
        </p:txBody>
      </p:sp>
      <p:sp>
        <p:nvSpPr>
          <p:cNvPr id="14" name="Shape 12"/>
          <p:cNvSpPr/>
          <p:nvPr/>
        </p:nvSpPr>
        <p:spPr>
          <a:xfrm>
            <a:off x="6217920" y="1371600"/>
            <a:ext cx="2743200" cy="22860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5" name="Shape 13"/>
          <p:cNvSpPr/>
          <p:nvPr/>
        </p:nvSpPr>
        <p:spPr>
          <a:xfrm>
            <a:off x="6217920" y="1371600"/>
            <a:ext cx="54864" cy="2286000"/>
          </a:xfrm>
          <a:prstGeom prst="rect">
            <a:avLst/>
          </a:prstGeom>
          <a:solidFill>
            <a:srgbClr val="4F3BDB"/>
          </a:solidFill>
          <a:ln w="12700">
            <a:solidFill>
              <a:srgbClr val="4F3BDB"/>
            </a:solidFill>
            <a:prstDash val="solid"/>
          </a:ln>
        </p:spPr>
      </p:sp>
      <p:sp>
        <p:nvSpPr>
          <p:cNvPr id="16" name="Text 14"/>
          <p:cNvSpPr/>
          <p:nvPr/>
        </p:nvSpPr>
        <p:spPr>
          <a:xfrm>
            <a:off x="6400800" y="1481328"/>
            <a:ext cx="1371600" cy="274320"/>
          </a:xfrm>
          <a:prstGeom prst="rect">
            <a:avLst/>
          </a:prstGeom>
          <a:noFill/>
          <a:ln/>
        </p:spPr>
        <p:txBody>
          <a:bodyPr wrap="square" rtlCol="0" anchor="ctr"/>
          <a:lstStyle/>
          <a:p>
            <a:pPr indent="0" marL="0">
              <a:buNone/>
            </a:pPr>
            <a:r>
              <a:rPr lang="en-US" sz="1100" b="1" spc="300" kern="0" dirty="0">
                <a:solidFill>
                  <a:srgbClr val="00C48C"/>
                </a:solidFill>
                <a:latin typeface="Calibri" pitchFamily="34" charset="0"/>
                <a:ea typeface="Calibri" pitchFamily="34" charset="-122"/>
                <a:cs typeface="Calibri" pitchFamily="34" charset="-120"/>
              </a:rPr>
              <a:t>SOM</a:t>
            </a:r>
            <a:endParaRPr lang="en-US" sz="1100" dirty="0"/>
          </a:p>
        </p:txBody>
      </p:sp>
      <p:sp>
        <p:nvSpPr>
          <p:cNvPr id="17" name="Text 15"/>
          <p:cNvSpPr/>
          <p:nvPr/>
        </p:nvSpPr>
        <p:spPr>
          <a:xfrm>
            <a:off x="6400800" y="1783080"/>
            <a:ext cx="2468880" cy="6400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$320M</a:t>
            </a:r>
            <a:endParaRPr lang="en-US" sz="3400" dirty="0"/>
          </a:p>
        </p:txBody>
      </p:sp>
      <p:sp>
        <p:nvSpPr>
          <p:cNvPr id="18" name="Text 16"/>
          <p:cNvSpPr/>
          <p:nvPr/>
        </p:nvSpPr>
        <p:spPr>
          <a:xfrm>
            <a:off x="6400800" y="2450592"/>
            <a:ext cx="2468880" cy="105156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Ireland, UK, EU student &amp; early-career segments — Year 1-3 target</a:t>
            </a:r>
            <a:endParaRPr lang="en-US" sz="1100" dirty="0"/>
          </a:p>
        </p:txBody>
      </p:sp>
      <p:sp>
        <p:nvSpPr>
          <p:cNvPr id="19" name="Shape 17"/>
          <p:cNvSpPr/>
          <p:nvPr/>
        </p:nvSpPr>
        <p:spPr>
          <a:xfrm>
            <a:off x="365760" y="3767328"/>
            <a:ext cx="2743200" cy="749808"/>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0" name="Text 18"/>
          <p:cNvSpPr/>
          <p:nvPr/>
        </p:nvSpPr>
        <p:spPr>
          <a:xfrm>
            <a:off x="548640" y="3803904"/>
            <a:ext cx="1280160" cy="347472"/>
          </a:xfrm>
          <a:prstGeom prst="rect">
            <a:avLst/>
          </a:prstGeom>
          <a:noFill/>
          <a:ln/>
        </p:spPr>
        <p:txBody>
          <a:bodyPr wrap="square" rtlCol="0" anchor="ctr"/>
          <a:lstStyle/>
          <a:p>
            <a:pPr indent="0" marL="0">
              <a:buNone/>
            </a:pPr>
            <a:r>
              <a:rPr lang="en-US" sz="2200" b="1" dirty="0">
                <a:solidFill>
                  <a:srgbClr val="F5A623"/>
                </a:solidFill>
                <a:latin typeface="Calibri" pitchFamily="34" charset="0"/>
                <a:ea typeface="Calibri" pitchFamily="34" charset="-122"/>
                <a:cs typeface="Calibri" pitchFamily="34" charset="-120"/>
              </a:rPr>
              <a:t>220M+</a:t>
            </a:r>
            <a:endParaRPr lang="en-US" sz="2200" dirty="0"/>
          </a:p>
        </p:txBody>
      </p:sp>
      <p:sp>
        <p:nvSpPr>
          <p:cNvPr id="21" name="Text 19"/>
          <p:cNvSpPr/>
          <p:nvPr/>
        </p:nvSpPr>
        <p:spPr>
          <a:xfrm>
            <a:off x="548640" y="4151376"/>
            <a:ext cx="2560320" cy="274320"/>
          </a:xfrm>
          <a:prstGeom prst="rect">
            <a:avLst/>
          </a:prstGeom>
          <a:noFill/>
          <a:ln/>
        </p:spPr>
        <p:txBody>
          <a:bodyPr wrap="square" rtlCol="0" anchor="ctr"/>
          <a:lstStyle/>
          <a:p>
            <a:pPr indent="0" marL="0">
              <a:buNone/>
            </a:pPr>
            <a:r>
              <a:rPr lang="en-US" sz="1000" dirty="0">
                <a:solidFill>
                  <a:srgbClr val="8FA3C8"/>
                </a:solidFill>
                <a:latin typeface="Calibri" pitchFamily="34" charset="0"/>
                <a:ea typeface="Calibri" pitchFamily="34" charset="-122"/>
                <a:cs typeface="Calibri" pitchFamily="34" charset="-120"/>
              </a:rPr>
              <a:t>students globally enrol each year</a:t>
            </a:r>
            <a:endParaRPr lang="en-US" sz="1000" dirty="0"/>
          </a:p>
        </p:txBody>
      </p:sp>
      <p:sp>
        <p:nvSpPr>
          <p:cNvPr id="22" name="Shape 20"/>
          <p:cNvSpPr/>
          <p:nvPr/>
        </p:nvSpPr>
        <p:spPr>
          <a:xfrm>
            <a:off x="3291840" y="3767328"/>
            <a:ext cx="2743200" cy="749808"/>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3" name="Text 21"/>
          <p:cNvSpPr/>
          <p:nvPr/>
        </p:nvSpPr>
        <p:spPr>
          <a:xfrm>
            <a:off x="3474720" y="3803904"/>
            <a:ext cx="1280160" cy="347472"/>
          </a:xfrm>
          <a:prstGeom prst="rect">
            <a:avLst/>
          </a:prstGeom>
          <a:noFill/>
          <a:ln/>
        </p:spPr>
        <p:txBody>
          <a:bodyPr wrap="square" rtlCol="0" anchor="ctr"/>
          <a:lstStyle/>
          <a:p>
            <a:pPr indent="0" marL="0">
              <a:buNone/>
            </a:pPr>
            <a:r>
              <a:rPr lang="en-US" sz="2200" b="1" dirty="0">
                <a:solidFill>
                  <a:srgbClr val="F5A623"/>
                </a:solidFill>
                <a:latin typeface="Calibri" pitchFamily="34" charset="0"/>
                <a:ea typeface="Calibri" pitchFamily="34" charset="-122"/>
                <a:cs typeface="Calibri" pitchFamily="34" charset="-120"/>
              </a:rPr>
              <a:t>1 in 3</a:t>
            </a:r>
            <a:endParaRPr lang="en-US" sz="2200" dirty="0"/>
          </a:p>
        </p:txBody>
      </p:sp>
      <p:sp>
        <p:nvSpPr>
          <p:cNvPr id="24" name="Text 22"/>
          <p:cNvSpPr/>
          <p:nvPr/>
        </p:nvSpPr>
        <p:spPr>
          <a:xfrm>
            <a:off x="3474720" y="4151376"/>
            <a:ext cx="2560320" cy="274320"/>
          </a:xfrm>
          <a:prstGeom prst="rect">
            <a:avLst/>
          </a:prstGeom>
          <a:noFill/>
          <a:ln/>
        </p:spPr>
        <p:txBody>
          <a:bodyPr wrap="square" rtlCol="0" anchor="ctr"/>
          <a:lstStyle/>
          <a:p>
            <a:pPr indent="0" marL="0">
              <a:buNone/>
            </a:pPr>
            <a:r>
              <a:rPr lang="en-US" sz="1000" dirty="0">
                <a:solidFill>
                  <a:srgbClr val="8FA3C8"/>
                </a:solidFill>
                <a:latin typeface="Calibri" pitchFamily="34" charset="0"/>
                <a:ea typeface="Calibri" pitchFamily="34" charset="-122"/>
                <a:cs typeface="Calibri" pitchFamily="34" charset="-120"/>
              </a:rPr>
              <a:t>adults consider a career change annually</a:t>
            </a:r>
            <a:endParaRPr lang="en-US" sz="1000" dirty="0"/>
          </a:p>
        </p:txBody>
      </p:sp>
      <p:sp>
        <p:nvSpPr>
          <p:cNvPr id="25" name="Shape 23"/>
          <p:cNvSpPr/>
          <p:nvPr/>
        </p:nvSpPr>
        <p:spPr>
          <a:xfrm>
            <a:off x="6217920" y="3767328"/>
            <a:ext cx="2743200" cy="749808"/>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6" name="Text 24"/>
          <p:cNvSpPr/>
          <p:nvPr/>
        </p:nvSpPr>
        <p:spPr>
          <a:xfrm>
            <a:off x="6400800" y="3803904"/>
            <a:ext cx="1280160" cy="347472"/>
          </a:xfrm>
          <a:prstGeom prst="rect">
            <a:avLst/>
          </a:prstGeom>
          <a:noFill/>
          <a:ln/>
        </p:spPr>
        <p:txBody>
          <a:bodyPr wrap="square" rtlCol="0" anchor="ctr"/>
          <a:lstStyle/>
          <a:p>
            <a:pPr indent="0" marL="0">
              <a:buNone/>
            </a:pPr>
            <a:r>
              <a:rPr lang="en-US" sz="2200" b="1" dirty="0">
                <a:solidFill>
                  <a:srgbClr val="F5A623"/>
                </a:solidFill>
                <a:latin typeface="Calibri" pitchFamily="34" charset="0"/>
                <a:ea typeface="Calibri" pitchFamily="34" charset="-122"/>
                <a:cs typeface="Calibri" pitchFamily="34" charset="-120"/>
              </a:rPr>
              <a:t>$4.5B</a:t>
            </a:r>
            <a:endParaRPr lang="en-US" sz="2200" dirty="0"/>
          </a:p>
        </p:txBody>
      </p:sp>
      <p:sp>
        <p:nvSpPr>
          <p:cNvPr id="27" name="Text 25"/>
          <p:cNvSpPr/>
          <p:nvPr/>
        </p:nvSpPr>
        <p:spPr>
          <a:xfrm>
            <a:off x="6400800" y="4151376"/>
            <a:ext cx="2560320" cy="274320"/>
          </a:xfrm>
          <a:prstGeom prst="rect">
            <a:avLst/>
          </a:prstGeom>
          <a:noFill/>
          <a:ln/>
        </p:spPr>
        <p:txBody>
          <a:bodyPr wrap="square" rtlCol="0" anchor="ctr"/>
          <a:lstStyle/>
          <a:p>
            <a:pPr indent="0" marL="0">
              <a:buNone/>
            </a:pPr>
            <a:r>
              <a:rPr lang="en-US" sz="1000" dirty="0">
                <a:solidFill>
                  <a:srgbClr val="8FA3C8"/>
                </a:solidFill>
                <a:latin typeface="Calibri" pitchFamily="34" charset="0"/>
                <a:ea typeface="Calibri" pitchFamily="34" charset="-122"/>
                <a:cs typeface="Calibri" pitchFamily="34" charset="-120"/>
              </a:rPr>
              <a:t>raised by AI coaching platforms in 2024</a:t>
            </a:r>
            <a:endParaRPr lang="en-US" sz="1000" dirty="0"/>
          </a:p>
        </p:txBody>
      </p:sp>
      <p:sp>
        <p:nvSpPr>
          <p:cNvPr id="28" name="Shape 26"/>
          <p:cNvSpPr/>
          <p:nvPr/>
        </p:nvSpPr>
        <p:spPr>
          <a:xfrm>
            <a:off x="347472" y="4590288"/>
            <a:ext cx="8449056" cy="4572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9" name="Text 27"/>
          <p:cNvSpPr/>
          <p:nvPr/>
        </p:nvSpPr>
        <p:spPr>
          <a:xfrm>
            <a:off x="502920" y="4617720"/>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30" name="Text 28"/>
          <p:cNvSpPr/>
          <p:nvPr/>
        </p:nvSpPr>
        <p:spPr>
          <a:xfrm>
            <a:off x="502920" y="4773168"/>
            <a:ext cx="8229600" cy="228600"/>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"We're not chasing a niche. Decisions about study, career, and life are universal. Our beachhead is students — a captive, high-need audience, hundreds of millions of them globally. Ireland and the UK are our first market, then the EU, then English-speaking world."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28600"/>
            <a:ext cx="2743200" cy="201168"/>
          </a:xfrm>
          <a:prstGeom prst="rect">
            <a:avLst/>
          </a:prstGeom>
          <a:noFill/>
          <a:ln/>
        </p:spPr>
        <p:txBody>
          <a:bodyPr wrap="square" rtlCol="0" anchor="ctr"/>
          <a:lstStyle/>
          <a:p>
            <a:pPr indent="0" marL="0">
              <a:buNone/>
            </a:pPr>
            <a:r>
              <a:rPr lang="en-US" sz="800" b="1" spc="300" kern="0" dirty="0">
                <a:solidFill>
                  <a:srgbClr val="00C2E0"/>
                </a:solidFill>
                <a:latin typeface="Calibri" pitchFamily="34" charset="0"/>
                <a:ea typeface="Calibri" pitchFamily="34" charset="-122"/>
                <a:cs typeface="Calibri" pitchFamily="34" charset="-120"/>
              </a:rPr>
              <a:t>GO-TO-MARKET</a:t>
            </a:r>
            <a:endParaRPr lang="en-US" sz="800" dirty="0"/>
          </a:p>
        </p:txBody>
      </p:sp>
      <p:sp>
        <p:nvSpPr>
          <p:cNvPr id="3" name="Text 1"/>
          <p:cNvSpPr/>
          <p:nvPr/>
        </p:nvSpPr>
        <p:spPr>
          <a:xfrm>
            <a:off x="457200" y="438912"/>
            <a:ext cx="8229600" cy="73152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Land with students.</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Expand to institutions. Scale globally.</a:t>
            </a:r>
            <a:endParaRPr lang="en-US" sz="2600" dirty="0"/>
          </a:p>
        </p:txBody>
      </p:sp>
      <p:sp>
        <p:nvSpPr>
          <p:cNvPr id="4" name="Shape 2"/>
          <p:cNvSpPr/>
          <p:nvPr/>
        </p:nvSpPr>
        <p:spPr>
          <a:xfrm>
            <a:off x="347472" y="1261872"/>
            <a:ext cx="2798064" cy="27889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47472" y="1261872"/>
            <a:ext cx="2798064" cy="54864"/>
          </a:xfrm>
          <a:prstGeom prst="rect">
            <a:avLst/>
          </a:prstGeom>
          <a:solidFill>
            <a:srgbClr val="00C2E0"/>
          </a:solidFill>
          <a:ln w="12700">
            <a:solidFill>
              <a:srgbClr val="00C2E0"/>
            </a:solidFill>
            <a:prstDash val="solid"/>
          </a:ln>
        </p:spPr>
      </p:sp>
      <p:sp>
        <p:nvSpPr>
          <p:cNvPr id="6" name="Text 4"/>
          <p:cNvSpPr/>
          <p:nvPr/>
        </p:nvSpPr>
        <p:spPr>
          <a:xfrm>
            <a:off x="484632" y="1371600"/>
            <a:ext cx="1280160" cy="237744"/>
          </a:xfrm>
          <a:prstGeom prst="rect">
            <a:avLst/>
          </a:prstGeom>
          <a:noFill/>
          <a:ln/>
        </p:spPr>
        <p:txBody>
          <a:bodyPr wrap="square" rtlCol="0" anchor="ctr"/>
          <a:lstStyle/>
          <a:p>
            <a:pPr indent="0" marL="0">
              <a:buNone/>
            </a:pPr>
            <a:r>
              <a:rPr lang="en-US" sz="1000" b="1" spc="100" kern="0" dirty="0">
                <a:solidFill>
                  <a:srgbClr val="00C2E0"/>
                </a:solidFill>
                <a:latin typeface="Calibri" pitchFamily="34" charset="0"/>
                <a:ea typeface="Calibri" pitchFamily="34" charset="-122"/>
                <a:cs typeface="Calibri" pitchFamily="34" charset="-120"/>
              </a:rPr>
              <a:t>Phase 1</a:t>
            </a:r>
            <a:endParaRPr lang="en-US" sz="1000" dirty="0"/>
          </a:p>
        </p:txBody>
      </p:sp>
      <p:sp>
        <p:nvSpPr>
          <p:cNvPr id="7" name="Text 5"/>
          <p:cNvSpPr/>
          <p:nvPr/>
        </p:nvSpPr>
        <p:spPr>
          <a:xfrm>
            <a:off x="1810512" y="1371600"/>
            <a:ext cx="1234440" cy="237744"/>
          </a:xfrm>
          <a:prstGeom prst="rect">
            <a:avLst/>
          </a:prstGeom>
          <a:noFill/>
          <a:ln/>
        </p:spPr>
        <p:txBody>
          <a:bodyPr wrap="square" rtlCol="0" anchor="ctr"/>
          <a:lstStyle/>
          <a:p>
            <a:pPr algn="r" indent="0" marL="0">
              <a:buNone/>
            </a:pPr>
            <a:r>
              <a:rPr lang="en-US" sz="1000" dirty="0">
                <a:solidFill>
                  <a:srgbClr val="8FA3C8"/>
                </a:solidFill>
                <a:latin typeface="Calibri" pitchFamily="34" charset="0"/>
                <a:ea typeface="Calibri" pitchFamily="34" charset="-122"/>
                <a:cs typeface="Calibri" pitchFamily="34" charset="-120"/>
              </a:rPr>
              <a:t>Months 1–6</a:t>
            </a:r>
            <a:endParaRPr lang="en-US" sz="1000" dirty="0"/>
          </a:p>
        </p:txBody>
      </p:sp>
      <p:sp>
        <p:nvSpPr>
          <p:cNvPr id="8" name="Text 6"/>
          <p:cNvSpPr/>
          <p:nvPr/>
        </p:nvSpPr>
        <p:spPr>
          <a:xfrm>
            <a:off x="484632" y="1645920"/>
            <a:ext cx="2560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Student Beachhead</a:t>
            </a:r>
            <a:endParaRPr lang="en-US" sz="1400" dirty="0"/>
          </a:p>
        </p:txBody>
      </p:sp>
      <p:sp>
        <p:nvSpPr>
          <p:cNvPr id="9" name="Text 7"/>
          <p:cNvSpPr/>
          <p:nvPr/>
        </p:nvSpPr>
        <p:spPr>
          <a:xfrm>
            <a:off x="484632" y="2048256"/>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Partner with 3 Irish universities (Trinity, UCD, DCU)</a:t>
            </a:r>
            <a:endParaRPr lang="en-US" sz="1050" dirty="0"/>
          </a:p>
        </p:txBody>
      </p:sp>
      <p:sp>
        <p:nvSpPr>
          <p:cNvPr id="10" name="Text 8"/>
          <p:cNvSpPr/>
          <p:nvPr/>
        </p:nvSpPr>
        <p:spPr>
          <a:xfrm>
            <a:off x="484632" y="2478024"/>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Free Pro access for 500 beta students</a:t>
            </a:r>
            <a:endParaRPr lang="en-US" sz="1050" dirty="0"/>
          </a:p>
        </p:txBody>
      </p:sp>
      <p:sp>
        <p:nvSpPr>
          <p:cNvPr id="11" name="Text 9"/>
          <p:cNvSpPr/>
          <p:nvPr/>
        </p:nvSpPr>
        <p:spPr>
          <a:xfrm>
            <a:off x="484632" y="2907792"/>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Viral loop: students share simulation results on social</a:t>
            </a:r>
            <a:endParaRPr lang="en-US" sz="1050" dirty="0"/>
          </a:p>
        </p:txBody>
      </p:sp>
      <p:sp>
        <p:nvSpPr>
          <p:cNvPr id="12" name="Text 10"/>
          <p:cNvSpPr/>
          <p:nvPr/>
        </p:nvSpPr>
        <p:spPr>
          <a:xfrm>
            <a:off x="484632" y="3337560"/>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Target: 2,000 active users, 30% weekly retention</a:t>
            </a:r>
            <a:endParaRPr lang="en-US" sz="1050" dirty="0"/>
          </a:p>
        </p:txBody>
      </p:sp>
      <p:sp>
        <p:nvSpPr>
          <p:cNvPr id="13" name="Shape 11"/>
          <p:cNvSpPr/>
          <p:nvPr/>
        </p:nvSpPr>
        <p:spPr>
          <a:xfrm>
            <a:off x="3310128" y="1261872"/>
            <a:ext cx="2798064" cy="27889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3310128" y="1261872"/>
            <a:ext cx="2798064" cy="54864"/>
          </a:xfrm>
          <a:prstGeom prst="rect">
            <a:avLst/>
          </a:prstGeom>
          <a:solidFill>
            <a:srgbClr val="4F3BDB"/>
          </a:solidFill>
          <a:ln w="12700">
            <a:solidFill>
              <a:srgbClr val="4F3BDB"/>
            </a:solidFill>
            <a:prstDash val="solid"/>
          </a:ln>
        </p:spPr>
      </p:sp>
      <p:sp>
        <p:nvSpPr>
          <p:cNvPr id="15" name="Text 13"/>
          <p:cNvSpPr/>
          <p:nvPr/>
        </p:nvSpPr>
        <p:spPr>
          <a:xfrm>
            <a:off x="3447288" y="1371600"/>
            <a:ext cx="1280160" cy="237744"/>
          </a:xfrm>
          <a:prstGeom prst="rect">
            <a:avLst/>
          </a:prstGeom>
          <a:noFill/>
          <a:ln/>
        </p:spPr>
        <p:txBody>
          <a:bodyPr wrap="square" rtlCol="0" anchor="ctr"/>
          <a:lstStyle/>
          <a:p>
            <a:pPr indent="0" marL="0">
              <a:buNone/>
            </a:pPr>
            <a:r>
              <a:rPr lang="en-US" sz="1000" b="1" spc="100" kern="0" dirty="0">
                <a:solidFill>
                  <a:srgbClr val="4F3BDB"/>
                </a:solidFill>
                <a:latin typeface="Calibri" pitchFamily="34" charset="0"/>
                <a:ea typeface="Calibri" pitchFamily="34" charset="-122"/>
                <a:cs typeface="Calibri" pitchFamily="34" charset="-120"/>
              </a:rPr>
              <a:t>Phase 2</a:t>
            </a:r>
            <a:endParaRPr lang="en-US" sz="1000" dirty="0"/>
          </a:p>
        </p:txBody>
      </p:sp>
      <p:sp>
        <p:nvSpPr>
          <p:cNvPr id="16" name="Text 14"/>
          <p:cNvSpPr/>
          <p:nvPr/>
        </p:nvSpPr>
        <p:spPr>
          <a:xfrm>
            <a:off x="4773168" y="1371600"/>
            <a:ext cx="1234440" cy="237744"/>
          </a:xfrm>
          <a:prstGeom prst="rect">
            <a:avLst/>
          </a:prstGeom>
          <a:noFill/>
          <a:ln/>
        </p:spPr>
        <p:txBody>
          <a:bodyPr wrap="square" rtlCol="0" anchor="ctr"/>
          <a:lstStyle/>
          <a:p>
            <a:pPr algn="r" indent="0" marL="0">
              <a:buNone/>
            </a:pPr>
            <a:r>
              <a:rPr lang="en-US" sz="1000" dirty="0">
                <a:solidFill>
                  <a:srgbClr val="8FA3C8"/>
                </a:solidFill>
                <a:latin typeface="Calibri" pitchFamily="34" charset="0"/>
                <a:ea typeface="Calibri" pitchFamily="34" charset="-122"/>
                <a:cs typeface="Calibri" pitchFamily="34" charset="-120"/>
              </a:rPr>
              <a:t>Months 7–18</a:t>
            </a:r>
            <a:endParaRPr lang="en-US" sz="1000" dirty="0"/>
          </a:p>
        </p:txBody>
      </p:sp>
      <p:sp>
        <p:nvSpPr>
          <p:cNvPr id="17" name="Text 15"/>
          <p:cNvSpPr/>
          <p:nvPr/>
        </p:nvSpPr>
        <p:spPr>
          <a:xfrm>
            <a:off x="3447288" y="1645920"/>
            <a:ext cx="2560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Institutional Revenue</a:t>
            </a:r>
            <a:endParaRPr lang="en-US" sz="1400" dirty="0"/>
          </a:p>
        </p:txBody>
      </p:sp>
      <p:sp>
        <p:nvSpPr>
          <p:cNvPr id="18" name="Text 16"/>
          <p:cNvSpPr/>
          <p:nvPr/>
        </p:nvSpPr>
        <p:spPr>
          <a:xfrm>
            <a:off x="3447288" y="2048256"/>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First 5 university institutional contracts (€20K–€60K each)</a:t>
            </a:r>
            <a:endParaRPr lang="en-US" sz="1050" dirty="0"/>
          </a:p>
        </p:txBody>
      </p:sp>
      <p:sp>
        <p:nvSpPr>
          <p:cNvPr id="19" name="Text 17"/>
          <p:cNvSpPr/>
          <p:nvPr/>
        </p:nvSpPr>
        <p:spPr>
          <a:xfrm>
            <a:off x="3447288" y="2478024"/>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Career services integration at 10 colleges</a:t>
            </a:r>
            <a:endParaRPr lang="en-US" sz="1050" dirty="0"/>
          </a:p>
        </p:txBody>
      </p:sp>
      <p:sp>
        <p:nvSpPr>
          <p:cNvPr id="20" name="Text 18"/>
          <p:cNvSpPr/>
          <p:nvPr/>
        </p:nvSpPr>
        <p:spPr>
          <a:xfrm>
            <a:off x="3447288" y="2907792"/>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LinkedIn &amp; Indeed API for verified career outcomes</a:t>
            </a:r>
            <a:endParaRPr lang="en-US" sz="1050" dirty="0"/>
          </a:p>
        </p:txBody>
      </p:sp>
      <p:sp>
        <p:nvSpPr>
          <p:cNvPr id="21" name="Text 19"/>
          <p:cNvSpPr/>
          <p:nvPr/>
        </p:nvSpPr>
        <p:spPr>
          <a:xfrm>
            <a:off x="3447288" y="3337560"/>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Target: €150K ARR, 15,000 users</a:t>
            </a:r>
            <a:endParaRPr lang="en-US" sz="1050" dirty="0"/>
          </a:p>
        </p:txBody>
      </p:sp>
      <p:sp>
        <p:nvSpPr>
          <p:cNvPr id="22" name="Shape 20"/>
          <p:cNvSpPr/>
          <p:nvPr/>
        </p:nvSpPr>
        <p:spPr>
          <a:xfrm>
            <a:off x="6272784" y="1261872"/>
            <a:ext cx="2798064" cy="27889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3" name="Shape 21"/>
          <p:cNvSpPr/>
          <p:nvPr/>
        </p:nvSpPr>
        <p:spPr>
          <a:xfrm>
            <a:off x="6272784" y="1261872"/>
            <a:ext cx="2798064" cy="54864"/>
          </a:xfrm>
          <a:prstGeom prst="rect">
            <a:avLst/>
          </a:prstGeom>
          <a:solidFill>
            <a:srgbClr val="00C48C"/>
          </a:solidFill>
          <a:ln w="12700">
            <a:solidFill>
              <a:srgbClr val="00C48C"/>
            </a:solidFill>
            <a:prstDash val="solid"/>
          </a:ln>
        </p:spPr>
      </p:sp>
      <p:sp>
        <p:nvSpPr>
          <p:cNvPr id="24" name="Text 22"/>
          <p:cNvSpPr/>
          <p:nvPr/>
        </p:nvSpPr>
        <p:spPr>
          <a:xfrm>
            <a:off x="6409944" y="1371600"/>
            <a:ext cx="1280160" cy="237744"/>
          </a:xfrm>
          <a:prstGeom prst="rect">
            <a:avLst/>
          </a:prstGeom>
          <a:noFill/>
          <a:ln/>
        </p:spPr>
        <p:txBody>
          <a:bodyPr wrap="square" rtlCol="0" anchor="ctr"/>
          <a:lstStyle/>
          <a:p>
            <a:pPr indent="0" marL="0">
              <a:buNone/>
            </a:pPr>
            <a:r>
              <a:rPr lang="en-US" sz="1000" b="1" spc="100" kern="0" dirty="0">
                <a:solidFill>
                  <a:srgbClr val="00C48C"/>
                </a:solidFill>
                <a:latin typeface="Calibri" pitchFamily="34" charset="0"/>
                <a:ea typeface="Calibri" pitchFamily="34" charset="-122"/>
                <a:cs typeface="Calibri" pitchFamily="34" charset="-120"/>
              </a:rPr>
              <a:t>Phase 3</a:t>
            </a:r>
            <a:endParaRPr lang="en-US" sz="1000" dirty="0"/>
          </a:p>
        </p:txBody>
      </p:sp>
      <p:sp>
        <p:nvSpPr>
          <p:cNvPr id="25" name="Text 23"/>
          <p:cNvSpPr/>
          <p:nvPr/>
        </p:nvSpPr>
        <p:spPr>
          <a:xfrm>
            <a:off x="7735824" y="1371600"/>
            <a:ext cx="1234440" cy="237744"/>
          </a:xfrm>
          <a:prstGeom prst="rect">
            <a:avLst/>
          </a:prstGeom>
          <a:noFill/>
          <a:ln/>
        </p:spPr>
        <p:txBody>
          <a:bodyPr wrap="square" rtlCol="0" anchor="ctr"/>
          <a:lstStyle/>
          <a:p>
            <a:pPr algn="r" indent="0" marL="0">
              <a:buNone/>
            </a:pPr>
            <a:r>
              <a:rPr lang="en-US" sz="1000" dirty="0">
                <a:solidFill>
                  <a:srgbClr val="8FA3C8"/>
                </a:solidFill>
                <a:latin typeface="Calibri" pitchFamily="34" charset="0"/>
                <a:ea typeface="Calibri" pitchFamily="34" charset="-122"/>
                <a:cs typeface="Calibri" pitchFamily="34" charset="-120"/>
              </a:rPr>
              <a:t>Year 2+</a:t>
            </a:r>
            <a:endParaRPr lang="en-US" sz="1000" dirty="0"/>
          </a:p>
        </p:txBody>
      </p:sp>
      <p:sp>
        <p:nvSpPr>
          <p:cNvPr id="26" name="Text 24"/>
          <p:cNvSpPr/>
          <p:nvPr/>
        </p:nvSpPr>
        <p:spPr>
          <a:xfrm>
            <a:off x="6409944" y="1645920"/>
            <a:ext cx="2560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&amp; Marketplace</a:t>
            </a:r>
            <a:endParaRPr lang="en-US" sz="1400" dirty="0"/>
          </a:p>
        </p:txBody>
      </p:sp>
      <p:sp>
        <p:nvSpPr>
          <p:cNvPr id="27" name="Text 25"/>
          <p:cNvSpPr/>
          <p:nvPr/>
        </p:nvSpPr>
        <p:spPr>
          <a:xfrm>
            <a:off x="6409944" y="2048256"/>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Launch Expert Marketplace — top agents monetise knowledge</a:t>
            </a:r>
            <a:endParaRPr lang="en-US" sz="1050" dirty="0"/>
          </a:p>
        </p:txBody>
      </p:sp>
      <p:sp>
        <p:nvSpPr>
          <p:cNvPr id="28" name="Text 26"/>
          <p:cNvSpPr/>
          <p:nvPr/>
        </p:nvSpPr>
        <p:spPr>
          <a:xfrm>
            <a:off x="6409944" y="2478024"/>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Corporate partnerships (KPMG, Deloitte, PwC graduate programmes)</a:t>
            </a:r>
            <a:endParaRPr lang="en-US" sz="1050" dirty="0"/>
          </a:p>
        </p:txBody>
      </p:sp>
      <p:sp>
        <p:nvSpPr>
          <p:cNvPr id="29" name="Text 27"/>
          <p:cNvSpPr/>
          <p:nvPr/>
        </p:nvSpPr>
        <p:spPr>
          <a:xfrm>
            <a:off x="6409944" y="2907792"/>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EU expansion — localization for German, French markets</a:t>
            </a:r>
            <a:endParaRPr lang="en-US" sz="1050" dirty="0"/>
          </a:p>
        </p:txBody>
      </p:sp>
      <p:sp>
        <p:nvSpPr>
          <p:cNvPr id="30" name="Text 28"/>
          <p:cNvSpPr/>
          <p:nvPr/>
        </p:nvSpPr>
        <p:spPr>
          <a:xfrm>
            <a:off x="6409944" y="3337560"/>
            <a:ext cx="2578608" cy="393192"/>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  Target: €1.2M ARR, 100,000 agents in the network</a:t>
            </a:r>
            <a:endParaRPr lang="en-US" sz="1050" dirty="0"/>
          </a:p>
        </p:txBody>
      </p:sp>
      <p:sp>
        <p:nvSpPr>
          <p:cNvPr id="31" name="Text 29"/>
          <p:cNvSpPr/>
          <p:nvPr/>
        </p:nvSpPr>
        <p:spPr>
          <a:xfrm>
            <a:off x="457200" y="4133088"/>
            <a:ext cx="1554480" cy="237744"/>
          </a:xfrm>
          <a:prstGeom prst="rect">
            <a:avLst/>
          </a:prstGeom>
          <a:noFill/>
          <a:ln/>
        </p:spPr>
        <p:txBody>
          <a:bodyPr wrap="square"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Key Channels: </a:t>
            </a:r>
            <a:endParaRPr lang="en-US" sz="1000" dirty="0"/>
          </a:p>
        </p:txBody>
      </p:sp>
      <p:sp>
        <p:nvSpPr>
          <p:cNvPr id="32" name="Shape 30"/>
          <p:cNvSpPr/>
          <p:nvPr/>
        </p:nvSpPr>
        <p:spPr>
          <a:xfrm>
            <a:off x="1874520" y="4114800"/>
            <a:ext cx="1298448" cy="274320"/>
          </a:xfrm>
          <a:prstGeom prst="rect">
            <a:avLst/>
          </a:prstGeom>
          <a:solidFill>
            <a:srgbClr val="F5A623">
              <a:alpha val="18000"/>
            </a:srgbClr>
          </a:solidFill>
          <a:ln w="12700">
            <a:solidFill>
              <a:srgbClr val="F5A623"/>
            </a:solidFill>
            <a:prstDash val="solid"/>
          </a:ln>
        </p:spPr>
      </p:sp>
      <p:sp>
        <p:nvSpPr>
          <p:cNvPr id="33" name="Text 31"/>
          <p:cNvSpPr/>
          <p:nvPr/>
        </p:nvSpPr>
        <p:spPr>
          <a:xfrm>
            <a:off x="1874520" y="4114800"/>
            <a:ext cx="1298448" cy="274320"/>
          </a:xfrm>
          <a:prstGeom prst="rect">
            <a:avLst/>
          </a:prstGeom>
          <a:noFill/>
          <a:ln/>
        </p:spPr>
        <p:txBody>
          <a:bodyPr wrap="square" rtlCol="0" anchor="ctr"/>
          <a:lstStyle/>
          <a:p>
            <a:pPr algn="ctr" indent="0" marL="0">
              <a:buNone/>
            </a:pPr>
            <a:r>
              <a:rPr lang="en-US" sz="850" dirty="0">
                <a:solidFill>
                  <a:srgbClr val="F5A623"/>
                </a:solidFill>
                <a:latin typeface="Calibri" pitchFamily="34" charset="0"/>
                <a:ea typeface="Calibri" pitchFamily="34" charset="-122"/>
                <a:cs typeface="Calibri" pitchFamily="34" charset="-120"/>
              </a:rPr>
              <a:t>University Partnerships</a:t>
            </a:r>
            <a:endParaRPr lang="en-US" sz="850" dirty="0"/>
          </a:p>
        </p:txBody>
      </p:sp>
      <p:sp>
        <p:nvSpPr>
          <p:cNvPr id="34" name="Shape 32"/>
          <p:cNvSpPr/>
          <p:nvPr/>
        </p:nvSpPr>
        <p:spPr>
          <a:xfrm>
            <a:off x="3264408" y="4114800"/>
            <a:ext cx="1298448" cy="274320"/>
          </a:xfrm>
          <a:prstGeom prst="rect">
            <a:avLst/>
          </a:prstGeom>
          <a:solidFill>
            <a:srgbClr val="F5A623">
              <a:alpha val="18000"/>
            </a:srgbClr>
          </a:solidFill>
          <a:ln w="12700">
            <a:solidFill>
              <a:srgbClr val="F5A623"/>
            </a:solidFill>
            <a:prstDash val="solid"/>
          </a:ln>
        </p:spPr>
      </p:sp>
      <p:sp>
        <p:nvSpPr>
          <p:cNvPr id="35" name="Text 33"/>
          <p:cNvSpPr/>
          <p:nvPr/>
        </p:nvSpPr>
        <p:spPr>
          <a:xfrm>
            <a:off x="3264408" y="4114800"/>
            <a:ext cx="1298448" cy="274320"/>
          </a:xfrm>
          <a:prstGeom prst="rect">
            <a:avLst/>
          </a:prstGeom>
          <a:noFill/>
          <a:ln/>
        </p:spPr>
        <p:txBody>
          <a:bodyPr wrap="square" rtlCol="0" anchor="ctr"/>
          <a:lstStyle/>
          <a:p>
            <a:pPr algn="ctr" indent="0" marL="0">
              <a:buNone/>
            </a:pPr>
            <a:r>
              <a:rPr lang="en-US" sz="850" dirty="0">
                <a:solidFill>
                  <a:srgbClr val="F5A623"/>
                </a:solidFill>
                <a:latin typeface="Calibri" pitchFamily="34" charset="0"/>
                <a:ea typeface="Calibri" pitchFamily="34" charset="-122"/>
                <a:cs typeface="Calibri" pitchFamily="34" charset="-120"/>
              </a:rPr>
              <a:t>Student Social Virality</a:t>
            </a:r>
            <a:endParaRPr lang="en-US" sz="850" dirty="0"/>
          </a:p>
        </p:txBody>
      </p:sp>
      <p:sp>
        <p:nvSpPr>
          <p:cNvPr id="36" name="Shape 34"/>
          <p:cNvSpPr/>
          <p:nvPr/>
        </p:nvSpPr>
        <p:spPr>
          <a:xfrm>
            <a:off x="4654296" y="4114800"/>
            <a:ext cx="1298448" cy="274320"/>
          </a:xfrm>
          <a:prstGeom prst="rect">
            <a:avLst/>
          </a:prstGeom>
          <a:solidFill>
            <a:srgbClr val="F5A623">
              <a:alpha val="18000"/>
            </a:srgbClr>
          </a:solidFill>
          <a:ln w="12700">
            <a:solidFill>
              <a:srgbClr val="F5A623"/>
            </a:solidFill>
            <a:prstDash val="solid"/>
          </a:ln>
        </p:spPr>
      </p:sp>
      <p:sp>
        <p:nvSpPr>
          <p:cNvPr id="37" name="Text 35"/>
          <p:cNvSpPr/>
          <p:nvPr/>
        </p:nvSpPr>
        <p:spPr>
          <a:xfrm>
            <a:off x="4654296" y="4114800"/>
            <a:ext cx="1298448" cy="274320"/>
          </a:xfrm>
          <a:prstGeom prst="rect">
            <a:avLst/>
          </a:prstGeom>
          <a:noFill/>
          <a:ln/>
        </p:spPr>
        <p:txBody>
          <a:bodyPr wrap="square" rtlCol="0" anchor="ctr"/>
          <a:lstStyle/>
          <a:p>
            <a:pPr algn="ctr" indent="0" marL="0">
              <a:buNone/>
            </a:pPr>
            <a:r>
              <a:rPr lang="en-US" sz="850" dirty="0">
                <a:solidFill>
                  <a:srgbClr val="F5A623"/>
                </a:solidFill>
                <a:latin typeface="Calibri" pitchFamily="34" charset="0"/>
                <a:ea typeface="Calibri" pitchFamily="34" charset="-122"/>
                <a:cs typeface="Calibri" pitchFamily="34" charset="-120"/>
              </a:rPr>
              <a:t>Career Influencers</a:t>
            </a:r>
            <a:endParaRPr lang="en-US" sz="850" dirty="0"/>
          </a:p>
        </p:txBody>
      </p:sp>
      <p:sp>
        <p:nvSpPr>
          <p:cNvPr id="38" name="Shape 36"/>
          <p:cNvSpPr/>
          <p:nvPr/>
        </p:nvSpPr>
        <p:spPr>
          <a:xfrm>
            <a:off x="6044184" y="4114800"/>
            <a:ext cx="1298448" cy="274320"/>
          </a:xfrm>
          <a:prstGeom prst="rect">
            <a:avLst/>
          </a:prstGeom>
          <a:solidFill>
            <a:srgbClr val="F5A623">
              <a:alpha val="18000"/>
            </a:srgbClr>
          </a:solidFill>
          <a:ln w="12700">
            <a:solidFill>
              <a:srgbClr val="F5A623"/>
            </a:solidFill>
            <a:prstDash val="solid"/>
          </a:ln>
        </p:spPr>
      </p:sp>
      <p:sp>
        <p:nvSpPr>
          <p:cNvPr id="39" name="Text 37"/>
          <p:cNvSpPr/>
          <p:nvPr/>
        </p:nvSpPr>
        <p:spPr>
          <a:xfrm>
            <a:off x="6044184" y="4114800"/>
            <a:ext cx="1298448" cy="274320"/>
          </a:xfrm>
          <a:prstGeom prst="rect">
            <a:avLst/>
          </a:prstGeom>
          <a:noFill/>
          <a:ln/>
        </p:spPr>
        <p:txBody>
          <a:bodyPr wrap="square" rtlCol="0" anchor="ctr"/>
          <a:lstStyle/>
          <a:p>
            <a:pPr algn="ctr" indent="0" marL="0">
              <a:buNone/>
            </a:pPr>
            <a:r>
              <a:rPr lang="en-US" sz="850" dirty="0">
                <a:solidFill>
                  <a:srgbClr val="F5A623"/>
                </a:solidFill>
                <a:latin typeface="Calibri" pitchFamily="34" charset="0"/>
                <a:ea typeface="Calibri" pitchFamily="34" charset="-122"/>
                <a:cs typeface="Calibri" pitchFamily="34" charset="-120"/>
              </a:rPr>
              <a:t>B2B Direct Sales</a:t>
            </a:r>
            <a:endParaRPr lang="en-US" sz="850" dirty="0"/>
          </a:p>
        </p:txBody>
      </p:sp>
      <p:sp>
        <p:nvSpPr>
          <p:cNvPr id="40" name="Shape 38"/>
          <p:cNvSpPr/>
          <p:nvPr/>
        </p:nvSpPr>
        <p:spPr>
          <a:xfrm>
            <a:off x="7434072" y="4114800"/>
            <a:ext cx="1298448" cy="274320"/>
          </a:xfrm>
          <a:prstGeom prst="rect">
            <a:avLst/>
          </a:prstGeom>
          <a:solidFill>
            <a:srgbClr val="F5A623">
              <a:alpha val="18000"/>
            </a:srgbClr>
          </a:solidFill>
          <a:ln w="12700">
            <a:solidFill>
              <a:srgbClr val="F5A623"/>
            </a:solidFill>
            <a:prstDash val="solid"/>
          </a:ln>
        </p:spPr>
      </p:sp>
      <p:sp>
        <p:nvSpPr>
          <p:cNvPr id="41" name="Text 39"/>
          <p:cNvSpPr/>
          <p:nvPr/>
        </p:nvSpPr>
        <p:spPr>
          <a:xfrm>
            <a:off x="7434072" y="4114800"/>
            <a:ext cx="1298448" cy="274320"/>
          </a:xfrm>
          <a:prstGeom prst="rect">
            <a:avLst/>
          </a:prstGeom>
          <a:noFill/>
          <a:ln/>
        </p:spPr>
        <p:txBody>
          <a:bodyPr wrap="square" rtlCol="0" anchor="ctr"/>
          <a:lstStyle/>
          <a:p>
            <a:pPr algn="ctr" indent="0" marL="0">
              <a:buNone/>
            </a:pPr>
            <a:r>
              <a:rPr lang="en-US" sz="850" dirty="0">
                <a:solidFill>
                  <a:srgbClr val="F5A623"/>
                </a:solidFill>
                <a:latin typeface="Calibri" pitchFamily="34" charset="0"/>
                <a:ea typeface="Calibri" pitchFamily="34" charset="-122"/>
                <a:cs typeface="Calibri" pitchFamily="34" charset="-120"/>
              </a:rPr>
              <a:t>API Integrations</a:t>
            </a:r>
            <a:endParaRPr lang="en-US" sz="850" dirty="0"/>
          </a:p>
        </p:txBody>
      </p:sp>
      <p:sp>
        <p:nvSpPr>
          <p:cNvPr id="42" name="Shape 40"/>
          <p:cNvSpPr/>
          <p:nvPr/>
        </p:nvSpPr>
        <p:spPr>
          <a:xfrm>
            <a:off x="347472" y="4480560"/>
            <a:ext cx="8449056" cy="566928"/>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43" name="Text 41"/>
          <p:cNvSpPr/>
          <p:nvPr/>
        </p:nvSpPr>
        <p:spPr>
          <a:xfrm>
            <a:off x="502920" y="4507992"/>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44" name="Text 42"/>
          <p:cNvSpPr/>
          <p:nvPr/>
        </p:nvSpPr>
        <p:spPr>
          <a:xfrm>
            <a:off x="502920" y="4663440"/>
            <a:ext cx="8229600" cy="320040"/>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"Students are our Trojan horse. They're decision-hungry, social, and will share a compelling simulation with their whole cohort. That fills the network fast. Once we have density, universities pay us to run cohort-level simulations. Phase 3 unlocks the marketplace — that's when the flywheel is self-funding."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01168"/>
            <a:ext cx="3657600" cy="201168"/>
          </a:xfrm>
          <a:prstGeom prst="rect">
            <a:avLst/>
          </a:prstGeom>
          <a:noFill/>
          <a:ln/>
        </p:spPr>
        <p:txBody>
          <a:bodyPr wrap="square" rtlCol="0" anchor="ctr"/>
          <a:lstStyle/>
          <a:p>
            <a:pPr indent="0" marL="0">
              <a:buNone/>
            </a:pPr>
            <a:r>
              <a:rPr lang="en-US" sz="800" b="1" spc="300" kern="0" dirty="0">
                <a:solidFill>
                  <a:srgbClr val="F5A623"/>
                </a:solidFill>
                <a:latin typeface="Calibri" pitchFamily="34" charset="0"/>
                <a:ea typeface="Calibri" pitchFamily="34" charset="-122"/>
                <a:cs typeface="Calibri" pitchFamily="34" charset="-120"/>
              </a:rPr>
              <a:t>FINANCIAL PROJECTIONS</a:t>
            </a:r>
            <a:endParaRPr lang="en-US" sz="800" dirty="0"/>
          </a:p>
        </p:txBody>
      </p:sp>
      <p:sp>
        <p:nvSpPr>
          <p:cNvPr id="3" name="Text 1"/>
          <p:cNvSpPr/>
          <p:nvPr/>
        </p:nvSpPr>
        <p:spPr>
          <a:xfrm>
            <a:off x="457200" y="420624"/>
            <a:ext cx="82296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Path to €1M ARR in 24 months.</a:t>
            </a:r>
            <a:endParaRPr lang="en-US" sz="2800" dirty="0"/>
          </a:p>
        </p:txBody>
      </p:sp>
      <p:graphicFrame>
        <p:nvGraphicFramePr>
          <p:cNvPr id="4" name="Chart 0" descr=""/>
          <p:cNvGraphicFramePr/>
          <p:nvPr/>
        </p:nvGraphicFramePr>
        <p:xfrm>
          <a:off x="365760" y="1143000"/>
          <a:ext cx="5303520" cy="2880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97880" y="1143000"/>
            <a:ext cx="2880360" cy="676656"/>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6" name="Shape 3"/>
          <p:cNvSpPr/>
          <p:nvPr/>
        </p:nvSpPr>
        <p:spPr>
          <a:xfrm>
            <a:off x="5897880" y="1143000"/>
            <a:ext cx="54864" cy="676656"/>
          </a:xfrm>
          <a:prstGeom prst="rect">
            <a:avLst/>
          </a:prstGeom>
          <a:solidFill>
            <a:srgbClr val="4F3BDB"/>
          </a:solidFill>
          <a:ln w="12700">
            <a:solidFill>
              <a:srgbClr val="4F3BDB"/>
            </a:solidFill>
            <a:prstDash val="solid"/>
          </a:ln>
        </p:spPr>
      </p:sp>
      <p:sp>
        <p:nvSpPr>
          <p:cNvPr id="7" name="Text 4"/>
          <p:cNvSpPr/>
          <p:nvPr/>
        </p:nvSpPr>
        <p:spPr>
          <a:xfrm>
            <a:off x="6080760" y="1170432"/>
            <a:ext cx="1463040" cy="384048"/>
          </a:xfrm>
          <a:prstGeom prst="rect">
            <a:avLst/>
          </a:prstGeom>
          <a:noFill/>
          <a:ln/>
        </p:spPr>
        <p:txBody>
          <a:bodyPr wrap="square" rtlCol="0" anchor="ctr"/>
          <a:lstStyle/>
          <a:p>
            <a:pPr indent="0" marL="0">
              <a:buNone/>
            </a:pPr>
            <a:r>
              <a:rPr lang="en-US" sz="2200" b="1" dirty="0">
                <a:solidFill>
                  <a:srgbClr val="00C2E0"/>
                </a:solidFill>
                <a:latin typeface="Calibri" pitchFamily="34" charset="0"/>
                <a:ea typeface="Calibri" pitchFamily="34" charset="-122"/>
                <a:cs typeface="Calibri" pitchFamily="34" charset="-120"/>
              </a:rPr>
              <a:t>€84K</a:t>
            </a:r>
            <a:endParaRPr lang="en-US" sz="2200" dirty="0"/>
          </a:p>
        </p:txBody>
      </p:sp>
      <p:sp>
        <p:nvSpPr>
          <p:cNvPr id="8" name="Text 5"/>
          <p:cNvSpPr/>
          <p:nvPr/>
        </p:nvSpPr>
        <p:spPr>
          <a:xfrm>
            <a:off x="6080760" y="1536192"/>
            <a:ext cx="2560320" cy="18288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Year 1 ARR</a:t>
            </a:r>
            <a:endParaRPr lang="en-US" sz="900" dirty="0"/>
          </a:p>
        </p:txBody>
      </p:sp>
      <p:sp>
        <p:nvSpPr>
          <p:cNvPr id="9" name="Text 6"/>
          <p:cNvSpPr/>
          <p:nvPr/>
        </p:nvSpPr>
        <p:spPr>
          <a:xfrm>
            <a:off x="6080760" y="1700784"/>
            <a:ext cx="2560320" cy="146304"/>
          </a:xfrm>
          <a:prstGeom prst="rect">
            <a:avLst/>
          </a:prstGeom>
          <a:noFill/>
          <a:ln/>
        </p:spPr>
        <p:txBody>
          <a:bodyPr wrap="square" rtlCol="0" anchor="ctr"/>
          <a:lstStyle/>
          <a:p>
            <a:pPr indent="0" marL="0">
              <a:buNone/>
            </a:pPr>
            <a:r>
              <a:rPr lang="en-US" sz="850" dirty="0">
                <a:solidFill>
                  <a:srgbClr val="8FA3C8"/>
                </a:solidFill>
                <a:latin typeface="Calibri" pitchFamily="34" charset="0"/>
                <a:ea typeface="Calibri" pitchFamily="34" charset="-122"/>
                <a:cs typeface="Calibri" pitchFamily="34" charset="-120"/>
              </a:rPr>
              <a:t>Conservative baseline</a:t>
            </a:r>
            <a:endParaRPr lang="en-US" sz="850" dirty="0"/>
          </a:p>
        </p:txBody>
      </p:sp>
      <p:sp>
        <p:nvSpPr>
          <p:cNvPr id="10" name="Shape 7"/>
          <p:cNvSpPr/>
          <p:nvPr/>
        </p:nvSpPr>
        <p:spPr>
          <a:xfrm>
            <a:off x="5897880" y="1883664"/>
            <a:ext cx="2880360" cy="676656"/>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5897880" y="1883664"/>
            <a:ext cx="54864" cy="676656"/>
          </a:xfrm>
          <a:prstGeom prst="rect">
            <a:avLst/>
          </a:prstGeom>
          <a:solidFill>
            <a:srgbClr val="4F3BDB"/>
          </a:solidFill>
          <a:ln w="12700">
            <a:solidFill>
              <a:srgbClr val="4F3BDB"/>
            </a:solidFill>
            <a:prstDash val="solid"/>
          </a:ln>
        </p:spPr>
      </p:sp>
      <p:sp>
        <p:nvSpPr>
          <p:cNvPr id="12" name="Text 9"/>
          <p:cNvSpPr/>
          <p:nvPr/>
        </p:nvSpPr>
        <p:spPr>
          <a:xfrm>
            <a:off x="6080760" y="1911096"/>
            <a:ext cx="1463040" cy="384048"/>
          </a:xfrm>
          <a:prstGeom prst="rect">
            <a:avLst/>
          </a:prstGeom>
          <a:noFill/>
          <a:ln/>
        </p:spPr>
        <p:txBody>
          <a:bodyPr wrap="square" rtlCol="0" anchor="ctr"/>
          <a:lstStyle/>
          <a:p>
            <a:pPr indent="0" marL="0">
              <a:buNone/>
            </a:pPr>
            <a:r>
              <a:rPr lang="en-US" sz="2200" b="1" dirty="0">
                <a:solidFill>
                  <a:srgbClr val="4F3BDB"/>
                </a:solidFill>
                <a:latin typeface="Calibri" pitchFamily="34" charset="0"/>
                <a:ea typeface="Calibri" pitchFamily="34" charset="-122"/>
                <a:cs typeface="Calibri" pitchFamily="34" charset="-120"/>
              </a:rPr>
              <a:t>€763K</a:t>
            </a:r>
            <a:endParaRPr lang="en-US" sz="2200" dirty="0"/>
          </a:p>
        </p:txBody>
      </p:sp>
      <p:sp>
        <p:nvSpPr>
          <p:cNvPr id="13" name="Text 10"/>
          <p:cNvSpPr/>
          <p:nvPr/>
        </p:nvSpPr>
        <p:spPr>
          <a:xfrm>
            <a:off x="6080760" y="2276856"/>
            <a:ext cx="2560320" cy="18288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Year 2 ARR</a:t>
            </a:r>
            <a:endParaRPr lang="en-US" sz="900" dirty="0"/>
          </a:p>
        </p:txBody>
      </p:sp>
      <p:sp>
        <p:nvSpPr>
          <p:cNvPr id="14" name="Text 11"/>
          <p:cNvSpPr/>
          <p:nvPr/>
        </p:nvSpPr>
        <p:spPr>
          <a:xfrm>
            <a:off x="6080760" y="2441448"/>
            <a:ext cx="2560320" cy="146304"/>
          </a:xfrm>
          <a:prstGeom prst="rect">
            <a:avLst/>
          </a:prstGeom>
          <a:noFill/>
          <a:ln/>
        </p:spPr>
        <p:txBody>
          <a:bodyPr wrap="square" rtlCol="0" anchor="ctr"/>
          <a:lstStyle/>
          <a:p>
            <a:pPr indent="0" marL="0">
              <a:buNone/>
            </a:pPr>
            <a:r>
              <a:rPr lang="en-US" sz="850" dirty="0">
                <a:solidFill>
                  <a:srgbClr val="8FA3C8"/>
                </a:solidFill>
                <a:latin typeface="Calibri" pitchFamily="34" charset="0"/>
                <a:ea typeface="Calibri" pitchFamily="34" charset="-122"/>
                <a:cs typeface="Calibri" pitchFamily="34" charset="-120"/>
              </a:rPr>
              <a:t>With institutional closes</a:t>
            </a:r>
            <a:endParaRPr lang="en-US" sz="850" dirty="0"/>
          </a:p>
        </p:txBody>
      </p:sp>
      <p:sp>
        <p:nvSpPr>
          <p:cNvPr id="15" name="Shape 12"/>
          <p:cNvSpPr/>
          <p:nvPr/>
        </p:nvSpPr>
        <p:spPr>
          <a:xfrm>
            <a:off x="5897880" y="2624328"/>
            <a:ext cx="2880360" cy="676656"/>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6" name="Shape 13"/>
          <p:cNvSpPr/>
          <p:nvPr/>
        </p:nvSpPr>
        <p:spPr>
          <a:xfrm>
            <a:off x="5897880" y="2624328"/>
            <a:ext cx="54864" cy="676656"/>
          </a:xfrm>
          <a:prstGeom prst="rect">
            <a:avLst/>
          </a:prstGeom>
          <a:solidFill>
            <a:srgbClr val="4F3BDB"/>
          </a:solidFill>
          <a:ln w="12700">
            <a:solidFill>
              <a:srgbClr val="4F3BDB"/>
            </a:solidFill>
            <a:prstDash val="solid"/>
          </a:ln>
        </p:spPr>
      </p:sp>
      <p:sp>
        <p:nvSpPr>
          <p:cNvPr id="17" name="Text 14"/>
          <p:cNvSpPr/>
          <p:nvPr/>
        </p:nvSpPr>
        <p:spPr>
          <a:xfrm>
            <a:off x="6080760" y="2651760"/>
            <a:ext cx="1463040" cy="384048"/>
          </a:xfrm>
          <a:prstGeom prst="rect">
            <a:avLst/>
          </a:prstGeom>
          <a:noFill/>
          <a:ln/>
        </p:spPr>
        <p:txBody>
          <a:bodyPr wrap="square" rtlCol="0" anchor="ctr"/>
          <a:lstStyle/>
          <a:p>
            <a:pPr indent="0" marL="0">
              <a:buNone/>
            </a:pPr>
            <a:r>
              <a:rPr lang="en-US" sz="2200" b="1" dirty="0">
                <a:solidFill>
                  <a:srgbClr val="00C48C"/>
                </a:solidFill>
                <a:latin typeface="Calibri" pitchFamily="34" charset="0"/>
                <a:ea typeface="Calibri" pitchFamily="34" charset="-122"/>
                <a:cs typeface="Calibri" pitchFamily="34" charset="-120"/>
              </a:rPr>
              <a:t>Month 18</a:t>
            </a:r>
            <a:endParaRPr lang="en-US" sz="2200" dirty="0"/>
          </a:p>
        </p:txBody>
      </p:sp>
      <p:sp>
        <p:nvSpPr>
          <p:cNvPr id="18" name="Text 15"/>
          <p:cNvSpPr/>
          <p:nvPr/>
        </p:nvSpPr>
        <p:spPr>
          <a:xfrm>
            <a:off x="6080760" y="3017520"/>
            <a:ext cx="2560320" cy="18288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Break-even</a:t>
            </a:r>
            <a:endParaRPr lang="en-US" sz="900" dirty="0"/>
          </a:p>
        </p:txBody>
      </p:sp>
      <p:sp>
        <p:nvSpPr>
          <p:cNvPr id="19" name="Text 16"/>
          <p:cNvSpPr/>
          <p:nvPr/>
        </p:nvSpPr>
        <p:spPr>
          <a:xfrm>
            <a:off x="6080760" y="3182112"/>
            <a:ext cx="2560320" cy="146304"/>
          </a:xfrm>
          <a:prstGeom prst="rect">
            <a:avLst/>
          </a:prstGeom>
          <a:noFill/>
          <a:ln/>
        </p:spPr>
        <p:txBody>
          <a:bodyPr wrap="square" rtlCol="0" anchor="ctr"/>
          <a:lstStyle/>
          <a:p>
            <a:pPr indent="0" marL="0">
              <a:buNone/>
            </a:pPr>
            <a:r>
              <a:rPr lang="en-US" sz="850" dirty="0">
                <a:solidFill>
                  <a:srgbClr val="8FA3C8"/>
                </a:solidFill>
                <a:latin typeface="Calibri" pitchFamily="34" charset="0"/>
                <a:ea typeface="Calibri" pitchFamily="34" charset="-122"/>
                <a:cs typeface="Calibri" pitchFamily="34" charset="-120"/>
              </a:rPr>
              <a:t>At 1,250 paid Pro users</a:t>
            </a:r>
            <a:endParaRPr lang="en-US" sz="850" dirty="0"/>
          </a:p>
        </p:txBody>
      </p:sp>
      <p:sp>
        <p:nvSpPr>
          <p:cNvPr id="20" name="Shape 17"/>
          <p:cNvSpPr/>
          <p:nvPr/>
        </p:nvSpPr>
        <p:spPr>
          <a:xfrm>
            <a:off x="5897880" y="3364992"/>
            <a:ext cx="2880360" cy="676656"/>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1" name="Shape 18"/>
          <p:cNvSpPr/>
          <p:nvPr/>
        </p:nvSpPr>
        <p:spPr>
          <a:xfrm>
            <a:off x="5897880" y="3364992"/>
            <a:ext cx="54864" cy="676656"/>
          </a:xfrm>
          <a:prstGeom prst="rect">
            <a:avLst/>
          </a:prstGeom>
          <a:solidFill>
            <a:srgbClr val="4F3BDB"/>
          </a:solidFill>
          <a:ln w="12700">
            <a:solidFill>
              <a:srgbClr val="4F3BDB"/>
            </a:solidFill>
            <a:prstDash val="solid"/>
          </a:ln>
        </p:spPr>
      </p:sp>
      <p:sp>
        <p:nvSpPr>
          <p:cNvPr id="22" name="Text 19"/>
          <p:cNvSpPr/>
          <p:nvPr/>
        </p:nvSpPr>
        <p:spPr>
          <a:xfrm>
            <a:off x="6080760" y="3392424"/>
            <a:ext cx="1463040" cy="384048"/>
          </a:xfrm>
          <a:prstGeom prst="rect">
            <a:avLst/>
          </a:prstGeom>
          <a:noFill/>
          <a:ln/>
        </p:spPr>
        <p:txBody>
          <a:bodyPr wrap="square" rtlCol="0" anchor="ctr"/>
          <a:lstStyle/>
          <a:p>
            <a:pPr indent="0" marL="0">
              <a:buNone/>
            </a:pPr>
            <a:r>
              <a:rPr lang="en-US" sz="2200" b="1" dirty="0">
                <a:solidFill>
                  <a:srgbClr val="F5A623"/>
                </a:solidFill>
                <a:latin typeface="Calibri" pitchFamily="34" charset="0"/>
                <a:ea typeface="Calibri" pitchFamily="34" charset="-122"/>
                <a:cs typeface="Calibri" pitchFamily="34" charset="-120"/>
              </a:rPr>
              <a:t>8 : 1</a:t>
            </a:r>
            <a:endParaRPr lang="en-US" sz="2200" dirty="0"/>
          </a:p>
        </p:txBody>
      </p:sp>
      <p:sp>
        <p:nvSpPr>
          <p:cNvPr id="23" name="Text 20"/>
          <p:cNvSpPr/>
          <p:nvPr/>
        </p:nvSpPr>
        <p:spPr>
          <a:xfrm>
            <a:off x="6080760" y="3758184"/>
            <a:ext cx="2560320" cy="18288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LTV:CAC</a:t>
            </a:r>
            <a:endParaRPr lang="en-US" sz="900" dirty="0"/>
          </a:p>
        </p:txBody>
      </p:sp>
      <p:sp>
        <p:nvSpPr>
          <p:cNvPr id="24" name="Text 21"/>
          <p:cNvSpPr/>
          <p:nvPr/>
        </p:nvSpPr>
        <p:spPr>
          <a:xfrm>
            <a:off x="6080760" y="3922776"/>
            <a:ext cx="2560320" cy="146304"/>
          </a:xfrm>
          <a:prstGeom prst="rect">
            <a:avLst/>
          </a:prstGeom>
          <a:noFill/>
          <a:ln/>
        </p:spPr>
        <p:txBody>
          <a:bodyPr wrap="square" rtlCol="0" anchor="ctr"/>
          <a:lstStyle/>
          <a:p>
            <a:pPr indent="0" marL="0">
              <a:buNone/>
            </a:pPr>
            <a:r>
              <a:rPr lang="en-US" sz="850" dirty="0">
                <a:solidFill>
                  <a:srgbClr val="8FA3C8"/>
                </a:solidFill>
                <a:latin typeface="Calibri" pitchFamily="34" charset="0"/>
                <a:ea typeface="Calibri" pitchFamily="34" charset="-122"/>
                <a:cs typeface="Calibri" pitchFamily="34" charset="-120"/>
              </a:rPr>
              <a:t>Viral student acquisition</a:t>
            </a:r>
            <a:endParaRPr lang="en-US" sz="850" dirty="0"/>
          </a:p>
        </p:txBody>
      </p:sp>
      <p:sp>
        <p:nvSpPr>
          <p:cNvPr id="25" name="Shape 22"/>
          <p:cNvSpPr/>
          <p:nvPr/>
        </p:nvSpPr>
        <p:spPr>
          <a:xfrm>
            <a:off x="347472" y="4096512"/>
            <a:ext cx="8449056" cy="9144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6" name="Text 23"/>
          <p:cNvSpPr/>
          <p:nvPr/>
        </p:nvSpPr>
        <p:spPr>
          <a:xfrm>
            <a:off x="502920" y="4133088"/>
            <a:ext cx="1828800" cy="201168"/>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27" name="Text 24"/>
          <p:cNvSpPr/>
          <p:nvPr/>
        </p:nvSpPr>
        <p:spPr>
          <a:xfrm>
            <a:off x="502920" y="4352544"/>
            <a:ext cx="8229600" cy="59436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"Year 1 is about network density — free users building the web. But from Q3 Year 1, institutional revenue kicks in and the growth is nonlinear. At €12 a month per Pro user with near-zero marginal cost and a viral acquisition loop, our LTV:CAC is exceptional. We break even at Month 18 and hit €763K ARR by end of Year 2 — conservatively. Institutional upsides are not in these numbers yet."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28600"/>
            <a:ext cx="3657600" cy="201168"/>
          </a:xfrm>
          <a:prstGeom prst="rect">
            <a:avLst/>
          </a:prstGeom>
          <a:noFill/>
          <a:ln/>
        </p:spPr>
        <p:txBody>
          <a:bodyPr wrap="square" rtlCol="0" anchor="ctr"/>
          <a:lstStyle/>
          <a:p>
            <a:pPr indent="0" marL="0">
              <a:buNone/>
            </a:pPr>
            <a:r>
              <a:rPr lang="en-US" sz="800" b="1" spc="300" kern="0" dirty="0">
                <a:solidFill>
                  <a:srgbClr val="4F3BDB"/>
                </a:solidFill>
                <a:latin typeface="Calibri" pitchFamily="34" charset="0"/>
                <a:ea typeface="Calibri" pitchFamily="34" charset="-122"/>
                <a:cs typeface="Calibri" pitchFamily="34" charset="-120"/>
              </a:rPr>
              <a:t>COMPETITIVE ADVANTAGE</a:t>
            </a:r>
            <a:endParaRPr lang="en-US" sz="800" dirty="0"/>
          </a:p>
        </p:txBody>
      </p:sp>
      <p:sp>
        <p:nvSpPr>
          <p:cNvPr id="3" name="Text 1"/>
          <p:cNvSpPr/>
          <p:nvPr/>
        </p:nvSpPr>
        <p:spPr>
          <a:xfrm>
            <a:off x="457200" y="438912"/>
            <a:ext cx="8229600" cy="822960"/>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The Spider Web Effect.</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Every new agent makes every other agent stronger.</a:t>
            </a:r>
            <a:endParaRPr lang="en-US" sz="2600" dirty="0"/>
          </a:p>
        </p:txBody>
      </p:sp>
      <p:sp>
        <p:nvSpPr>
          <p:cNvPr id="4" name="Shape 2"/>
          <p:cNvSpPr/>
          <p:nvPr/>
        </p:nvSpPr>
        <p:spPr>
          <a:xfrm>
            <a:off x="6858000" y="2560320"/>
            <a:ext cx="-914400" cy="-640080"/>
          </a:xfrm>
          <a:prstGeom prst="line">
            <a:avLst/>
          </a:prstGeom>
          <a:noFill/>
          <a:ln w="10160">
            <a:solidFill>
              <a:srgbClr val="4F3BDB">
                <a:alpha val="45000"/>
              </a:srgbClr>
            </a:solidFill>
            <a:prstDash val="solid"/>
          </a:ln>
        </p:spPr>
      </p:sp>
      <p:sp>
        <p:nvSpPr>
          <p:cNvPr id="5" name="Shape 3"/>
          <p:cNvSpPr/>
          <p:nvPr/>
        </p:nvSpPr>
        <p:spPr>
          <a:xfrm>
            <a:off x="6858000" y="2560320"/>
            <a:ext cx="1005840" cy="-457200"/>
          </a:xfrm>
          <a:prstGeom prst="line">
            <a:avLst/>
          </a:prstGeom>
          <a:noFill/>
          <a:ln w="10160">
            <a:solidFill>
              <a:srgbClr val="4F3BDB">
                <a:alpha val="45000"/>
              </a:srgbClr>
            </a:solidFill>
            <a:prstDash val="solid"/>
          </a:ln>
        </p:spPr>
      </p:sp>
      <p:sp>
        <p:nvSpPr>
          <p:cNvPr id="6" name="Shape 4"/>
          <p:cNvSpPr/>
          <p:nvPr/>
        </p:nvSpPr>
        <p:spPr>
          <a:xfrm>
            <a:off x="6858000" y="2560320"/>
            <a:ext cx="731520" cy="822960"/>
          </a:xfrm>
          <a:prstGeom prst="line">
            <a:avLst/>
          </a:prstGeom>
          <a:noFill/>
          <a:ln w="10160">
            <a:solidFill>
              <a:srgbClr val="4F3BDB">
                <a:alpha val="45000"/>
              </a:srgbClr>
            </a:solidFill>
            <a:prstDash val="solid"/>
          </a:ln>
        </p:spPr>
      </p:sp>
      <p:sp>
        <p:nvSpPr>
          <p:cNvPr id="7" name="Shape 5"/>
          <p:cNvSpPr/>
          <p:nvPr/>
        </p:nvSpPr>
        <p:spPr>
          <a:xfrm>
            <a:off x="6858000" y="2560320"/>
            <a:ext cx="-1097280" cy="548640"/>
          </a:xfrm>
          <a:prstGeom prst="line">
            <a:avLst/>
          </a:prstGeom>
          <a:noFill/>
          <a:ln w="10160">
            <a:solidFill>
              <a:srgbClr val="4F3BDB">
                <a:alpha val="45000"/>
              </a:srgbClr>
            </a:solidFill>
            <a:prstDash val="solid"/>
          </a:ln>
        </p:spPr>
      </p:sp>
      <p:sp>
        <p:nvSpPr>
          <p:cNvPr id="8" name="Shape 6"/>
          <p:cNvSpPr/>
          <p:nvPr/>
        </p:nvSpPr>
        <p:spPr>
          <a:xfrm>
            <a:off x="6858000" y="2560320"/>
            <a:ext cx="-274320" cy="-1188720"/>
          </a:xfrm>
          <a:prstGeom prst="line">
            <a:avLst/>
          </a:prstGeom>
          <a:noFill/>
          <a:ln w="10160">
            <a:solidFill>
              <a:srgbClr val="4F3BDB">
                <a:alpha val="45000"/>
              </a:srgbClr>
            </a:solidFill>
            <a:prstDash val="solid"/>
          </a:ln>
        </p:spPr>
      </p:sp>
      <p:sp>
        <p:nvSpPr>
          <p:cNvPr id="9" name="Shape 7"/>
          <p:cNvSpPr/>
          <p:nvPr/>
        </p:nvSpPr>
        <p:spPr>
          <a:xfrm>
            <a:off x="6858000" y="2560320"/>
            <a:ext cx="457200" cy="-1280160"/>
          </a:xfrm>
          <a:prstGeom prst="line">
            <a:avLst/>
          </a:prstGeom>
          <a:noFill/>
          <a:ln w="10160">
            <a:solidFill>
              <a:srgbClr val="4F3BDB">
                <a:alpha val="45000"/>
              </a:srgbClr>
            </a:solidFill>
            <a:prstDash val="solid"/>
          </a:ln>
        </p:spPr>
      </p:sp>
      <p:sp>
        <p:nvSpPr>
          <p:cNvPr id="10" name="Shape 8"/>
          <p:cNvSpPr/>
          <p:nvPr/>
        </p:nvSpPr>
        <p:spPr>
          <a:xfrm>
            <a:off x="6858000" y="2560320"/>
            <a:ext cx="1645920" cy="182880"/>
          </a:xfrm>
          <a:prstGeom prst="line">
            <a:avLst/>
          </a:prstGeom>
          <a:noFill/>
          <a:ln w="10160">
            <a:solidFill>
              <a:srgbClr val="4F3BDB">
                <a:alpha val="45000"/>
              </a:srgbClr>
            </a:solidFill>
            <a:prstDash val="solid"/>
          </a:ln>
        </p:spPr>
      </p:sp>
      <p:sp>
        <p:nvSpPr>
          <p:cNvPr id="11" name="Shape 9"/>
          <p:cNvSpPr/>
          <p:nvPr/>
        </p:nvSpPr>
        <p:spPr>
          <a:xfrm>
            <a:off x="6858000" y="2560320"/>
            <a:ext cx="-1645920" cy="-91440"/>
          </a:xfrm>
          <a:prstGeom prst="line">
            <a:avLst/>
          </a:prstGeom>
          <a:noFill/>
          <a:ln w="10160">
            <a:solidFill>
              <a:srgbClr val="4F3BDB">
                <a:alpha val="45000"/>
              </a:srgbClr>
            </a:solidFill>
            <a:prstDash val="solid"/>
          </a:ln>
        </p:spPr>
      </p:sp>
      <p:sp>
        <p:nvSpPr>
          <p:cNvPr id="12" name="Shape 10"/>
          <p:cNvSpPr/>
          <p:nvPr/>
        </p:nvSpPr>
        <p:spPr>
          <a:xfrm>
            <a:off x="5943600" y="1920240"/>
            <a:ext cx="640080" cy="-548640"/>
          </a:xfrm>
          <a:prstGeom prst="line">
            <a:avLst/>
          </a:prstGeom>
          <a:noFill/>
          <a:ln w="6350">
            <a:solidFill>
              <a:srgbClr val="00C2E0">
                <a:alpha val="30000"/>
              </a:srgbClr>
            </a:solidFill>
            <a:prstDash val="solid"/>
          </a:ln>
        </p:spPr>
      </p:sp>
      <p:sp>
        <p:nvSpPr>
          <p:cNvPr id="13" name="Shape 11"/>
          <p:cNvSpPr/>
          <p:nvPr/>
        </p:nvSpPr>
        <p:spPr>
          <a:xfrm>
            <a:off x="5943600" y="1920240"/>
            <a:ext cx="1371600" cy="-640080"/>
          </a:xfrm>
          <a:prstGeom prst="line">
            <a:avLst/>
          </a:prstGeom>
          <a:noFill/>
          <a:ln w="6350">
            <a:solidFill>
              <a:srgbClr val="00C2E0">
                <a:alpha val="30000"/>
              </a:srgbClr>
            </a:solidFill>
            <a:prstDash val="solid"/>
          </a:ln>
        </p:spPr>
      </p:sp>
      <p:sp>
        <p:nvSpPr>
          <p:cNvPr id="14" name="Shape 12"/>
          <p:cNvSpPr/>
          <p:nvPr/>
        </p:nvSpPr>
        <p:spPr>
          <a:xfrm>
            <a:off x="7863840" y="2103120"/>
            <a:ext cx="-548640" cy="-822960"/>
          </a:xfrm>
          <a:prstGeom prst="line">
            <a:avLst/>
          </a:prstGeom>
          <a:noFill/>
          <a:ln w="6350">
            <a:solidFill>
              <a:srgbClr val="00C2E0">
                <a:alpha val="30000"/>
              </a:srgbClr>
            </a:solidFill>
            <a:prstDash val="solid"/>
          </a:ln>
        </p:spPr>
      </p:sp>
      <p:sp>
        <p:nvSpPr>
          <p:cNvPr id="15" name="Shape 13"/>
          <p:cNvSpPr/>
          <p:nvPr/>
        </p:nvSpPr>
        <p:spPr>
          <a:xfrm>
            <a:off x="7863840" y="2103120"/>
            <a:ext cx="640080" cy="640080"/>
          </a:xfrm>
          <a:prstGeom prst="line">
            <a:avLst/>
          </a:prstGeom>
          <a:noFill/>
          <a:ln w="6350">
            <a:solidFill>
              <a:srgbClr val="00C2E0">
                <a:alpha val="30000"/>
              </a:srgbClr>
            </a:solidFill>
            <a:prstDash val="solid"/>
          </a:ln>
        </p:spPr>
      </p:sp>
      <p:sp>
        <p:nvSpPr>
          <p:cNvPr id="16" name="Shape 14"/>
          <p:cNvSpPr/>
          <p:nvPr/>
        </p:nvSpPr>
        <p:spPr>
          <a:xfrm>
            <a:off x="7589520" y="3383280"/>
            <a:ext cx="914400" cy="-640080"/>
          </a:xfrm>
          <a:prstGeom prst="line">
            <a:avLst/>
          </a:prstGeom>
          <a:noFill/>
          <a:ln w="6350">
            <a:solidFill>
              <a:srgbClr val="00C2E0">
                <a:alpha val="30000"/>
              </a:srgbClr>
            </a:solidFill>
            <a:prstDash val="solid"/>
          </a:ln>
        </p:spPr>
      </p:sp>
      <p:sp>
        <p:nvSpPr>
          <p:cNvPr id="17" name="Shape 15"/>
          <p:cNvSpPr/>
          <p:nvPr/>
        </p:nvSpPr>
        <p:spPr>
          <a:xfrm>
            <a:off x="7589520" y="3383280"/>
            <a:ext cx="-2377440" cy="-914400"/>
          </a:xfrm>
          <a:prstGeom prst="line">
            <a:avLst/>
          </a:prstGeom>
          <a:noFill/>
          <a:ln w="6350">
            <a:solidFill>
              <a:srgbClr val="00C2E0">
                <a:alpha val="30000"/>
              </a:srgbClr>
            </a:solidFill>
            <a:prstDash val="solid"/>
          </a:ln>
        </p:spPr>
      </p:sp>
      <p:sp>
        <p:nvSpPr>
          <p:cNvPr id="18" name="Shape 16"/>
          <p:cNvSpPr/>
          <p:nvPr/>
        </p:nvSpPr>
        <p:spPr>
          <a:xfrm>
            <a:off x="5760720" y="3108960"/>
            <a:ext cx="-548640" cy="-640080"/>
          </a:xfrm>
          <a:prstGeom prst="line">
            <a:avLst/>
          </a:prstGeom>
          <a:noFill/>
          <a:ln w="6350">
            <a:solidFill>
              <a:srgbClr val="00C2E0">
                <a:alpha val="30000"/>
              </a:srgbClr>
            </a:solidFill>
            <a:prstDash val="solid"/>
          </a:ln>
        </p:spPr>
      </p:sp>
      <p:sp>
        <p:nvSpPr>
          <p:cNvPr id="19" name="Shape 17"/>
          <p:cNvSpPr/>
          <p:nvPr/>
        </p:nvSpPr>
        <p:spPr>
          <a:xfrm>
            <a:off x="5760720" y="3108960"/>
            <a:ext cx="822960" cy="-1737360"/>
          </a:xfrm>
          <a:prstGeom prst="line">
            <a:avLst/>
          </a:prstGeom>
          <a:noFill/>
          <a:ln w="6350">
            <a:solidFill>
              <a:srgbClr val="00C2E0">
                <a:alpha val="30000"/>
              </a:srgbClr>
            </a:solidFill>
            <a:prstDash val="solid"/>
          </a:ln>
        </p:spPr>
      </p:sp>
      <p:sp>
        <p:nvSpPr>
          <p:cNvPr id="20" name="Shape 18"/>
          <p:cNvSpPr/>
          <p:nvPr/>
        </p:nvSpPr>
        <p:spPr>
          <a:xfrm>
            <a:off x="6656832" y="2359152"/>
            <a:ext cx="402336" cy="402336"/>
          </a:xfrm>
          <a:prstGeom prst="ellipse">
            <a:avLst/>
          </a:prstGeom>
          <a:solidFill>
            <a:srgbClr val="4F3BDB">
              <a:alpha val="30000"/>
            </a:srgbClr>
          </a:solidFill>
          <a:ln w="12700">
            <a:solidFill>
              <a:srgbClr val="4F3BDB"/>
            </a:solidFill>
            <a:prstDash val="solid"/>
          </a:ln>
        </p:spPr>
      </p:sp>
      <p:sp>
        <p:nvSpPr>
          <p:cNvPr id="21" name="Shape 19"/>
          <p:cNvSpPr/>
          <p:nvPr/>
        </p:nvSpPr>
        <p:spPr>
          <a:xfrm>
            <a:off x="6757416" y="2459736"/>
            <a:ext cx="201168" cy="201168"/>
          </a:xfrm>
          <a:prstGeom prst="ellipse">
            <a:avLst/>
          </a:prstGeom>
          <a:solidFill>
            <a:srgbClr val="4F3BDB"/>
          </a:solidFill>
          <a:ln w="12700">
            <a:solidFill>
              <a:srgbClr val="4F3BDB"/>
            </a:solidFill>
            <a:prstDash val="solid"/>
          </a:ln>
        </p:spPr>
      </p:sp>
      <p:sp>
        <p:nvSpPr>
          <p:cNvPr id="22" name="Shape 20"/>
          <p:cNvSpPr/>
          <p:nvPr/>
        </p:nvSpPr>
        <p:spPr>
          <a:xfrm>
            <a:off x="5815584" y="1792224"/>
            <a:ext cx="256032" cy="256032"/>
          </a:xfrm>
          <a:prstGeom prst="ellipse">
            <a:avLst/>
          </a:prstGeom>
          <a:solidFill>
            <a:srgbClr val="00C2E0">
              <a:alpha val="30000"/>
            </a:srgbClr>
          </a:solidFill>
          <a:ln w="12700">
            <a:solidFill>
              <a:srgbClr val="00C2E0"/>
            </a:solidFill>
            <a:prstDash val="solid"/>
          </a:ln>
        </p:spPr>
      </p:sp>
      <p:sp>
        <p:nvSpPr>
          <p:cNvPr id="23" name="Shape 21"/>
          <p:cNvSpPr/>
          <p:nvPr/>
        </p:nvSpPr>
        <p:spPr>
          <a:xfrm>
            <a:off x="5879592" y="1856232"/>
            <a:ext cx="128016" cy="128016"/>
          </a:xfrm>
          <a:prstGeom prst="ellipse">
            <a:avLst/>
          </a:prstGeom>
          <a:solidFill>
            <a:srgbClr val="00C2E0"/>
          </a:solidFill>
          <a:ln w="12700">
            <a:solidFill>
              <a:srgbClr val="00C2E0"/>
            </a:solidFill>
            <a:prstDash val="solid"/>
          </a:ln>
        </p:spPr>
      </p:sp>
      <p:sp>
        <p:nvSpPr>
          <p:cNvPr id="24" name="Shape 22"/>
          <p:cNvSpPr/>
          <p:nvPr/>
        </p:nvSpPr>
        <p:spPr>
          <a:xfrm>
            <a:off x="7735824" y="1975104"/>
            <a:ext cx="256032" cy="256032"/>
          </a:xfrm>
          <a:prstGeom prst="ellipse">
            <a:avLst/>
          </a:prstGeom>
          <a:solidFill>
            <a:srgbClr val="00C2E0">
              <a:alpha val="30000"/>
            </a:srgbClr>
          </a:solidFill>
          <a:ln w="12700">
            <a:solidFill>
              <a:srgbClr val="00C2E0"/>
            </a:solidFill>
            <a:prstDash val="solid"/>
          </a:ln>
        </p:spPr>
      </p:sp>
      <p:sp>
        <p:nvSpPr>
          <p:cNvPr id="25" name="Shape 23"/>
          <p:cNvSpPr/>
          <p:nvPr/>
        </p:nvSpPr>
        <p:spPr>
          <a:xfrm>
            <a:off x="7799832" y="2039112"/>
            <a:ext cx="128016" cy="128016"/>
          </a:xfrm>
          <a:prstGeom prst="ellipse">
            <a:avLst/>
          </a:prstGeom>
          <a:solidFill>
            <a:srgbClr val="00C2E0"/>
          </a:solidFill>
          <a:ln w="12700">
            <a:solidFill>
              <a:srgbClr val="00C2E0"/>
            </a:solidFill>
            <a:prstDash val="solid"/>
          </a:ln>
        </p:spPr>
      </p:sp>
      <p:sp>
        <p:nvSpPr>
          <p:cNvPr id="26" name="Shape 24"/>
          <p:cNvSpPr/>
          <p:nvPr/>
        </p:nvSpPr>
        <p:spPr>
          <a:xfrm>
            <a:off x="7461504" y="3255264"/>
            <a:ext cx="256032" cy="256032"/>
          </a:xfrm>
          <a:prstGeom prst="ellipse">
            <a:avLst/>
          </a:prstGeom>
          <a:solidFill>
            <a:srgbClr val="00C2E0">
              <a:alpha val="30000"/>
            </a:srgbClr>
          </a:solidFill>
          <a:ln w="12700">
            <a:solidFill>
              <a:srgbClr val="00C2E0"/>
            </a:solidFill>
            <a:prstDash val="solid"/>
          </a:ln>
        </p:spPr>
      </p:sp>
      <p:sp>
        <p:nvSpPr>
          <p:cNvPr id="27" name="Shape 25"/>
          <p:cNvSpPr/>
          <p:nvPr/>
        </p:nvSpPr>
        <p:spPr>
          <a:xfrm>
            <a:off x="7525512" y="3319272"/>
            <a:ext cx="128016" cy="128016"/>
          </a:xfrm>
          <a:prstGeom prst="ellipse">
            <a:avLst/>
          </a:prstGeom>
          <a:solidFill>
            <a:srgbClr val="00C2E0"/>
          </a:solidFill>
          <a:ln w="12700">
            <a:solidFill>
              <a:srgbClr val="00C2E0"/>
            </a:solidFill>
            <a:prstDash val="solid"/>
          </a:ln>
        </p:spPr>
      </p:sp>
      <p:sp>
        <p:nvSpPr>
          <p:cNvPr id="28" name="Shape 26"/>
          <p:cNvSpPr/>
          <p:nvPr/>
        </p:nvSpPr>
        <p:spPr>
          <a:xfrm>
            <a:off x="5632704" y="2980944"/>
            <a:ext cx="256032" cy="256032"/>
          </a:xfrm>
          <a:prstGeom prst="ellipse">
            <a:avLst/>
          </a:prstGeom>
          <a:solidFill>
            <a:srgbClr val="00C2E0">
              <a:alpha val="30000"/>
            </a:srgbClr>
          </a:solidFill>
          <a:ln w="12700">
            <a:solidFill>
              <a:srgbClr val="00C2E0"/>
            </a:solidFill>
            <a:prstDash val="solid"/>
          </a:ln>
        </p:spPr>
      </p:sp>
      <p:sp>
        <p:nvSpPr>
          <p:cNvPr id="29" name="Shape 27"/>
          <p:cNvSpPr/>
          <p:nvPr/>
        </p:nvSpPr>
        <p:spPr>
          <a:xfrm>
            <a:off x="5696712" y="3044952"/>
            <a:ext cx="128016" cy="128016"/>
          </a:xfrm>
          <a:prstGeom prst="ellipse">
            <a:avLst/>
          </a:prstGeom>
          <a:solidFill>
            <a:srgbClr val="00C2E0"/>
          </a:solidFill>
          <a:ln w="12700">
            <a:solidFill>
              <a:srgbClr val="00C2E0"/>
            </a:solidFill>
            <a:prstDash val="solid"/>
          </a:ln>
        </p:spPr>
      </p:sp>
      <p:sp>
        <p:nvSpPr>
          <p:cNvPr id="30" name="Shape 28"/>
          <p:cNvSpPr/>
          <p:nvPr/>
        </p:nvSpPr>
        <p:spPr>
          <a:xfrm>
            <a:off x="6492240" y="1280160"/>
            <a:ext cx="182880" cy="182880"/>
          </a:xfrm>
          <a:prstGeom prst="ellipse">
            <a:avLst/>
          </a:prstGeom>
          <a:solidFill>
            <a:srgbClr val="8FA3C8">
              <a:alpha val="30000"/>
            </a:srgbClr>
          </a:solidFill>
          <a:ln w="12700">
            <a:solidFill>
              <a:srgbClr val="8FA3C8"/>
            </a:solidFill>
            <a:prstDash val="solid"/>
          </a:ln>
        </p:spPr>
      </p:sp>
      <p:sp>
        <p:nvSpPr>
          <p:cNvPr id="31" name="Shape 29"/>
          <p:cNvSpPr/>
          <p:nvPr/>
        </p:nvSpPr>
        <p:spPr>
          <a:xfrm>
            <a:off x="6537960" y="1325880"/>
            <a:ext cx="91440" cy="91440"/>
          </a:xfrm>
          <a:prstGeom prst="ellipse">
            <a:avLst/>
          </a:prstGeom>
          <a:solidFill>
            <a:srgbClr val="8FA3C8"/>
          </a:solidFill>
          <a:ln w="12700">
            <a:solidFill>
              <a:srgbClr val="8FA3C8"/>
            </a:solidFill>
            <a:prstDash val="solid"/>
          </a:ln>
        </p:spPr>
      </p:sp>
      <p:sp>
        <p:nvSpPr>
          <p:cNvPr id="32" name="Shape 30"/>
          <p:cNvSpPr/>
          <p:nvPr/>
        </p:nvSpPr>
        <p:spPr>
          <a:xfrm>
            <a:off x="7223760" y="1188720"/>
            <a:ext cx="182880" cy="182880"/>
          </a:xfrm>
          <a:prstGeom prst="ellipse">
            <a:avLst/>
          </a:prstGeom>
          <a:solidFill>
            <a:srgbClr val="8FA3C8">
              <a:alpha val="30000"/>
            </a:srgbClr>
          </a:solidFill>
          <a:ln w="12700">
            <a:solidFill>
              <a:srgbClr val="8FA3C8"/>
            </a:solidFill>
            <a:prstDash val="solid"/>
          </a:ln>
        </p:spPr>
      </p:sp>
      <p:sp>
        <p:nvSpPr>
          <p:cNvPr id="33" name="Shape 31"/>
          <p:cNvSpPr/>
          <p:nvPr/>
        </p:nvSpPr>
        <p:spPr>
          <a:xfrm>
            <a:off x="7269480" y="1234440"/>
            <a:ext cx="91440" cy="91440"/>
          </a:xfrm>
          <a:prstGeom prst="ellipse">
            <a:avLst/>
          </a:prstGeom>
          <a:solidFill>
            <a:srgbClr val="8FA3C8"/>
          </a:solidFill>
          <a:ln w="12700">
            <a:solidFill>
              <a:srgbClr val="8FA3C8"/>
            </a:solidFill>
            <a:prstDash val="solid"/>
          </a:ln>
        </p:spPr>
      </p:sp>
      <p:sp>
        <p:nvSpPr>
          <p:cNvPr id="34" name="Shape 32"/>
          <p:cNvSpPr/>
          <p:nvPr/>
        </p:nvSpPr>
        <p:spPr>
          <a:xfrm>
            <a:off x="8412480" y="2651760"/>
            <a:ext cx="182880" cy="182880"/>
          </a:xfrm>
          <a:prstGeom prst="ellipse">
            <a:avLst/>
          </a:prstGeom>
          <a:solidFill>
            <a:srgbClr val="8FA3C8">
              <a:alpha val="30000"/>
            </a:srgbClr>
          </a:solidFill>
          <a:ln w="12700">
            <a:solidFill>
              <a:srgbClr val="8FA3C8"/>
            </a:solidFill>
            <a:prstDash val="solid"/>
          </a:ln>
        </p:spPr>
      </p:sp>
      <p:sp>
        <p:nvSpPr>
          <p:cNvPr id="35" name="Shape 33"/>
          <p:cNvSpPr/>
          <p:nvPr/>
        </p:nvSpPr>
        <p:spPr>
          <a:xfrm>
            <a:off x="8458200" y="2697480"/>
            <a:ext cx="91440" cy="91440"/>
          </a:xfrm>
          <a:prstGeom prst="ellipse">
            <a:avLst/>
          </a:prstGeom>
          <a:solidFill>
            <a:srgbClr val="8FA3C8"/>
          </a:solidFill>
          <a:ln w="12700">
            <a:solidFill>
              <a:srgbClr val="8FA3C8"/>
            </a:solidFill>
            <a:prstDash val="solid"/>
          </a:ln>
        </p:spPr>
      </p:sp>
      <p:sp>
        <p:nvSpPr>
          <p:cNvPr id="36" name="Shape 34"/>
          <p:cNvSpPr/>
          <p:nvPr/>
        </p:nvSpPr>
        <p:spPr>
          <a:xfrm>
            <a:off x="5120640" y="2377440"/>
            <a:ext cx="182880" cy="182880"/>
          </a:xfrm>
          <a:prstGeom prst="ellipse">
            <a:avLst/>
          </a:prstGeom>
          <a:solidFill>
            <a:srgbClr val="8FA3C8">
              <a:alpha val="30000"/>
            </a:srgbClr>
          </a:solidFill>
          <a:ln w="12700">
            <a:solidFill>
              <a:srgbClr val="8FA3C8"/>
            </a:solidFill>
            <a:prstDash val="solid"/>
          </a:ln>
        </p:spPr>
      </p:sp>
      <p:sp>
        <p:nvSpPr>
          <p:cNvPr id="37" name="Shape 35"/>
          <p:cNvSpPr/>
          <p:nvPr/>
        </p:nvSpPr>
        <p:spPr>
          <a:xfrm>
            <a:off x="5166360" y="2423160"/>
            <a:ext cx="91440" cy="91440"/>
          </a:xfrm>
          <a:prstGeom prst="ellipse">
            <a:avLst/>
          </a:prstGeom>
          <a:solidFill>
            <a:srgbClr val="8FA3C8"/>
          </a:solidFill>
          <a:ln w="12700">
            <a:solidFill>
              <a:srgbClr val="8FA3C8"/>
            </a:solidFill>
            <a:prstDash val="solid"/>
          </a:ln>
        </p:spPr>
      </p:sp>
      <p:sp>
        <p:nvSpPr>
          <p:cNvPr id="38" name="Shape 36"/>
          <p:cNvSpPr/>
          <p:nvPr/>
        </p:nvSpPr>
        <p:spPr>
          <a:xfrm>
            <a:off x="365760" y="1417320"/>
            <a:ext cx="2560320" cy="123444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9" name="Text 37"/>
          <p:cNvSpPr/>
          <p:nvPr/>
        </p:nvSpPr>
        <p:spPr>
          <a:xfrm>
            <a:off x="502920" y="1527048"/>
            <a:ext cx="2331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Data Moat</a:t>
            </a:r>
            <a:endParaRPr lang="en-US" sz="1300" dirty="0"/>
          </a:p>
        </p:txBody>
      </p:sp>
      <p:sp>
        <p:nvSpPr>
          <p:cNvPr id="40" name="Text 38"/>
          <p:cNvSpPr/>
          <p:nvPr/>
        </p:nvSpPr>
        <p:spPr>
          <a:xfrm>
            <a:off x="502920" y="1874520"/>
            <a:ext cx="2331720" cy="685800"/>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Real human journey data — impossible to recreate. Every user journey deposited permanently.</a:t>
            </a:r>
            <a:endParaRPr lang="en-US" sz="1050" dirty="0"/>
          </a:p>
        </p:txBody>
      </p:sp>
      <p:sp>
        <p:nvSpPr>
          <p:cNvPr id="41" name="Shape 39"/>
          <p:cNvSpPr/>
          <p:nvPr/>
        </p:nvSpPr>
        <p:spPr>
          <a:xfrm>
            <a:off x="3108960" y="1417320"/>
            <a:ext cx="2560320" cy="123444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42" name="Text 40"/>
          <p:cNvSpPr/>
          <p:nvPr/>
        </p:nvSpPr>
        <p:spPr>
          <a:xfrm>
            <a:off x="3246120" y="1527048"/>
            <a:ext cx="2331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Network Effect</a:t>
            </a:r>
            <a:endParaRPr lang="en-US" sz="1300" dirty="0"/>
          </a:p>
        </p:txBody>
      </p:sp>
      <p:sp>
        <p:nvSpPr>
          <p:cNvPr id="43" name="Text 41"/>
          <p:cNvSpPr/>
          <p:nvPr/>
        </p:nvSpPr>
        <p:spPr>
          <a:xfrm>
            <a:off x="3246120" y="1874520"/>
            <a:ext cx="2331720" cy="685800"/>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Value compounds. 10 agents = basic. 10,000 = uncanny. Can't copy the network.</a:t>
            </a:r>
            <a:endParaRPr lang="en-US" sz="1050" dirty="0"/>
          </a:p>
        </p:txBody>
      </p:sp>
      <p:sp>
        <p:nvSpPr>
          <p:cNvPr id="44" name="Shape 42"/>
          <p:cNvSpPr/>
          <p:nvPr/>
        </p:nvSpPr>
        <p:spPr>
          <a:xfrm>
            <a:off x="365760" y="2834640"/>
            <a:ext cx="2560320" cy="123444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45" name="Text 43"/>
          <p:cNvSpPr/>
          <p:nvPr/>
        </p:nvSpPr>
        <p:spPr>
          <a:xfrm>
            <a:off x="502920" y="2944368"/>
            <a:ext cx="2331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Personal Agent</a:t>
            </a:r>
            <a:endParaRPr lang="en-US" sz="1300" dirty="0"/>
          </a:p>
        </p:txBody>
      </p:sp>
      <p:sp>
        <p:nvSpPr>
          <p:cNvPr id="46" name="Text 44"/>
          <p:cNvSpPr/>
          <p:nvPr/>
        </p:nvSpPr>
        <p:spPr>
          <a:xfrm>
            <a:off x="502920" y="3291840"/>
            <a:ext cx="2331720" cy="685800"/>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Your digital twin that grows with you for life. Switching cost is your entire history.</a:t>
            </a:r>
            <a:endParaRPr lang="en-US" sz="1050" dirty="0"/>
          </a:p>
        </p:txBody>
      </p:sp>
      <p:sp>
        <p:nvSpPr>
          <p:cNvPr id="47" name="Shape 45"/>
          <p:cNvSpPr/>
          <p:nvPr/>
        </p:nvSpPr>
        <p:spPr>
          <a:xfrm>
            <a:off x="3108960" y="2834640"/>
            <a:ext cx="2560320" cy="123444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48" name="Text 46"/>
          <p:cNvSpPr/>
          <p:nvPr/>
        </p:nvSpPr>
        <p:spPr>
          <a:xfrm>
            <a:off x="3246120" y="2944368"/>
            <a:ext cx="2331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Contribution Flywheel</a:t>
            </a:r>
            <a:endParaRPr lang="en-US" sz="1300" dirty="0"/>
          </a:p>
        </p:txBody>
      </p:sp>
      <p:sp>
        <p:nvSpPr>
          <p:cNvPr id="49" name="Text 47"/>
          <p:cNvSpPr/>
          <p:nvPr/>
        </p:nvSpPr>
        <p:spPr>
          <a:xfrm>
            <a:off x="3246120" y="3291840"/>
            <a:ext cx="2331720" cy="685800"/>
          </a:xfrm>
          <a:prstGeom prst="rect">
            <a:avLst/>
          </a:prstGeom>
          <a:noFill/>
          <a:ln/>
        </p:spPr>
        <p:txBody>
          <a:bodyPr wrap="square" rtlCol="0" anchor="ctr"/>
          <a:lstStyle/>
          <a:p>
            <a:pPr indent="0" marL="0">
              <a:buNone/>
            </a:pPr>
            <a:r>
              <a:rPr lang="en-US" sz="1050" dirty="0">
                <a:solidFill>
                  <a:srgbClr val="8FA3C8"/>
                </a:solidFill>
                <a:latin typeface="Calibri" pitchFamily="34" charset="0"/>
                <a:ea typeface="Calibri" pitchFamily="34" charset="-122"/>
                <a:cs typeface="Calibri" pitchFamily="34" charset="-120"/>
              </a:rPr>
              <a:t>Leaderboard rewards top contributors. Better knowledge → better simulations → more users.</a:t>
            </a:r>
            <a:endParaRPr lang="en-US" sz="1050" dirty="0"/>
          </a:p>
        </p:txBody>
      </p:sp>
      <p:sp>
        <p:nvSpPr>
          <p:cNvPr id="50" name="Shape 48"/>
          <p:cNvSpPr/>
          <p:nvPr/>
        </p:nvSpPr>
        <p:spPr>
          <a:xfrm>
            <a:off x="347472" y="4315968"/>
            <a:ext cx="8449056" cy="6858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1" name="Text 49"/>
          <p:cNvSpPr/>
          <p:nvPr/>
        </p:nvSpPr>
        <p:spPr>
          <a:xfrm>
            <a:off x="502920" y="4352544"/>
            <a:ext cx="1828800" cy="201168"/>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52" name="Text 50"/>
          <p:cNvSpPr/>
          <p:nvPr/>
        </p:nvSpPr>
        <p:spPr>
          <a:xfrm>
            <a:off x="502920" y="4572000"/>
            <a:ext cx="8229600" cy="36576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"OpenAI can copy our interface. They cannot copy our community. Every journey added to UniMind increases the value for every other user. The moat is not technology — it's the network. And once someone's entire life journey lives in their personal agent, they're never leaving. This is a platform business, not a feature."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457200" y="201168"/>
            <a:ext cx="3657600" cy="201168"/>
          </a:xfrm>
          <a:prstGeom prst="rect">
            <a:avLst/>
          </a:prstGeom>
          <a:noFill/>
          <a:ln/>
        </p:spPr>
        <p:txBody>
          <a:bodyPr wrap="square" rtlCol="0" anchor="ctr"/>
          <a:lstStyle/>
          <a:p>
            <a:pPr indent="0" marL="0">
              <a:buNone/>
            </a:pPr>
            <a:r>
              <a:rPr lang="en-US" sz="800" b="1" spc="300" kern="0" dirty="0">
                <a:solidFill>
                  <a:srgbClr val="00C48C"/>
                </a:solidFill>
                <a:latin typeface="Calibri" pitchFamily="34" charset="0"/>
                <a:ea typeface="Calibri" pitchFamily="34" charset="-122"/>
                <a:cs typeface="Calibri" pitchFamily="34" charset="-120"/>
              </a:rPr>
              <a:t>TRACTION &amp; ROADMAP</a:t>
            </a:r>
            <a:endParaRPr lang="en-US" sz="800" dirty="0"/>
          </a:p>
        </p:txBody>
      </p:sp>
      <p:sp>
        <p:nvSpPr>
          <p:cNvPr id="3" name="Text 1"/>
          <p:cNvSpPr/>
          <p:nvPr/>
        </p:nvSpPr>
        <p:spPr>
          <a:xfrm>
            <a:off x="457200" y="411480"/>
            <a:ext cx="82296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Built fast. Roadmap is clear.</a:t>
            </a:r>
            <a:endParaRPr lang="en-US" sz="2800" dirty="0"/>
          </a:p>
        </p:txBody>
      </p:sp>
      <p:sp>
        <p:nvSpPr>
          <p:cNvPr id="4" name="Shape 2"/>
          <p:cNvSpPr/>
          <p:nvPr/>
        </p:nvSpPr>
        <p:spPr>
          <a:xfrm>
            <a:off x="365760" y="1078992"/>
            <a:ext cx="3840480" cy="30175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365760" y="1078992"/>
            <a:ext cx="3840480" cy="54864"/>
          </a:xfrm>
          <a:prstGeom prst="rect">
            <a:avLst/>
          </a:prstGeom>
          <a:solidFill>
            <a:srgbClr val="00C48C"/>
          </a:solidFill>
          <a:ln w="12700">
            <a:solidFill>
              <a:srgbClr val="00C48C"/>
            </a:solidFill>
            <a:prstDash val="solid"/>
          </a:ln>
        </p:spPr>
      </p:sp>
      <p:sp>
        <p:nvSpPr>
          <p:cNvPr id="6" name="Text 4"/>
          <p:cNvSpPr/>
          <p:nvPr/>
        </p:nvSpPr>
        <p:spPr>
          <a:xfrm>
            <a:off x="502920" y="1152144"/>
            <a:ext cx="2743200" cy="256032"/>
          </a:xfrm>
          <a:prstGeom prst="rect">
            <a:avLst/>
          </a:prstGeom>
          <a:noFill/>
          <a:ln/>
        </p:spPr>
        <p:txBody>
          <a:bodyPr wrap="square" rtlCol="0" anchor="ctr"/>
          <a:lstStyle/>
          <a:p>
            <a:pPr indent="0" marL="0">
              <a:buNone/>
            </a:pPr>
            <a:r>
              <a:rPr lang="en-US" sz="1200" b="1" spc="200" kern="0" dirty="0">
                <a:solidFill>
                  <a:srgbClr val="00C48C"/>
                </a:solidFill>
                <a:latin typeface="Calibri" pitchFamily="34" charset="0"/>
                <a:ea typeface="Calibri" pitchFamily="34" charset="-122"/>
                <a:cs typeface="Calibri" pitchFamily="34" charset="-120"/>
              </a:rPr>
              <a:t>✅  DONE</a:t>
            </a:r>
            <a:endParaRPr lang="en-US" sz="1200" dirty="0"/>
          </a:p>
        </p:txBody>
      </p:sp>
      <p:sp>
        <p:nvSpPr>
          <p:cNvPr id="7" name="Text 5"/>
          <p:cNvSpPr/>
          <p:nvPr/>
        </p:nvSpPr>
        <p:spPr>
          <a:xfrm>
            <a:off x="502920" y="1481328"/>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Full React frontend built (production quality)</a:t>
            </a:r>
            <a:endParaRPr lang="en-US" sz="1100" dirty="0"/>
          </a:p>
        </p:txBody>
      </p:sp>
      <p:sp>
        <p:nvSpPr>
          <p:cNvPr id="8" name="Text 6"/>
          <p:cNvSpPr/>
          <p:nvPr/>
        </p:nvSpPr>
        <p:spPr>
          <a:xfrm>
            <a:off x="502920" y="1792224"/>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Onboarding — 3D particle agent creation flow</a:t>
            </a:r>
            <a:endParaRPr lang="en-US" sz="1100" dirty="0"/>
          </a:p>
        </p:txBody>
      </p:sp>
      <p:sp>
        <p:nvSpPr>
          <p:cNvPr id="9" name="Text 7"/>
          <p:cNvSpPr/>
          <p:nvPr/>
        </p:nvSpPr>
        <p:spPr>
          <a:xfrm>
            <a:off x="502920" y="2103120"/>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Agentic Web — 1,401-node interactive 3D network</a:t>
            </a:r>
            <a:endParaRPr lang="en-US" sz="1100" dirty="0"/>
          </a:p>
        </p:txBody>
      </p:sp>
      <p:sp>
        <p:nvSpPr>
          <p:cNvPr id="10" name="Text 8"/>
          <p:cNvSpPr/>
          <p:nvPr/>
        </p:nvSpPr>
        <p:spPr>
          <a:xfrm>
            <a:off x="502920" y="2414016"/>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BFS pathfinding between any two agents</a:t>
            </a:r>
            <a:endParaRPr lang="en-US" sz="1100" dirty="0"/>
          </a:p>
        </p:txBody>
      </p:sp>
      <p:sp>
        <p:nvSpPr>
          <p:cNvPr id="11" name="Text 9"/>
          <p:cNvSpPr/>
          <p:nvPr/>
        </p:nvSpPr>
        <p:spPr>
          <a:xfrm>
            <a:off x="502920" y="2724912"/>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Leaderboard, filters, timeline scrubber</a:t>
            </a:r>
            <a:endParaRPr lang="en-US" sz="1100" dirty="0"/>
          </a:p>
        </p:txBody>
      </p:sp>
      <p:sp>
        <p:nvSpPr>
          <p:cNvPr id="12" name="Text 10"/>
          <p:cNvSpPr/>
          <p:nvPr/>
        </p:nvSpPr>
        <p:spPr>
          <a:xfrm>
            <a:off x="502920" y="3035808"/>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Community social feed with badges &amp; reactions</a:t>
            </a:r>
            <a:endParaRPr lang="en-US" sz="1100" dirty="0"/>
          </a:p>
        </p:txBody>
      </p:sp>
      <p:sp>
        <p:nvSpPr>
          <p:cNvPr id="13" name="Text 11"/>
          <p:cNvSpPr/>
          <p:nvPr/>
        </p:nvSpPr>
        <p:spPr>
          <a:xfrm>
            <a:off x="502920" y="3346704"/>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Simulation phases — 4-step visual sequence</a:t>
            </a:r>
            <a:endParaRPr lang="en-US" sz="1100" dirty="0"/>
          </a:p>
        </p:txBody>
      </p:sp>
      <p:sp>
        <p:nvSpPr>
          <p:cNvPr id="14" name="Text 12"/>
          <p:cNvSpPr/>
          <p:nvPr/>
        </p:nvSpPr>
        <p:spPr>
          <a:xfrm>
            <a:off x="502920" y="3657600"/>
            <a:ext cx="356616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  Procedural agent seeding (stable RNG)</a:t>
            </a:r>
            <a:endParaRPr lang="en-US" sz="1100" dirty="0"/>
          </a:p>
        </p:txBody>
      </p:sp>
      <p:sp>
        <p:nvSpPr>
          <p:cNvPr id="15" name="Shape 13"/>
          <p:cNvSpPr/>
          <p:nvPr/>
        </p:nvSpPr>
        <p:spPr>
          <a:xfrm>
            <a:off x="4389120" y="1078992"/>
            <a:ext cx="4389120" cy="30175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389120" y="1078992"/>
            <a:ext cx="4389120" cy="54864"/>
          </a:xfrm>
          <a:prstGeom prst="rect">
            <a:avLst/>
          </a:prstGeom>
          <a:solidFill>
            <a:srgbClr val="4F3BDB"/>
          </a:solidFill>
          <a:ln w="12700">
            <a:solidFill>
              <a:srgbClr val="4F3BDB"/>
            </a:solidFill>
            <a:prstDash val="solid"/>
          </a:ln>
        </p:spPr>
      </p:sp>
      <p:sp>
        <p:nvSpPr>
          <p:cNvPr id="17" name="Text 15"/>
          <p:cNvSpPr/>
          <p:nvPr/>
        </p:nvSpPr>
        <p:spPr>
          <a:xfrm>
            <a:off x="4526280" y="1152144"/>
            <a:ext cx="3657600" cy="256032"/>
          </a:xfrm>
          <a:prstGeom prst="rect">
            <a:avLst/>
          </a:prstGeom>
          <a:noFill/>
          <a:ln/>
        </p:spPr>
        <p:txBody>
          <a:bodyPr wrap="square" rtlCol="0" anchor="ctr"/>
          <a:lstStyle/>
          <a:p>
            <a:pPr indent="0" marL="0">
              <a:buNone/>
            </a:pPr>
            <a:r>
              <a:rPr lang="en-US" sz="1200" b="1" spc="100" kern="0" dirty="0">
                <a:solidFill>
                  <a:srgbClr val="4F3BDB"/>
                </a:solidFill>
                <a:latin typeface="Calibri" pitchFamily="34" charset="0"/>
                <a:ea typeface="Calibri" pitchFamily="34" charset="-122"/>
                <a:cs typeface="Calibri" pitchFamily="34" charset="-120"/>
              </a:rPr>
              <a:t>🔜  NEXT 6 MONTHS</a:t>
            </a:r>
            <a:endParaRPr lang="en-US" sz="1200" dirty="0"/>
          </a:p>
        </p:txBody>
      </p:sp>
      <p:sp>
        <p:nvSpPr>
          <p:cNvPr id="18" name="Shape 16"/>
          <p:cNvSpPr/>
          <p:nvPr/>
        </p:nvSpPr>
        <p:spPr>
          <a:xfrm>
            <a:off x="4526280" y="1508760"/>
            <a:ext cx="128016" cy="128016"/>
          </a:xfrm>
          <a:prstGeom prst="ellipse">
            <a:avLst/>
          </a:prstGeom>
          <a:solidFill>
            <a:srgbClr val="00C2E0"/>
          </a:solidFill>
          <a:ln w="12700">
            <a:solidFill>
              <a:srgbClr val="00C2E0"/>
            </a:solidFill>
            <a:prstDash val="solid"/>
          </a:ln>
        </p:spPr>
      </p:sp>
      <p:sp>
        <p:nvSpPr>
          <p:cNvPr id="19" name="Text 17"/>
          <p:cNvSpPr/>
          <p:nvPr/>
        </p:nvSpPr>
        <p:spPr>
          <a:xfrm>
            <a:off x="4718304" y="1481328"/>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Python AI backend</a:t>
            </a:r>
            <a:endParaRPr lang="en-US" sz="1100" dirty="0"/>
          </a:p>
        </p:txBody>
      </p:sp>
      <p:sp>
        <p:nvSpPr>
          <p:cNvPr id="20" name="Shape 18"/>
          <p:cNvSpPr/>
          <p:nvPr/>
        </p:nvSpPr>
        <p:spPr>
          <a:xfrm>
            <a:off x="4526280" y="1819656"/>
            <a:ext cx="128016" cy="128016"/>
          </a:xfrm>
          <a:prstGeom prst="ellipse">
            <a:avLst/>
          </a:prstGeom>
          <a:solidFill>
            <a:srgbClr val="00C2E0"/>
          </a:solidFill>
          <a:ln w="12700">
            <a:solidFill>
              <a:srgbClr val="00C2E0"/>
            </a:solidFill>
            <a:prstDash val="solid"/>
          </a:ln>
        </p:spPr>
      </p:sp>
      <p:sp>
        <p:nvSpPr>
          <p:cNvPr id="21" name="Text 19"/>
          <p:cNvSpPr/>
          <p:nvPr/>
        </p:nvSpPr>
        <p:spPr>
          <a:xfrm>
            <a:off x="4718304" y="1792224"/>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Real LLM simulation engine</a:t>
            </a:r>
            <a:endParaRPr lang="en-US" sz="1100" dirty="0"/>
          </a:p>
        </p:txBody>
      </p:sp>
      <p:sp>
        <p:nvSpPr>
          <p:cNvPr id="22" name="Shape 20"/>
          <p:cNvSpPr/>
          <p:nvPr/>
        </p:nvSpPr>
        <p:spPr>
          <a:xfrm>
            <a:off x="4526280" y="2130552"/>
            <a:ext cx="128016" cy="128016"/>
          </a:xfrm>
          <a:prstGeom prst="ellipse">
            <a:avLst/>
          </a:prstGeom>
          <a:solidFill>
            <a:srgbClr val="00C2E0"/>
          </a:solidFill>
          <a:ln w="12700">
            <a:solidFill>
              <a:srgbClr val="00C2E0"/>
            </a:solidFill>
            <a:prstDash val="solid"/>
          </a:ln>
        </p:spPr>
      </p:sp>
      <p:sp>
        <p:nvSpPr>
          <p:cNvPr id="23" name="Text 21"/>
          <p:cNvSpPr/>
          <p:nvPr/>
        </p:nvSpPr>
        <p:spPr>
          <a:xfrm>
            <a:off x="4718304" y="2103120"/>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Agent knowledge graph (real users)</a:t>
            </a:r>
            <a:endParaRPr lang="en-US" sz="1100" dirty="0"/>
          </a:p>
        </p:txBody>
      </p:sp>
      <p:sp>
        <p:nvSpPr>
          <p:cNvPr id="24" name="Shape 22"/>
          <p:cNvSpPr/>
          <p:nvPr/>
        </p:nvSpPr>
        <p:spPr>
          <a:xfrm>
            <a:off x="4526280" y="2441448"/>
            <a:ext cx="128016" cy="128016"/>
          </a:xfrm>
          <a:prstGeom prst="ellipse">
            <a:avLst/>
          </a:prstGeom>
          <a:solidFill>
            <a:srgbClr val="00C2E0"/>
          </a:solidFill>
          <a:ln w="12700">
            <a:solidFill>
              <a:srgbClr val="00C2E0"/>
            </a:solidFill>
            <a:prstDash val="solid"/>
          </a:ln>
        </p:spPr>
      </p:sp>
      <p:sp>
        <p:nvSpPr>
          <p:cNvPr id="25" name="Text 23"/>
          <p:cNvSpPr/>
          <p:nvPr/>
        </p:nvSpPr>
        <p:spPr>
          <a:xfrm>
            <a:off x="4718304" y="2414016"/>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Persistent user sessions &amp; login</a:t>
            </a:r>
            <a:endParaRPr lang="en-US" sz="1100" dirty="0"/>
          </a:p>
        </p:txBody>
      </p:sp>
      <p:sp>
        <p:nvSpPr>
          <p:cNvPr id="26" name="Shape 24"/>
          <p:cNvSpPr/>
          <p:nvPr/>
        </p:nvSpPr>
        <p:spPr>
          <a:xfrm>
            <a:off x="4526280" y="2752344"/>
            <a:ext cx="128016" cy="128016"/>
          </a:xfrm>
          <a:prstGeom prst="ellipse">
            <a:avLst/>
          </a:prstGeom>
          <a:solidFill>
            <a:srgbClr val="F5A623"/>
          </a:solidFill>
          <a:ln w="12700">
            <a:solidFill>
              <a:srgbClr val="F5A623"/>
            </a:solidFill>
            <a:prstDash val="solid"/>
          </a:ln>
        </p:spPr>
      </p:sp>
      <p:sp>
        <p:nvSpPr>
          <p:cNvPr id="27" name="Text 25"/>
          <p:cNvSpPr/>
          <p:nvPr/>
        </p:nvSpPr>
        <p:spPr>
          <a:xfrm>
            <a:off x="4718304" y="2724912"/>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Beta launch — 3 Irish universities</a:t>
            </a:r>
            <a:endParaRPr lang="en-US" sz="1100" dirty="0"/>
          </a:p>
        </p:txBody>
      </p:sp>
      <p:sp>
        <p:nvSpPr>
          <p:cNvPr id="28" name="Shape 26"/>
          <p:cNvSpPr/>
          <p:nvPr/>
        </p:nvSpPr>
        <p:spPr>
          <a:xfrm>
            <a:off x="4526280" y="3063240"/>
            <a:ext cx="128016" cy="128016"/>
          </a:xfrm>
          <a:prstGeom prst="ellipse">
            <a:avLst/>
          </a:prstGeom>
          <a:solidFill>
            <a:srgbClr val="F5A623"/>
          </a:solidFill>
          <a:ln w="12700">
            <a:solidFill>
              <a:srgbClr val="F5A623"/>
            </a:solidFill>
            <a:prstDash val="solid"/>
          </a:ln>
        </p:spPr>
      </p:sp>
      <p:sp>
        <p:nvSpPr>
          <p:cNvPr id="29" name="Text 27"/>
          <p:cNvSpPr/>
          <p:nvPr/>
        </p:nvSpPr>
        <p:spPr>
          <a:xfrm>
            <a:off x="4718304" y="3035808"/>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First institutional sales (€20K–€60K)</a:t>
            </a:r>
            <a:endParaRPr lang="en-US" sz="1100" dirty="0"/>
          </a:p>
        </p:txBody>
      </p:sp>
      <p:sp>
        <p:nvSpPr>
          <p:cNvPr id="30" name="Shape 28"/>
          <p:cNvSpPr/>
          <p:nvPr/>
        </p:nvSpPr>
        <p:spPr>
          <a:xfrm>
            <a:off x="4526280" y="3374136"/>
            <a:ext cx="128016" cy="128016"/>
          </a:xfrm>
          <a:prstGeom prst="ellipse">
            <a:avLst/>
          </a:prstGeom>
          <a:solidFill>
            <a:srgbClr val="F5A623"/>
          </a:solidFill>
          <a:ln w="12700">
            <a:solidFill>
              <a:srgbClr val="F5A623"/>
            </a:solidFill>
            <a:prstDash val="solid"/>
          </a:ln>
        </p:spPr>
      </p:sp>
      <p:sp>
        <p:nvSpPr>
          <p:cNvPr id="31" name="Text 29"/>
          <p:cNvSpPr/>
          <p:nvPr/>
        </p:nvSpPr>
        <p:spPr>
          <a:xfrm>
            <a:off x="4718304" y="3346704"/>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Pro subscription billing live</a:t>
            </a:r>
            <a:endParaRPr lang="en-US" sz="1100" dirty="0"/>
          </a:p>
        </p:txBody>
      </p:sp>
      <p:sp>
        <p:nvSpPr>
          <p:cNvPr id="32" name="Shape 30"/>
          <p:cNvSpPr/>
          <p:nvPr/>
        </p:nvSpPr>
        <p:spPr>
          <a:xfrm>
            <a:off x="4526280" y="3685032"/>
            <a:ext cx="128016" cy="128016"/>
          </a:xfrm>
          <a:prstGeom prst="ellipse">
            <a:avLst/>
          </a:prstGeom>
          <a:solidFill>
            <a:srgbClr val="4F3BDB"/>
          </a:solidFill>
          <a:ln w="12700">
            <a:solidFill>
              <a:srgbClr val="4F3BDB"/>
            </a:solidFill>
            <a:prstDash val="solid"/>
          </a:ln>
        </p:spPr>
      </p:sp>
      <p:sp>
        <p:nvSpPr>
          <p:cNvPr id="33" name="Text 31"/>
          <p:cNvSpPr/>
          <p:nvPr/>
        </p:nvSpPr>
        <p:spPr>
          <a:xfrm>
            <a:off x="4718304" y="3657600"/>
            <a:ext cx="3977640" cy="274320"/>
          </a:xfrm>
          <a:prstGeom prst="rect">
            <a:avLst/>
          </a:prstGeom>
          <a:noFill/>
          <a:ln/>
        </p:spPr>
        <p:txBody>
          <a:bodyPr wrap="square" rtlCol="0" anchor="ctr"/>
          <a:lstStyle/>
          <a:p>
            <a:pPr indent="0" marL="0">
              <a:buNone/>
            </a:pPr>
            <a:r>
              <a:rPr lang="en-US" sz="1100" dirty="0">
                <a:solidFill>
                  <a:srgbClr val="F0F4FF"/>
                </a:solidFill>
                <a:latin typeface="Calibri" pitchFamily="34" charset="0"/>
                <a:ea typeface="Calibri" pitchFamily="34" charset="-122"/>
                <a:cs typeface="Calibri" pitchFamily="34" charset="-120"/>
              </a:rPr>
              <a:t>Agent evolution tracking &amp; memory</a:t>
            </a:r>
            <a:endParaRPr lang="en-US" sz="1100" dirty="0"/>
          </a:p>
        </p:txBody>
      </p:sp>
      <p:sp>
        <p:nvSpPr>
          <p:cNvPr id="34" name="Shape 32"/>
          <p:cNvSpPr/>
          <p:nvPr/>
        </p:nvSpPr>
        <p:spPr>
          <a:xfrm>
            <a:off x="347472" y="4169664"/>
            <a:ext cx="8449056" cy="82296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5" name="Text 33"/>
          <p:cNvSpPr/>
          <p:nvPr/>
        </p:nvSpPr>
        <p:spPr>
          <a:xfrm>
            <a:off x="502920" y="4206240"/>
            <a:ext cx="1828800" cy="201168"/>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36" name="Text 34"/>
          <p:cNvSpPr/>
          <p:nvPr/>
        </p:nvSpPr>
        <p:spPr>
          <a:xfrm>
            <a:off x="502920" y="4425696"/>
            <a:ext cx="8229600" cy="502920"/>
          </a:xfrm>
          <a:prstGeom prst="rect">
            <a:avLst/>
          </a:prstGeom>
          <a:noFill/>
          <a:ln/>
        </p:spPr>
        <p:txBody>
          <a:bodyPr wrap="square" rtlCol="0" anchor="ctr"/>
          <a:lstStyle/>
          <a:p>
            <a:pPr indent="0" marL="0">
              <a:buNone/>
            </a:pPr>
            <a:r>
              <a:rPr lang="en-US" sz="1050" i="1" dirty="0">
                <a:solidFill>
                  <a:srgbClr val="F0F4FF"/>
                </a:solidFill>
                <a:latin typeface="Calibri" pitchFamily="34" charset="0"/>
                <a:ea typeface="Calibri" pitchFamily="34" charset="-122"/>
                <a:cs typeface="Calibri" pitchFamily="34" charset="-120"/>
              </a:rPr>
              <a:t>"The frontend is not a mockup — it's a real, working application. I built it alone. It took weeks, not months. The Python AI backend is the next milestone. With seed funding, I can hire one backend engineer, bring in a university partnership lead, and be in beta with paying institutional clients by Month 6. The execution speed you're seeing tells you exactly what the team culture will be."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2926080" y="457200"/>
            <a:ext cx="4114800" cy="4114800"/>
          </a:xfrm>
          <a:prstGeom prst="ellipse">
            <a:avLst/>
          </a:prstGeom>
          <a:solidFill>
            <a:srgbClr val="4F3BDB">
              <a:alpha val="12000"/>
            </a:srgbClr>
          </a:solidFill>
          <a:ln w="12700">
            <a:solidFill>
              <a:srgbClr val="4F3BDB"/>
            </a:solidFill>
            <a:prstDash val="solid"/>
          </a:ln>
        </p:spPr>
      </p:sp>
      <p:sp>
        <p:nvSpPr>
          <p:cNvPr id="3" name="Text 1"/>
          <p:cNvSpPr/>
          <p:nvPr/>
        </p:nvSpPr>
        <p:spPr>
          <a:xfrm>
            <a:off x="457200" y="256032"/>
            <a:ext cx="2743200" cy="201168"/>
          </a:xfrm>
          <a:prstGeom prst="rect">
            <a:avLst/>
          </a:prstGeom>
          <a:noFill/>
          <a:ln/>
        </p:spPr>
        <p:txBody>
          <a:bodyPr wrap="square" rtlCol="0" anchor="ctr"/>
          <a:lstStyle/>
          <a:p>
            <a:pPr indent="0" marL="0">
              <a:buNone/>
            </a:pPr>
            <a:r>
              <a:rPr lang="en-US" sz="800" b="1" spc="300" kern="0" dirty="0">
                <a:solidFill>
                  <a:srgbClr val="F5A623"/>
                </a:solidFill>
                <a:latin typeface="Calibri" pitchFamily="34" charset="0"/>
                <a:ea typeface="Calibri" pitchFamily="34" charset="-122"/>
                <a:cs typeface="Calibri" pitchFamily="34" charset="-120"/>
              </a:rPr>
              <a:t>THE ASK</a:t>
            </a:r>
            <a:endParaRPr lang="en-US" sz="800" dirty="0"/>
          </a:p>
        </p:txBody>
      </p:sp>
      <p:sp>
        <p:nvSpPr>
          <p:cNvPr id="4" name="Text 2"/>
          <p:cNvSpPr/>
          <p:nvPr/>
        </p:nvSpPr>
        <p:spPr>
          <a:xfrm>
            <a:off x="457200" y="475488"/>
            <a:ext cx="8229600" cy="6858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Seeking €150,000 Seed.</a:t>
            </a:r>
            <a:endParaRPr lang="en-US" sz="3200" dirty="0"/>
          </a:p>
        </p:txBody>
      </p:sp>
      <p:sp>
        <p:nvSpPr>
          <p:cNvPr id="5" name="Shape 3"/>
          <p:cNvSpPr/>
          <p:nvPr/>
        </p:nvSpPr>
        <p:spPr>
          <a:xfrm>
            <a:off x="365760" y="1325880"/>
            <a:ext cx="4114800" cy="1188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530352" y="1463040"/>
            <a:ext cx="777240" cy="777240"/>
          </a:xfrm>
          <a:prstGeom prst="ellipse">
            <a:avLst/>
          </a:prstGeom>
          <a:solidFill>
            <a:srgbClr val="4F3BDB">
              <a:alpha val="35000"/>
            </a:srgbClr>
          </a:solidFill>
          <a:ln w="12700">
            <a:solidFill>
              <a:srgbClr val="4F3BDB"/>
            </a:solidFill>
            <a:prstDash val="solid"/>
          </a:ln>
        </p:spPr>
      </p:sp>
      <p:sp>
        <p:nvSpPr>
          <p:cNvPr id="7" name="Text 5"/>
          <p:cNvSpPr/>
          <p:nvPr/>
        </p:nvSpPr>
        <p:spPr>
          <a:xfrm>
            <a:off x="530352" y="1463040"/>
            <a:ext cx="77724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40%</a:t>
            </a:r>
            <a:endParaRPr lang="en-US" sz="1600" dirty="0"/>
          </a:p>
        </p:txBody>
      </p:sp>
      <p:sp>
        <p:nvSpPr>
          <p:cNvPr id="8" name="Text 6"/>
          <p:cNvSpPr/>
          <p:nvPr/>
        </p:nvSpPr>
        <p:spPr>
          <a:xfrm>
            <a:off x="1444752" y="1463040"/>
            <a:ext cx="288036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€60,000 — Engineering</a:t>
            </a:r>
            <a:endParaRPr lang="en-US" sz="1300" dirty="0"/>
          </a:p>
        </p:txBody>
      </p:sp>
      <p:sp>
        <p:nvSpPr>
          <p:cNvPr id="9" name="Text 7"/>
          <p:cNvSpPr/>
          <p:nvPr/>
        </p:nvSpPr>
        <p:spPr>
          <a:xfrm>
            <a:off x="1444752" y="1828800"/>
            <a:ext cx="2880360" cy="50292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Senior Python/AI backend developer — 12-month contract</a:t>
            </a:r>
            <a:endParaRPr lang="en-US" sz="1100" dirty="0"/>
          </a:p>
        </p:txBody>
      </p:sp>
      <p:sp>
        <p:nvSpPr>
          <p:cNvPr id="10" name="Shape 8"/>
          <p:cNvSpPr/>
          <p:nvPr/>
        </p:nvSpPr>
        <p:spPr>
          <a:xfrm>
            <a:off x="365760" y="2697480"/>
            <a:ext cx="4114800" cy="1188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530352" y="2834640"/>
            <a:ext cx="777240" cy="777240"/>
          </a:xfrm>
          <a:prstGeom prst="ellipse">
            <a:avLst/>
          </a:prstGeom>
          <a:solidFill>
            <a:srgbClr val="4F3BDB">
              <a:alpha val="35000"/>
            </a:srgbClr>
          </a:solidFill>
          <a:ln w="12700">
            <a:solidFill>
              <a:srgbClr val="4F3BDB"/>
            </a:solidFill>
            <a:prstDash val="solid"/>
          </a:ln>
        </p:spPr>
      </p:sp>
      <p:sp>
        <p:nvSpPr>
          <p:cNvPr id="12" name="Text 10"/>
          <p:cNvSpPr/>
          <p:nvPr/>
        </p:nvSpPr>
        <p:spPr>
          <a:xfrm>
            <a:off x="530352" y="2834640"/>
            <a:ext cx="77724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3" name="Text 11"/>
          <p:cNvSpPr/>
          <p:nvPr/>
        </p:nvSpPr>
        <p:spPr>
          <a:xfrm>
            <a:off x="1444752" y="2834640"/>
            <a:ext cx="288036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€37,500 — University Partnerships</a:t>
            </a:r>
            <a:endParaRPr lang="en-US" sz="1300" dirty="0"/>
          </a:p>
        </p:txBody>
      </p:sp>
      <p:sp>
        <p:nvSpPr>
          <p:cNvPr id="14" name="Text 12"/>
          <p:cNvSpPr/>
          <p:nvPr/>
        </p:nvSpPr>
        <p:spPr>
          <a:xfrm>
            <a:off x="1444752" y="3200400"/>
            <a:ext cx="2880360" cy="50292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Business development lead for institutional sales</a:t>
            </a:r>
            <a:endParaRPr lang="en-US" sz="1100" dirty="0"/>
          </a:p>
        </p:txBody>
      </p:sp>
      <p:sp>
        <p:nvSpPr>
          <p:cNvPr id="15" name="Shape 13"/>
          <p:cNvSpPr/>
          <p:nvPr/>
        </p:nvSpPr>
        <p:spPr>
          <a:xfrm>
            <a:off x="4754880" y="1325880"/>
            <a:ext cx="4114800" cy="1188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4919472" y="1463040"/>
            <a:ext cx="777240" cy="777240"/>
          </a:xfrm>
          <a:prstGeom prst="ellipse">
            <a:avLst/>
          </a:prstGeom>
          <a:solidFill>
            <a:srgbClr val="4F3BDB">
              <a:alpha val="35000"/>
            </a:srgbClr>
          </a:solidFill>
          <a:ln w="12700">
            <a:solidFill>
              <a:srgbClr val="4F3BDB"/>
            </a:solidFill>
            <a:prstDash val="solid"/>
          </a:ln>
        </p:spPr>
      </p:sp>
      <p:sp>
        <p:nvSpPr>
          <p:cNvPr id="17" name="Text 15"/>
          <p:cNvSpPr/>
          <p:nvPr/>
        </p:nvSpPr>
        <p:spPr>
          <a:xfrm>
            <a:off x="4919472" y="1463040"/>
            <a:ext cx="77724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a:t>
            </a:r>
            <a:endParaRPr lang="en-US" sz="1600" dirty="0"/>
          </a:p>
        </p:txBody>
      </p:sp>
      <p:sp>
        <p:nvSpPr>
          <p:cNvPr id="18" name="Text 16"/>
          <p:cNvSpPr/>
          <p:nvPr/>
        </p:nvSpPr>
        <p:spPr>
          <a:xfrm>
            <a:off x="5833872" y="1463040"/>
            <a:ext cx="288036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€30,000 — Infrastructure &amp; AI</a:t>
            </a:r>
            <a:endParaRPr lang="en-US" sz="1300" dirty="0"/>
          </a:p>
        </p:txBody>
      </p:sp>
      <p:sp>
        <p:nvSpPr>
          <p:cNvPr id="19" name="Text 17"/>
          <p:cNvSpPr/>
          <p:nvPr/>
        </p:nvSpPr>
        <p:spPr>
          <a:xfrm>
            <a:off x="5833872" y="1828800"/>
            <a:ext cx="2880360" cy="50292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LLM API costs, cloud hosting, knowledge graph compute</a:t>
            </a:r>
            <a:endParaRPr lang="en-US" sz="1100" dirty="0"/>
          </a:p>
        </p:txBody>
      </p:sp>
      <p:sp>
        <p:nvSpPr>
          <p:cNvPr id="20" name="Shape 18"/>
          <p:cNvSpPr/>
          <p:nvPr/>
        </p:nvSpPr>
        <p:spPr>
          <a:xfrm>
            <a:off x="4754880" y="2697480"/>
            <a:ext cx="4114800" cy="118872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4919472" y="2834640"/>
            <a:ext cx="777240" cy="777240"/>
          </a:xfrm>
          <a:prstGeom prst="ellipse">
            <a:avLst/>
          </a:prstGeom>
          <a:solidFill>
            <a:srgbClr val="4F3BDB">
              <a:alpha val="35000"/>
            </a:srgbClr>
          </a:solidFill>
          <a:ln w="12700">
            <a:solidFill>
              <a:srgbClr val="4F3BDB"/>
            </a:solidFill>
            <a:prstDash val="solid"/>
          </a:ln>
        </p:spPr>
      </p:sp>
      <p:sp>
        <p:nvSpPr>
          <p:cNvPr id="22" name="Text 20"/>
          <p:cNvSpPr/>
          <p:nvPr/>
        </p:nvSpPr>
        <p:spPr>
          <a:xfrm>
            <a:off x="4919472" y="2834640"/>
            <a:ext cx="777240" cy="7772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23" name="Text 21"/>
          <p:cNvSpPr/>
          <p:nvPr/>
        </p:nvSpPr>
        <p:spPr>
          <a:xfrm>
            <a:off x="5833872" y="2834640"/>
            <a:ext cx="288036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€22,500 — Marketing &amp; Acquisition</a:t>
            </a:r>
            <a:endParaRPr lang="en-US" sz="1300" dirty="0"/>
          </a:p>
        </p:txBody>
      </p:sp>
      <p:sp>
        <p:nvSpPr>
          <p:cNvPr id="24" name="Text 22"/>
          <p:cNvSpPr/>
          <p:nvPr/>
        </p:nvSpPr>
        <p:spPr>
          <a:xfrm>
            <a:off x="5833872" y="3200400"/>
            <a:ext cx="2880360" cy="502920"/>
          </a:xfrm>
          <a:prstGeom prst="rect">
            <a:avLst/>
          </a:prstGeom>
          <a:noFill/>
          <a:ln/>
        </p:spPr>
        <p:txBody>
          <a:bodyPr wrap="square" rtlCol="0" anchor="ctr"/>
          <a:lstStyle/>
          <a:p>
            <a:pPr indent="0" marL="0">
              <a:buNone/>
            </a:pPr>
            <a:r>
              <a:rPr lang="en-US" sz="1100" dirty="0">
                <a:solidFill>
                  <a:srgbClr val="8FA3C8"/>
                </a:solidFill>
                <a:latin typeface="Calibri" pitchFamily="34" charset="0"/>
                <a:ea typeface="Calibri" pitchFamily="34" charset="-122"/>
                <a:cs typeface="Calibri" pitchFamily="34" charset="-120"/>
              </a:rPr>
              <a:t>Student launch campaigns, content, community growth</a:t>
            </a:r>
            <a:endParaRPr lang="en-US" sz="1100" dirty="0"/>
          </a:p>
        </p:txBody>
      </p:sp>
      <p:sp>
        <p:nvSpPr>
          <p:cNvPr id="25" name="Shape 23"/>
          <p:cNvSpPr/>
          <p:nvPr/>
        </p:nvSpPr>
        <p:spPr>
          <a:xfrm>
            <a:off x="365760" y="4069080"/>
            <a:ext cx="8412480" cy="438912"/>
          </a:xfrm>
          <a:prstGeom prst="rect">
            <a:avLst/>
          </a:prstGeom>
          <a:solidFill>
            <a:srgbClr val="F5A623">
              <a:alpha val="12000"/>
            </a:srgbClr>
          </a:solidFill>
          <a:ln w="12700">
            <a:solidFill>
              <a:srgbClr val="F5A623"/>
            </a:solidFill>
            <a:prstDash val="solid"/>
          </a:ln>
        </p:spPr>
      </p:sp>
      <p:sp>
        <p:nvSpPr>
          <p:cNvPr id="26" name="Text 24"/>
          <p:cNvSpPr/>
          <p:nvPr/>
        </p:nvSpPr>
        <p:spPr>
          <a:xfrm>
            <a:off x="502920" y="4096512"/>
            <a:ext cx="82296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This funding takes us from working frontend → paying institutional clients → €150K ARR within 12 months.</a:t>
            </a:r>
            <a:endParaRPr lang="en-US" sz="1200" dirty="0"/>
          </a:p>
        </p:txBody>
      </p:sp>
      <p:sp>
        <p:nvSpPr>
          <p:cNvPr id="27" name="Shape 25"/>
          <p:cNvSpPr/>
          <p:nvPr/>
        </p:nvSpPr>
        <p:spPr>
          <a:xfrm>
            <a:off x="347472" y="4590288"/>
            <a:ext cx="8449056" cy="457200"/>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28" name="Text 26"/>
          <p:cNvSpPr/>
          <p:nvPr/>
        </p:nvSpPr>
        <p:spPr>
          <a:xfrm>
            <a:off x="502920" y="4617720"/>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29" name="Text 27"/>
          <p:cNvSpPr/>
          <p:nvPr/>
        </p:nvSpPr>
        <p:spPr>
          <a:xfrm>
            <a:off x="502920" y="4773168"/>
            <a:ext cx="8229600" cy="237744"/>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"€150,000. Most of it goes directly to people who will build what's already half-built. This isn't a vision — the bones are standing. We need engineers and a partnership lead to close our first universities and go live. In 12 months, we're cash-flow positive on institutional revenue alone."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1024128" y="932688"/>
            <a:ext cx="146304" cy="146304"/>
          </a:xfrm>
          <a:prstGeom prst="ellipse">
            <a:avLst/>
          </a:prstGeom>
          <a:solidFill>
            <a:srgbClr val="4F3BDB">
              <a:alpha val="30000"/>
            </a:srgbClr>
          </a:solidFill>
          <a:ln w="12700">
            <a:solidFill>
              <a:srgbClr val="4F3BDB"/>
            </a:solidFill>
            <a:prstDash val="solid"/>
          </a:ln>
        </p:spPr>
      </p:sp>
      <p:sp>
        <p:nvSpPr>
          <p:cNvPr id="3" name="Shape 1"/>
          <p:cNvSpPr/>
          <p:nvPr/>
        </p:nvSpPr>
        <p:spPr>
          <a:xfrm>
            <a:off x="1060704" y="969264"/>
            <a:ext cx="73152" cy="73152"/>
          </a:xfrm>
          <a:prstGeom prst="ellipse">
            <a:avLst/>
          </a:prstGeom>
          <a:solidFill>
            <a:srgbClr val="4F3BDB"/>
          </a:solidFill>
          <a:ln w="12700">
            <a:solidFill>
              <a:srgbClr val="4F3BDB"/>
            </a:solidFill>
            <a:prstDash val="solid"/>
          </a:ln>
        </p:spPr>
      </p:sp>
      <p:sp>
        <p:nvSpPr>
          <p:cNvPr id="4" name="Shape 2"/>
          <p:cNvSpPr/>
          <p:nvPr/>
        </p:nvSpPr>
        <p:spPr>
          <a:xfrm>
            <a:off x="3127248" y="292608"/>
            <a:ext cx="146304" cy="146304"/>
          </a:xfrm>
          <a:prstGeom prst="ellipse">
            <a:avLst/>
          </a:prstGeom>
          <a:solidFill>
            <a:srgbClr val="4F3BDB">
              <a:alpha val="30000"/>
            </a:srgbClr>
          </a:solidFill>
          <a:ln w="12700">
            <a:solidFill>
              <a:srgbClr val="4F3BDB"/>
            </a:solidFill>
            <a:prstDash val="solid"/>
          </a:ln>
        </p:spPr>
      </p:sp>
      <p:sp>
        <p:nvSpPr>
          <p:cNvPr id="5" name="Shape 3"/>
          <p:cNvSpPr/>
          <p:nvPr/>
        </p:nvSpPr>
        <p:spPr>
          <a:xfrm>
            <a:off x="3163824" y="329184"/>
            <a:ext cx="73152" cy="73152"/>
          </a:xfrm>
          <a:prstGeom prst="ellipse">
            <a:avLst/>
          </a:prstGeom>
          <a:solidFill>
            <a:srgbClr val="4F3BDB"/>
          </a:solidFill>
          <a:ln w="12700">
            <a:solidFill>
              <a:srgbClr val="4F3BDB"/>
            </a:solidFill>
            <a:prstDash val="solid"/>
          </a:ln>
        </p:spPr>
      </p:sp>
      <p:sp>
        <p:nvSpPr>
          <p:cNvPr id="6" name="Shape 4"/>
          <p:cNvSpPr/>
          <p:nvPr/>
        </p:nvSpPr>
        <p:spPr>
          <a:xfrm>
            <a:off x="7424928" y="658368"/>
            <a:ext cx="146304" cy="146304"/>
          </a:xfrm>
          <a:prstGeom prst="ellipse">
            <a:avLst/>
          </a:prstGeom>
          <a:solidFill>
            <a:srgbClr val="4F3BDB">
              <a:alpha val="30000"/>
            </a:srgbClr>
          </a:solidFill>
          <a:ln w="12700">
            <a:solidFill>
              <a:srgbClr val="4F3BDB"/>
            </a:solidFill>
            <a:prstDash val="solid"/>
          </a:ln>
        </p:spPr>
      </p:sp>
      <p:sp>
        <p:nvSpPr>
          <p:cNvPr id="7" name="Shape 5"/>
          <p:cNvSpPr/>
          <p:nvPr/>
        </p:nvSpPr>
        <p:spPr>
          <a:xfrm>
            <a:off x="7461504" y="694944"/>
            <a:ext cx="73152" cy="73152"/>
          </a:xfrm>
          <a:prstGeom prst="ellipse">
            <a:avLst/>
          </a:prstGeom>
          <a:solidFill>
            <a:srgbClr val="4F3BDB"/>
          </a:solidFill>
          <a:ln w="12700">
            <a:solidFill>
              <a:srgbClr val="4F3BDB"/>
            </a:solidFill>
            <a:prstDash val="solid"/>
          </a:ln>
        </p:spPr>
      </p:sp>
      <p:sp>
        <p:nvSpPr>
          <p:cNvPr id="8" name="Shape 6"/>
          <p:cNvSpPr/>
          <p:nvPr/>
        </p:nvSpPr>
        <p:spPr>
          <a:xfrm>
            <a:off x="8705088" y="1938528"/>
            <a:ext cx="146304" cy="146304"/>
          </a:xfrm>
          <a:prstGeom prst="ellipse">
            <a:avLst/>
          </a:prstGeom>
          <a:solidFill>
            <a:srgbClr val="4F3BDB">
              <a:alpha val="30000"/>
            </a:srgbClr>
          </a:solidFill>
          <a:ln w="12700">
            <a:solidFill>
              <a:srgbClr val="4F3BDB"/>
            </a:solidFill>
            <a:prstDash val="solid"/>
          </a:ln>
        </p:spPr>
      </p:sp>
      <p:sp>
        <p:nvSpPr>
          <p:cNvPr id="9" name="Shape 7"/>
          <p:cNvSpPr/>
          <p:nvPr/>
        </p:nvSpPr>
        <p:spPr>
          <a:xfrm>
            <a:off x="8741664" y="1975104"/>
            <a:ext cx="73152" cy="73152"/>
          </a:xfrm>
          <a:prstGeom prst="ellipse">
            <a:avLst/>
          </a:prstGeom>
          <a:solidFill>
            <a:srgbClr val="4F3BDB"/>
          </a:solidFill>
          <a:ln w="12700">
            <a:solidFill>
              <a:srgbClr val="4F3BDB"/>
            </a:solidFill>
            <a:prstDash val="solid"/>
          </a:ln>
        </p:spPr>
      </p:sp>
      <p:sp>
        <p:nvSpPr>
          <p:cNvPr id="10" name="Shape 8"/>
          <p:cNvSpPr/>
          <p:nvPr/>
        </p:nvSpPr>
        <p:spPr>
          <a:xfrm>
            <a:off x="384048" y="3675888"/>
            <a:ext cx="146304" cy="146304"/>
          </a:xfrm>
          <a:prstGeom prst="ellipse">
            <a:avLst/>
          </a:prstGeom>
          <a:solidFill>
            <a:srgbClr val="4F3BDB">
              <a:alpha val="30000"/>
            </a:srgbClr>
          </a:solidFill>
          <a:ln w="12700">
            <a:solidFill>
              <a:srgbClr val="4F3BDB"/>
            </a:solidFill>
            <a:prstDash val="solid"/>
          </a:ln>
        </p:spPr>
      </p:sp>
      <p:sp>
        <p:nvSpPr>
          <p:cNvPr id="11" name="Shape 9"/>
          <p:cNvSpPr/>
          <p:nvPr/>
        </p:nvSpPr>
        <p:spPr>
          <a:xfrm>
            <a:off x="420624" y="3712464"/>
            <a:ext cx="73152" cy="73152"/>
          </a:xfrm>
          <a:prstGeom prst="ellipse">
            <a:avLst/>
          </a:prstGeom>
          <a:solidFill>
            <a:srgbClr val="4F3BDB"/>
          </a:solidFill>
          <a:ln w="12700">
            <a:solidFill>
              <a:srgbClr val="4F3BDB"/>
            </a:solidFill>
            <a:prstDash val="solid"/>
          </a:ln>
        </p:spPr>
      </p:sp>
      <p:sp>
        <p:nvSpPr>
          <p:cNvPr id="12" name="Shape 10"/>
          <p:cNvSpPr/>
          <p:nvPr/>
        </p:nvSpPr>
        <p:spPr>
          <a:xfrm>
            <a:off x="6144768" y="4498848"/>
            <a:ext cx="146304" cy="146304"/>
          </a:xfrm>
          <a:prstGeom prst="ellipse">
            <a:avLst/>
          </a:prstGeom>
          <a:solidFill>
            <a:srgbClr val="4F3BDB">
              <a:alpha val="30000"/>
            </a:srgbClr>
          </a:solidFill>
          <a:ln w="12700">
            <a:solidFill>
              <a:srgbClr val="4F3BDB"/>
            </a:solidFill>
            <a:prstDash val="solid"/>
          </a:ln>
        </p:spPr>
      </p:sp>
      <p:sp>
        <p:nvSpPr>
          <p:cNvPr id="13" name="Shape 11"/>
          <p:cNvSpPr/>
          <p:nvPr/>
        </p:nvSpPr>
        <p:spPr>
          <a:xfrm>
            <a:off x="6181344" y="4535424"/>
            <a:ext cx="73152" cy="73152"/>
          </a:xfrm>
          <a:prstGeom prst="ellipse">
            <a:avLst/>
          </a:prstGeom>
          <a:solidFill>
            <a:srgbClr val="4F3BDB"/>
          </a:solidFill>
          <a:ln w="12700">
            <a:solidFill>
              <a:srgbClr val="4F3BDB"/>
            </a:solidFill>
            <a:prstDash val="solid"/>
          </a:ln>
        </p:spPr>
      </p:sp>
      <p:sp>
        <p:nvSpPr>
          <p:cNvPr id="14" name="Shape 12"/>
          <p:cNvSpPr/>
          <p:nvPr/>
        </p:nvSpPr>
        <p:spPr>
          <a:xfrm>
            <a:off x="8247888" y="4224528"/>
            <a:ext cx="146304" cy="146304"/>
          </a:xfrm>
          <a:prstGeom prst="ellipse">
            <a:avLst/>
          </a:prstGeom>
          <a:solidFill>
            <a:srgbClr val="4F3BDB">
              <a:alpha val="30000"/>
            </a:srgbClr>
          </a:solidFill>
          <a:ln w="12700">
            <a:solidFill>
              <a:srgbClr val="4F3BDB"/>
            </a:solidFill>
            <a:prstDash val="solid"/>
          </a:ln>
        </p:spPr>
      </p:sp>
      <p:sp>
        <p:nvSpPr>
          <p:cNvPr id="15" name="Shape 13"/>
          <p:cNvSpPr/>
          <p:nvPr/>
        </p:nvSpPr>
        <p:spPr>
          <a:xfrm>
            <a:off x="8284464" y="4261104"/>
            <a:ext cx="73152" cy="73152"/>
          </a:xfrm>
          <a:prstGeom prst="ellipse">
            <a:avLst/>
          </a:prstGeom>
          <a:solidFill>
            <a:srgbClr val="4F3BDB"/>
          </a:solidFill>
          <a:ln w="12700">
            <a:solidFill>
              <a:srgbClr val="4F3BDB"/>
            </a:solidFill>
            <a:prstDash val="solid"/>
          </a:ln>
        </p:spPr>
      </p:sp>
      <p:sp>
        <p:nvSpPr>
          <p:cNvPr id="16" name="Shape 14"/>
          <p:cNvSpPr/>
          <p:nvPr/>
        </p:nvSpPr>
        <p:spPr>
          <a:xfrm>
            <a:off x="4498848" y="2487168"/>
            <a:ext cx="146304" cy="146304"/>
          </a:xfrm>
          <a:prstGeom prst="ellipse">
            <a:avLst/>
          </a:prstGeom>
          <a:solidFill>
            <a:srgbClr val="4F3BDB">
              <a:alpha val="30000"/>
            </a:srgbClr>
          </a:solidFill>
          <a:ln w="12700">
            <a:solidFill>
              <a:srgbClr val="4F3BDB"/>
            </a:solidFill>
            <a:prstDash val="solid"/>
          </a:ln>
        </p:spPr>
      </p:sp>
      <p:sp>
        <p:nvSpPr>
          <p:cNvPr id="17" name="Shape 15"/>
          <p:cNvSpPr/>
          <p:nvPr/>
        </p:nvSpPr>
        <p:spPr>
          <a:xfrm>
            <a:off x="4535424" y="2523744"/>
            <a:ext cx="73152" cy="73152"/>
          </a:xfrm>
          <a:prstGeom prst="ellipse">
            <a:avLst/>
          </a:prstGeom>
          <a:solidFill>
            <a:srgbClr val="4F3BDB"/>
          </a:solidFill>
          <a:ln w="12700">
            <a:solidFill>
              <a:srgbClr val="4F3BDB"/>
            </a:solidFill>
            <a:prstDash val="solid"/>
          </a:ln>
        </p:spPr>
      </p:sp>
      <p:sp>
        <p:nvSpPr>
          <p:cNvPr id="18" name="Shape 16"/>
          <p:cNvSpPr/>
          <p:nvPr/>
        </p:nvSpPr>
        <p:spPr>
          <a:xfrm>
            <a:off x="1755648" y="3127248"/>
            <a:ext cx="146304" cy="146304"/>
          </a:xfrm>
          <a:prstGeom prst="ellipse">
            <a:avLst/>
          </a:prstGeom>
          <a:solidFill>
            <a:srgbClr val="4F3BDB">
              <a:alpha val="30000"/>
            </a:srgbClr>
          </a:solidFill>
          <a:ln w="12700">
            <a:solidFill>
              <a:srgbClr val="4F3BDB"/>
            </a:solidFill>
            <a:prstDash val="solid"/>
          </a:ln>
        </p:spPr>
      </p:sp>
      <p:sp>
        <p:nvSpPr>
          <p:cNvPr id="19" name="Shape 17"/>
          <p:cNvSpPr/>
          <p:nvPr/>
        </p:nvSpPr>
        <p:spPr>
          <a:xfrm>
            <a:off x="1792224" y="3163824"/>
            <a:ext cx="73152" cy="73152"/>
          </a:xfrm>
          <a:prstGeom prst="ellipse">
            <a:avLst/>
          </a:prstGeom>
          <a:solidFill>
            <a:srgbClr val="4F3BDB"/>
          </a:solidFill>
          <a:ln w="12700">
            <a:solidFill>
              <a:srgbClr val="4F3BDB"/>
            </a:solidFill>
            <a:prstDash val="solid"/>
          </a:ln>
        </p:spPr>
      </p:sp>
      <p:sp>
        <p:nvSpPr>
          <p:cNvPr id="20" name="Shape 18"/>
          <p:cNvSpPr/>
          <p:nvPr/>
        </p:nvSpPr>
        <p:spPr>
          <a:xfrm>
            <a:off x="1097280" y="1005840"/>
            <a:ext cx="3474720" cy="1554480"/>
          </a:xfrm>
          <a:prstGeom prst="line">
            <a:avLst/>
          </a:prstGeom>
          <a:noFill/>
          <a:ln w="7620">
            <a:solidFill>
              <a:srgbClr val="4F3BDB">
                <a:alpha val="35000"/>
              </a:srgbClr>
            </a:solidFill>
            <a:prstDash val="solid"/>
          </a:ln>
        </p:spPr>
      </p:sp>
      <p:sp>
        <p:nvSpPr>
          <p:cNvPr id="21" name="Shape 19"/>
          <p:cNvSpPr/>
          <p:nvPr/>
        </p:nvSpPr>
        <p:spPr>
          <a:xfrm>
            <a:off x="3200400" y="365760"/>
            <a:ext cx="1371600" cy="2194560"/>
          </a:xfrm>
          <a:prstGeom prst="line">
            <a:avLst/>
          </a:prstGeom>
          <a:noFill/>
          <a:ln w="7620">
            <a:solidFill>
              <a:srgbClr val="4F3BDB">
                <a:alpha val="35000"/>
              </a:srgbClr>
            </a:solidFill>
            <a:prstDash val="solid"/>
          </a:ln>
        </p:spPr>
      </p:sp>
      <p:sp>
        <p:nvSpPr>
          <p:cNvPr id="22" name="Shape 20"/>
          <p:cNvSpPr/>
          <p:nvPr/>
        </p:nvSpPr>
        <p:spPr>
          <a:xfrm>
            <a:off x="7498080" y="731520"/>
            <a:ext cx="-2926080" cy="1828800"/>
          </a:xfrm>
          <a:prstGeom prst="line">
            <a:avLst/>
          </a:prstGeom>
          <a:noFill/>
          <a:ln w="7620">
            <a:solidFill>
              <a:srgbClr val="4F3BDB">
                <a:alpha val="35000"/>
              </a:srgbClr>
            </a:solidFill>
            <a:prstDash val="solid"/>
          </a:ln>
        </p:spPr>
      </p:sp>
      <p:sp>
        <p:nvSpPr>
          <p:cNvPr id="23" name="Shape 21"/>
          <p:cNvSpPr/>
          <p:nvPr/>
        </p:nvSpPr>
        <p:spPr>
          <a:xfrm>
            <a:off x="8778240" y="2011680"/>
            <a:ext cx="-4206240" cy="548640"/>
          </a:xfrm>
          <a:prstGeom prst="line">
            <a:avLst/>
          </a:prstGeom>
          <a:noFill/>
          <a:ln w="7620">
            <a:solidFill>
              <a:srgbClr val="4F3BDB">
                <a:alpha val="35000"/>
              </a:srgbClr>
            </a:solidFill>
            <a:prstDash val="solid"/>
          </a:ln>
        </p:spPr>
      </p:sp>
      <p:sp>
        <p:nvSpPr>
          <p:cNvPr id="24" name="Shape 22"/>
          <p:cNvSpPr/>
          <p:nvPr/>
        </p:nvSpPr>
        <p:spPr>
          <a:xfrm>
            <a:off x="457200" y="3749040"/>
            <a:ext cx="4114800" cy="-1188720"/>
          </a:xfrm>
          <a:prstGeom prst="line">
            <a:avLst/>
          </a:prstGeom>
          <a:noFill/>
          <a:ln w="7620">
            <a:solidFill>
              <a:srgbClr val="4F3BDB">
                <a:alpha val="35000"/>
              </a:srgbClr>
            </a:solidFill>
            <a:prstDash val="solid"/>
          </a:ln>
        </p:spPr>
      </p:sp>
      <p:sp>
        <p:nvSpPr>
          <p:cNvPr id="25" name="Shape 23"/>
          <p:cNvSpPr/>
          <p:nvPr/>
        </p:nvSpPr>
        <p:spPr>
          <a:xfrm>
            <a:off x="6217920" y="4572000"/>
            <a:ext cx="-1645920" cy="-2011680"/>
          </a:xfrm>
          <a:prstGeom prst="line">
            <a:avLst/>
          </a:prstGeom>
          <a:noFill/>
          <a:ln w="7620">
            <a:solidFill>
              <a:srgbClr val="4F3BDB">
                <a:alpha val="35000"/>
              </a:srgbClr>
            </a:solidFill>
            <a:prstDash val="solid"/>
          </a:ln>
        </p:spPr>
      </p:sp>
      <p:sp>
        <p:nvSpPr>
          <p:cNvPr id="26" name="Shape 24"/>
          <p:cNvSpPr/>
          <p:nvPr/>
        </p:nvSpPr>
        <p:spPr>
          <a:xfrm>
            <a:off x="8321040" y="4297680"/>
            <a:ext cx="-3749040" cy="-1737360"/>
          </a:xfrm>
          <a:prstGeom prst="line">
            <a:avLst/>
          </a:prstGeom>
          <a:noFill/>
          <a:ln w="7620">
            <a:solidFill>
              <a:srgbClr val="4F3BDB">
                <a:alpha val="35000"/>
              </a:srgbClr>
            </a:solidFill>
            <a:prstDash val="solid"/>
          </a:ln>
        </p:spPr>
      </p:sp>
      <p:sp>
        <p:nvSpPr>
          <p:cNvPr id="27" name="Shape 25"/>
          <p:cNvSpPr/>
          <p:nvPr/>
        </p:nvSpPr>
        <p:spPr>
          <a:xfrm>
            <a:off x="1828800" y="3200400"/>
            <a:ext cx="2743200" cy="-640080"/>
          </a:xfrm>
          <a:prstGeom prst="line">
            <a:avLst/>
          </a:prstGeom>
          <a:noFill/>
          <a:ln w="7620">
            <a:solidFill>
              <a:srgbClr val="4F3BDB">
                <a:alpha val="35000"/>
              </a:srgbClr>
            </a:solidFill>
            <a:prstDash val="solid"/>
          </a:ln>
        </p:spPr>
      </p:sp>
      <p:sp>
        <p:nvSpPr>
          <p:cNvPr id="28" name="Shape 26"/>
          <p:cNvSpPr/>
          <p:nvPr/>
        </p:nvSpPr>
        <p:spPr>
          <a:xfrm>
            <a:off x="4366260" y="2354580"/>
            <a:ext cx="411480" cy="411480"/>
          </a:xfrm>
          <a:prstGeom prst="ellipse">
            <a:avLst/>
          </a:prstGeom>
          <a:solidFill>
            <a:srgbClr val="4F3BDB">
              <a:alpha val="30000"/>
            </a:srgbClr>
          </a:solidFill>
          <a:ln w="12700">
            <a:solidFill>
              <a:srgbClr val="4F3BDB"/>
            </a:solidFill>
            <a:prstDash val="solid"/>
          </a:ln>
        </p:spPr>
      </p:sp>
      <p:sp>
        <p:nvSpPr>
          <p:cNvPr id="29" name="Shape 27"/>
          <p:cNvSpPr/>
          <p:nvPr/>
        </p:nvSpPr>
        <p:spPr>
          <a:xfrm>
            <a:off x="4469130" y="2457450"/>
            <a:ext cx="205740" cy="205740"/>
          </a:xfrm>
          <a:prstGeom prst="ellipse">
            <a:avLst/>
          </a:prstGeom>
          <a:solidFill>
            <a:srgbClr val="4F3BDB"/>
          </a:solidFill>
          <a:ln w="12700">
            <a:solidFill>
              <a:srgbClr val="4F3BDB"/>
            </a:solidFill>
            <a:prstDash val="solid"/>
          </a:ln>
        </p:spPr>
      </p:sp>
      <p:sp>
        <p:nvSpPr>
          <p:cNvPr id="30" name="Text 28"/>
          <p:cNvSpPr/>
          <p:nvPr/>
        </p:nvSpPr>
        <p:spPr>
          <a:xfrm>
            <a:off x="1371600" y="1371600"/>
            <a:ext cx="6400800" cy="6858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The web grows.</a:t>
            </a:r>
            <a:endParaRPr lang="en-US" sz="3600" dirty="0"/>
          </a:p>
        </p:txBody>
      </p:sp>
      <p:sp>
        <p:nvSpPr>
          <p:cNvPr id="31" name="Text 29"/>
          <p:cNvSpPr/>
          <p:nvPr/>
        </p:nvSpPr>
        <p:spPr>
          <a:xfrm>
            <a:off x="1371600" y="2103120"/>
            <a:ext cx="6400800" cy="457200"/>
          </a:xfrm>
          <a:prstGeom prst="rect">
            <a:avLst/>
          </a:prstGeom>
          <a:noFill/>
          <a:ln/>
        </p:spPr>
        <p:txBody>
          <a:bodyPr wrap="square" rtlCol="0" anchor="ctr"/>
          <a:lstStyle/>
          <a:p>
            <a:pPr algn="ctr" indent="0" marL="0">
              <a:buNone/>
            </a:pPr>
            <a:r>
              <a:rPr lang="en-US" sz="1700" dirty="0">
                <a:solidFill>
                  <a:srgbClr val="8FA3C8"/>
                </a:solidFill>
                <a:latin typeface="Calibri" pitchFamily="34" charset="0"/>
                <a:ea typeface="Calibri" pitchFamily="34" charset="-122"/>
                <a:cs typeface="Calibri" pitchFamily="34" charset="-120"/>
              </a:rPr>
              <a:t>Every node you add makes every other node stronger.</a:t>
            </a:r>
            <a:endParaRPr lang="en-US" sz="1700" dirty="0"/>
          </a:p>
        </p:txBody>
      </p:sp>
      <p:sp>
        <p:nvSpPr>
          <p:cNvPr id="32" name="Text 30"/>
          <p:cNvSpPr/>
          <p:nvPr/>
        </p:nvSpPr>
        <p:spPr>
          <a:xfrm>
            <a:off x="1371600" y="2651760"/>
            <a:ext cx="6400800" cy="731520"/>
          </a:xfrm>
          <a:prstGeom prst="rect">
            <a:avLst/>
          </a:prstGeom>
          <a:noFill/>
          <a:ln/>
        </p:spPr>
        <p:txBody>
          <a:bodyPr wrap="square" rtlCol="0" anchor="ctr"/>
          <a:lstStyle/>
          <a:p>
            <a:pPr algn="ctr" indent="0" marL="0">
              <a:lnSpc>
                <a:spcPct val="150000"/>
              </a:lnSpc>
              <a:buNone/>
            </a:pPr>
            <a:r>
              <a:rPr lang="en-US" sz="1400" dirty="0">
                <a:solidFill>
                  <a:srgbClr val="8FA3C8"/>
                </a:solidFill>
                <a:latin typeface="Calibri" pitchFamily="34" charset="0"/>
                <a:ea typeface="Calibri" pitchFamily="34" charset="-122"/>
                <a:cs typeface="Calibri" pitchFamily="34" charset="-120"/>
              </a:rPr>
              <a:t>Join us in building the layer of the internet</a:t>
            </a:r>
            <a:endParaRPr lang="en-US" sz="1400" dirty="0"/>
          </a:p>
          <a:p>
            <a:pPr algn="ctr" indent="0" marL="0">
              <a:lnSpc>
                <a:spcPct val="150000"/>
              </a:lnSpc>
              <a:buNone/>
            </a:pPr>
            <a:r>
              <a:rPr lang="en-US" sz="1400" dirty="0">
                <a:solidFill>
                  <a:srgbClr val="8FA3C8"/>
                </a:solidFill>
                <a:latin typeface="Calibri" pitchFamily="34" charset="0"/>
                <a:ea typeface="Calibri" pitchFamily="34" charset="-122"/>
                <a:cs typeface="Calibri" pitchFamily="34" charset="-120"/>
              </a:rPr>
              <a:t>where human experience becomes queryable.</a:t>
            </a:r>
            <a:endParaRPr lang="en-US" sz="1400" dirty="0"/>
          </a:p>
        </p:txBody>
      </p:sp>
      <p:sp>
        <p:nvSpPr>
          <p:cNvPr id="33" name="Shape 31"/>
          <p:cNvSpPr/>
          <p:nvPr/>
        </p:nvSpPr>
        <p:spPr>
          <a:xfrm>
            <a:off x="2743200" y="3520440"/>
            <a:ext cx="3657600" cy="502920"/>
          </a:xfrm>
          <a:prstGeom prst="rect">
            <a:avLst/>
          </a:prstGeom>
          <a:solidFill>
            <a:srgbClr val="4F3BDB"/>
          </a:solidFill>
          <a:ln w="12700">
            <a:solidFill>
              <a:srgbClr val="4F3BDB"/>
            </a:solidFill>
            <a:prstDash val="solid"/>
          </a:ln>
        </p:spPr>
      </p:sp>
      <p:sp>
        <p:nvSpPr>
          <p:cNvPr id="34" name="Text 32"/>
          <p:cNvSpPr/>
          <p:nvPr/>
        </p:nvSpPr>
        <p:spPr>
          <a:xfrm>
            <a:off x="2743200" y="3520440"/>
            <a:ext cx="365760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Let's build this together.</a:t>
            </a:r>
            <a:endParaRPr lang="en-US" sz="1600" dirty="0"/>
          </a:p>
        </p:txBody>
      </p:sp>
      <p:sp>
        <p:nvSpPr>
          <p:cNvPr id="35" name="Text 33"/>
          <p:cNvSpPr/>
          <p:nvPr/>
        </p:nvSpPr>
        <p:spPr>
          <a:xfrm>
            <a:off x="1828800" y="4206240"/>
            <a:ext cx="5486400" cy="320040"/>
          </a:xfrm>
          <a:prstGeom prst="rect">
            <a:avLst/>
          </a:prstGeom>
          <a:noFill/>
          <a:ln/>
        </p:spPr>
        <p:txBody>
          <a:bodyPr wrap="square" rtlCol="0" anchor="ctr"/>
          <a:lstStyle/>
          <a:p>
            <a:pPr algn="ctr" indent="0" marL="0">
              <a:buNone/>
            </a:pPr>
            <a:r>
              <a:rPr lang="en-US" sz="1100" dirty="0">
                <a:solidFill>
                  <a:srgbClr val="8FA3C8"/>
                </a:solidFill>
                <a:latin typeface="Calibri" pitchFamily="34" charset="0"/>
                <a:ea typeface="Calibri" pitchFamily="34" charset="-122"/>
                <a:cs typeface="Calibri" pitchFamily="34" charset="-120"/>
              </a:rPr>
              <a:t>unifund.io  ·  hello@unifund.io  ·  @unimind</a:t>
            </a:r>
            <a:endParaRPr lang="en-US" sz="1100" dirty="0"/>
          </a:p>
        </p:txBody>
      </p:sp>
      <p:sp>
        <p:nvSpPr>
          <p:cNvPr id="36" name="Shape 34"/>
          <p:cNvSpPr/>
          <p:nvPr/>
        </p:nvSpPr>
        <p:spPr>
          <a:xfrm>
            <a:off x="347472" y="4617720"/>
            <a:ext cx="8449056" cy="384048"/>
          </a:xfrm>
          <a:prstGeom prst="rect">
            <a:avLst/>
          </a:prstGeom>
          <a:solidFill>
            <a:srgbClr val="131E4A"/>
          </a:solidFill>
          <a:ln w="12700">
            <a:solidFill>
              <a:srgbClr val="2A3A7A"/>
            </a:solidFill>
            <a:prstDash val="solid"/>
          </a:ln>
          <a:effectLst>
            <a:outerShdw sx="100000" sy="100000" kx="0" ky="0" algn="bl" rotWithShape="0" blurRad="101600" dist="38100" dir="8100000">
              <a:srgbClr val="000000">
                <a:alpha val="25000"/>
              </a:srgbClr>
            </a:outerShdw>
          </a:effectLst>
        </p:spPr>
      </p:sp>
      <p:sp>
        <p:nvSpPr>
          <p:cNvPr id="37" name="Text 35"/>
          <p:cNvSpPr/>
          <p:nvPr/>
        </p:nvSpPr>
        <p:spPr>
          <a:xfrm>
            <a:off x="502920" y="4645152"/>
            <a:ext cx="1828800" cy="182880"/>
          </a:xfrm>
          <a:prstGeom prst="rect">
            <a:avLst/>
          </a:prstGeom>
          <a:noFill/>
          <a:ln/>
        </p:spPr>
        <p:txBody>
          <a:bodyPr wrap="square" rtlCol="0" anchor="ctr"/>
          <a:lstStyle/>
          <a:p>
            <a:pPr indent="0" marL="0">
              <a:buNone/>
            </a:pPr>
            <a:r>
              <a:rPr lang="en-US" sz="900" b="1" dirty="0">
                <a:solidFill>
                  <a:srgbClr val="00C2E0"/>
                </a:solidFill>
                <a:latin typeface="Calibri" pitchFamily="34" charset="0"/>
                <a:ea typeface="Calibri" pitchFamily="34" charset="-122"/>
                <a:cs typeface="Calibri" pitchFamily="34" charset="-120"/>
              </a:rPr>
              <a:t>🎤  SCRIPT</a:t>
            </a:r>
            <a:endParaRPr lang="en-US" sz="900" dirty="0"/>
          </a:p>
        </p:txBody>
      </p:sp>
      <p:sp>
        <p:nvSpPr>
          <p:cNvPr id="38" name="Text 36"/>
          <p:cNvSpPr/>
          <p:nvPr/>
        </p:nvSpPr>
        <p:spPr>
          <a:xfrm>
            <a:off x="502920" y="4791456"/>
            <a:ext cx="8229600" cy="182880"/>
          </a:xfrm>
          <a:prstGeom prst="rect">
            <a:avLst/>
          </a:prstGeom>
          <a:noFill/>
          <a:ln/>
        </p:spPr>
        <p:txBody>
          <a:bodyPr wrap="square" rtlCol="0" anchor="ctr"/>
          <a:lstStyle/>
          <a:p>
            <a:pPr indent="0" marL="0">
              <a:buNone/>
            </a:pPr>
            <a:r>
              <a:rPr lang="en-US" sz="1000" i="1" dirty="0">
                <a:solidFill>
                  <a:srgbClr val="F0F4FF"/>
                </a:solidFill>
                <a:latin typeface="Calibri" pitchFamily="34" charset="0"/>
                <a:ea typeface="Calibri" pitchFamily="34" charset="-122"/>
                <a:cs typeface="Calibri" pitchFamily="34" charset="-120"/>
              </a:rPr>
              <a:t>"The web grows with every person who joins. You're not just backing a product — you're backing a network. Every euro you invest today creates a node that makes the whole structure stronger. I'd love your support to build it. Thank you."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UniMind — City Startup Pitch</dc:title>
  <dc:subject>PptxGenJS Presentation</dc:subject>
  <dc:creator>PptxGenJS</dc:creator>
  <cp:lastModifiedBy>PptxGenJS</cp:lastModifiedBy>
  <cp:revision>1</cp:revision>
  <dcterms:created xsi:type="dcterms:W3CDTF">2026-05-20T23:06:23Z</dcterms:created>
  <dcterms:modified xsi:type="dcterms:W3CDTF">2026-05-20T23:06:23Z</dcterms:modified>
</cp:coreProperties>
</file>